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merci de me recevoir pour cette présentation du cadrage d'Albion Helper. Je m'appelle Pierre Saugues, je suis en M2 Expert en développement full-stack à YNOV, et je passe aujourd'hui l'épreuve orale du bloc 1 du titre RNCP39583, Expert en développement logiciel. Je vais vous présenter, en vingt minutes, le cadrage du projet Albion Helper : comment je suis parti d'une demande, comment je l'ai analysée, quels risques j'ai identifiés, et quelles solutions j'ai préconisées. Ce cadrage n'est pas resté théorique : le projet est aujourd'hui en version 3.3.1, en production réelle, et je m'appuierai autant que possible sur des faits vérifiables plutôt que sur des intentions.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Albion Online est un jeu où l'information est une arme : connaître l'équipement d'un adversaire, le prix du marché, un itinéraire sûr, c'est souvent ce qui fait gagner ou perdre une bataille. Le commanditaire, une communauté de joueurs organisée en guilde, m'a exposé un problème très concret : toutes ces informations existent, mais elles sont éclatées entre plusieurs sites tiers, en anglais, sans aucun moyen de les partager entre membres, et aucun ne couvre les trois serveurs mondiaux du jeu. Leur demande tient en une phrase : un outil unique, dans leur langue, où la guilde prépare et partage tout ce dont elle a besoin en session de jeu. Dès le cadrage, j'ai identifié un atout décisif : l'éditeur du jeu expose une API de données publique et gratuite. Cela rendait le projet possible sans aucun partenariat commercial. Le périmètre proposé couvrait la recherche de joueurs et de guildes, la carte et les itinéraires partageables, les compositions d'équipe et le calcul d'artisanat, le tout multi-langue et multi-serveur. Aujourd'hui, en version 3.3.1, cette vision est en production : 12 066 objets catalogués, 20 langues, une authentification durcie, et 177 tests automatisés qui protègent chaque livraison.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J'entre maintenant dans une compétence éliminatoire du bloc 1 : cartographier les acteurs. Sept parties prenantes gravitent autour du projet. Le commanditaire, la communauté de joueurs, exprime le besoin et valide chaque livraison : son implication est forte et décisionnaire. Les utilisateurs finaux, du joueur débutant au chef de guilde, l'utilisent au quotidien et attendent rapidité, langue native et zéro installation. Moi-même, comme développeur unique, je conçois, développe et exploite l'application : mon implication est permanente. Les administrateurs gèrent le back-office. Et puis il y a deux acteurs externes essentiels : Sandbox Interactive, l'éditeur du jeu, qui fournit l'API de données — son implication dans le projet est faible, mais son pouvoir est critique, car sans cette API, rien ne fonctionne. Et l'hébergeur, dont le rôle est contractuel. Cette lecture pouvoir-intérêt n'est pas un exercice académique : elle a directement nourri ma cartographie des risques, que je détaillerai plus loin, avec un risque explicitement dédié à la dépendance à cette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partie prenante, j'ai croisé les besoins recensés en entretien avec des objectifs mesurables. Le commanditaire veut un outil unique qui remplace quatre sites tiers, pour renforcer la cohésion de la guilde. Les joueurs veulent une réponse en moins d'une seconde, dans leur langue, sur leur serveur — sans quoi l'outil ne sera tout simplement pas adopté, c'est l'enjeu numéro un. Les administrateurs veulent de l'autonomie, sans dépendre de moi après la livraison. Et moi, en tant que développeur solo, je devais viser un périmètre finançable et maintenable seul. Trois pistes de solution ont été étudiées au cadrage : une application web sur mesure, une surcouche d'un site existant, ou un bot Discord. J'ai écarté le bot, qui ne peut pas afficher une carte interactive ni des compositions visuelles, et la surcouche, qui aurait créé une dépendance non contractuelle à un tiers. La piste retenue, l'application web sur mesure, a ensuite été confirmée par l'étude comparative technique et par l'estimation budgétaire que je détaillerai plus loin.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cartographie des opportunités et menaces complète cette analyse. Côté forces, une stack entièrement open source, donc un coût de licence nul, une API de jeu gratuite et documentée, et le fait que je sois moi-même joueur, ce qui me donne une connaissance métier directe. Côté faiblesses, assumons-le : je suis seul sur ce projet, donc un bus factor de un, un budget d'infrastructure minimal, et une compétence sécurité que j'ai dû construire pendant le projet — je l'ai identifiée dès le cadrage plutôt que de la découvrir en cours de route. Côté opportunités, aucun concurrent ne combine multilingue, multi-serveur et partage, et la communauté active du jeu constitue un vivier de testeurs gratuits. Et côté menaces, la plus structurante est la dépendance à l'API de l'éditeur, suivie par la surface d'attaque qu'implique une exposition web publique. J'ai aussi intégré des points de vigilance transverses dès le cadrage : la sobriété environnementale, avec un hébergement mutualisé et un cache qui réduit les appels réseau, et le respect scrupuleux des conditions d'usage de l'API externe.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démarche d'audit s'est construite en trois volets. D'abord un état des lieux fonctionnel : j'ai inventorié tous les outils utilisés par la communauté, sites de statistiques, cartes en ligne, tableurs partagés, Discord, avec une grille de lecture fonction, langue, serveurs, partage. Ensuite un audit technique de l'API du jeu, avec des essais outillés pour mesurer le format des données, la latence, les limites de débit. Et enfin un audit de l'infrastructure cible, pour vérifier les capacités réelles du VPS existant. Les constats ont été structurants : il fallait quatre outils tiers pour couvrir le besoin, et aucun ne permettait le partage ni n'était multilingue — c'est notre différenciateur. L'API du jeu est gratuite et sans clé, mais sans garantie de service, ce qui a imposé un cache et une supervision. Et le VPS existant s'est révélé suffisant pour la volumétrie visée. Ce qu'il faut retenir, c'est que chaque constat d'audit s'est transformé en décision de cadrage concrète, que je vais détailler dans les slides suivantes.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J'aborde maintenant la deuxième compétence éliminatoire : évaluer la faisabilité technique. Le diagnostic de l'infrastructure existante a montré un VPS mutualisé suffisant, avec PHP-FPM 8.2, une base PostgreSQL déjà disponible, et un poste de développement sous Docker qui garantit des environnements reproductibles. En revanche, deux éléments étaient totalement absents au moment du cadrage : la chaîne de livraison et la supervision, qu'il a fallu construire de zéro — ce que j'ai fait, et que je démontrerai concrètement au bloc 3. J'ai aussi posé les contraintes chiffrées : un hébergement à environ dix euros par mois, une cible d'environ deux cents utilisateurs actifs avec des pics en soirée, des jalons de certification imposés entre juin et octobre 2026, et un budget de licences quasi nul. Mon avis critique de faisabilité, à l'époque du cadrage, était clair : le projet est faisable dans ces contraintes, à trois conditions : mettre en cache les données de l'API du jeu, limiter le périmètre de la version un aux fonctions à plus forte valeur, et automatiser tests et déploiement dès le départ pour compenser une équipe réduite à une seule personne. Ces trois conditions ont ensuite structuré toutes mes décisions d'architecture.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priorisé six risques techniques et fonctionnels selon une grille probabilité fois impact. Deux risques ressortent en criticité élevée. Le premier, l'indisponibilité ou le changement de l'API du jeu, directement hérité de la cartographie des acteurs : la mesure décidée est un cache local et une dégradation gracieuse, avec la disponibilité de l'API surveillée dans ma sonde de santé. Le second, la compromission de comptes ou une attaque web, m'a conduit à décider dès le cadrage une revue systématique selon l'OWASP Top 10, des jetons courts et l'usage exclusif de l'ORM contre les injections. Les quatre autres risques, en criticité moyenne, couvrent la perte de données, l'interruption de service, la dégradation des performances, et le bus factor de un puisque je suis seul sur ce projet — pour ce dernier, ma réponse est une documentation systématique et un historique Git conventionnel qui permettrait à un tiers de reprendre le projet. Je précise que ce ne sont pas des cases cochées pour la forme : au fil du projet, certains de ces risques se sont réellement matérialisés, et je vous montrerai en conclusion qu'ils ont été absorbés par les mesures prévues 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référentiel d'évaluation des risques calcule la criticité comme le produit de la probabilité et de l'impact, sur des échelles de un à trois, et je le réévalue à chaque jalon. Au-delà d'un seuil de six, une mesure préventive devient obligatoire avant toute mise en production. Pour le suivi des incidents, j'ai construit un registre unique d'anomalies avec une fiche normalisée à onze champs, incluant une reproduction obligatoire, et un cycle complet : consignation, qualification, correctif, re-test, clôture tracée. Ce n'est pas resté un exercice de cadrage : dix-sept anomalies ont été réellement consignées et traitées sur le projet, numérotées BUG-001 à BUG-016 plus une observation. Enfin, j'ai défini six indicateurs de contrôle dès le cadrage : disponibilité supérieure ou égale à quatre-vingt-dix-neuf pour cent, temps de réponse inférieur à une seconde, détection d'incident en moins de cinq minutes, moins de un pour cent d'erreurs serveur, zéro vulnérabilité critique ouverte, et zéro régression grâce à une intégration continue bloquante. Aujourd'hui, ces indicateurs sont mesurés en continu en production, avec une disponibilité de 99,95 % sur les sept derniers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veille technologique s'organise en trois strates : une veille passive automatisée quotidienne, une veille active ciblée hebdomadaire sur les technologies du projet, et une veille exploratoire mensuelle via conférences et retours d'expérience. Mes sources principales sont les notes de version officielles de Symfony et React, les bulletins de sécurité OWASP et les CVE, ainsi que les communautés spécifiques au jeu pour anticiper les évolutions de son API. Côté outils, Dependabot détecte automatiquement les vulnérabilités et les mises à jour disponibles, avec un délai de réaction de quelques heures ; les flux RSS et newsletters me donnent un panorama hebdomadaire à coût fixe ; et le GitHub Watch sur les dépôts clés anticipe les ruptures. La preuve d'efficacité de cette veille est concrète et récente : elle a déclenché la migration de Symfony 7.2, arrivé en fin de vie, vers la version 7.4 LTS, avec la correction de trente-six advisories de sécurité dont une CVE de sévérité élevée — corrigée avant la mise en production, et validée par mes cent soixante-dix-sept tests automatisés qui garantissent l'absence de régression. C'est un exemple concret d'une veille qui ne reste pas théorique.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troisième compétence éliminatoire : sélectionner l'architecture technique via une étude comparative. J'ai comparé quatre briques sur quatre critères communs : sécurité, écosystème et maintenabilité, impact environnemental et système, et bien sûr le choix final. Pour le back-end, j'ai comparé Symfony, Laravel et Node avec Express ; Symfony l'emporte pour son support LTS de quatre ans et un ORM qui protège nativement contre les injections — aujourd'hui en version 7.4 LTS après la migration dont je viens de parler. Pour le front, React s'est imposé face à Vue et Angular pour son écosystème et son échappement XSS par défaut. Pour l'authentification, j'ai comparé JWT et sessions serveur classiques ; j'ai retenu JWT, et plus précisément des jetons courts stockés en cookies httpOnly, ce qui protège contre le vol de jeton par une faille XSS. Et pour la base de données, PostgreSQL s'est imposé naturellement puisqu'il était déjà installé sur le VPS, donc zéro ressource supplémentaire. Ce comparatif a directement déterminé les ressources matérielles nécessaires : le VPS existant a suffi, aucune acquisition n'a été nécessaire.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fonctionnalités hiérarchise le périmètre selon la méthode MoSCoW. Les fonctions Must, incontournables, couvrent le compte et les accès, la recherche de joueurs, guildes et batailles, et la carte avec ses itinéraires partageables — c'est ce qui remplace directement les quatre outils tiers identifiés à l'audit. Les fonctions Should, différenciatrices, ajoutent les compositions d'équipe et le calculateur de craft, aujourd'hui appuyé sur un catalogue de douze mille soixante-six objets, ainsi que le confort d'usage : vingt langues administrables, trois serveurs, thème sombre. Les fonctions Could, comme une API publique ou une application mobile, sont reportées en backlog. Ce recensement n'est pas venu de mon seul jugement : il s'appuie sur des entretiens d'usage avec les joueurs et sur l'audit de l'existant, avec une attention UX dès le cadrage — réponse rapide en session de jeu, thème sombre pour un usage nocturne, partage sans compte pour le destinataire d'un lien. Et ce découpage n'est pas resté sur le papier : il est devenu le backlog réel du projet, chaque fonction terminale correspondant à un lot livré et recetté, avec vingt-neuf scénarios de recette, tous validés.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compétence éliminatoire : évaluer la charge de travail pour permettre une évaluation budgétaire. J'ai découpé le projet en huit lots, du cadrage à la documentation, chacun estimé par analogie avec mes réalisations antérieures, puis affiné en tâches de deux jours maximum. Le total atteint quatre-vingt-cinq jours-hommes, auquel j'ai ajouté une réserve pour aléas de dix pour cent, portant l'estimation à environ quatre-vingt-quatorze jours-hommes — cette réserve a d'ailleurs été consommée en bonne partie par la campagne de sécurité que j'ai menée en juin. Cette charge, étalée sur environ dix-huit mois à temps partiel en formation, a directement permis l'évaluation budgétaire : quatre-vingt-quatorze jours-hommes à un taux journalier moyen de quatre cents euros, soit trente-sept mille six cents euros de développement, plus deux cent soixante-dix euros d'infrastructure sur deux ans, et zéro euro de licence puisque tout est open source. Le budget prévisionnel total s'établit ainsi à environ trente-huit mille euros. Je vous montrerai en conclusion que ce chiffrage s'est vérifié dans les faits.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schéma d'architecture, modélisé selon le niveau conteneurs du modèle C4. Le joueur passe par son navigateur en HTTPS vers un front React 19, construit en statique et servi par Nginx, qui communique en JSON avec l'API REST Symfony, elle-même organisée en couches strictes : contrôleur, service, repository, entité, jusqu'à PostgreSQL. Cette API consomme, avec un cache local et une protection anti-SSRF, l'API publique d'Albion Online, et elle est surveillée par une double supervision, sonde externe et sonde interne, avec alertes automatiques. J'ai choisi le modèle C4 plutôt qu'un UML complet parce qu'il offre une double lecture : lisible par un commanditaire non technicien au niveau du contexte, et suffisamment précis pour une équipe technique au niveau des conteneurs — un choix adapté à un cadrage à double audience. Les propriétés visées étaient la maintenabilité, grâce aux couches strictes du framework, la sécurité, avec une API sans état et des jetons en cookies httpOnly, l'extensibilité, prouvée par l'ajout du multi-serveur en seulement deux semaines sans refonte, et la sobriété, avec un cache, un build statique et un seul VPS.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J'aborde la dernière compétence éliminatoire : proposer des axes de solutions préconisées, avec un argumentaire adapté au client, pour obtenir son adhésion. Face au commanditaire, mon discours se construit en trois temps. D'abord l'essentiel : retrouver en un seul endroit, dans sa langue, ce qu'il cherche aujourd'hui sur quatre sites différents. Ensuite ce qui n'existe nulle part ailleurs : partager un itinéraire ou une composition d'équipe par un simple lien, même à un joueur sans compte — c'est notre différenciateur. Et enfin l'autonomie : un espace d'administration qui ne dépend plus de moi. J'ai aussi anticipé les objections qu'un commanditaire non technique pose naturellement. Si l'API du jeu tombe, les données restent en réserve et l'outil prévient l'utilisateur. Le coût de fonctionnement se limite à cent trente-cinq euros par an d'hébergement, tout le reste étant automatisé. La sécurité des comptes s'appuie sur une revue OWASP à chaque livraison et des jetons en cookies httpOnly. Et sur l'application mobile, le site est déjà responsive, et l'architecture en API réutilisable rend une application native possible plus tard sans repartir de zéro.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ce cadrage ne s'est pas contenté de rester sur le papier, il s'est vérifié dans les faits. Le périmètre Must et Should que j'avais cadré a été intégralement livré, avec vingt-neuf scénarios de recette tous validés : le cadrage était réaliste. Les risques identifiés se sont même concrétisés — des prix de marché parfois manquants sur l'API, des vulnérabilités de dépendances, et même un incident réel de supervision où un script de déploiement effaçait accidentellement ma sonde de surveillance — et à chaque fois, les mesures prévues au cadrage les ont absorbés : cache, veille, migration LTS, correctif documenté au changelog. Le budget est tenu, l'infrastructure coûte cent trente-cinq euros par an comme prévu. Et l'architecture a prouvé son extensibilité, avec le multi-serveur et vingt langues ajoutés sans refonte. Aujourd'hui, le produit est en production réelle, accessible publiquement, supervisé vingt-quatre heures sur vingt-quatre, protégé par cent soixante-dix-sept tests automatisés bloquants. Chacune des décisions de ce cadrage se retrouve dans l'application que je présenterai aux blocs 2, 3 et 4. Je vous remercie de votre attention, et je suis prêt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page est une annexe de préparation personnelle, non destinée à être projetée devant le jury. Elle me rappelle le minutage cible pour tenir les vingt minutes, et surtout les cinq compétences éliminatoires que je ne dois jamais sacrifier au chronomètre, même si je sens que le temps presse.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611"/>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2A2313"/>
          </a:solidFill>
          <a:ln/>
        </p:spPr>
      </p:sp>
      <p:sp>
        <p:nvSpPr>
          <p:cNvPr id="3" name="Shape 1"/>
          <p:cNvSpPr/>
          <p:nvPr/>
        </p:nvSpPr>
        <p:spPr>
          <a:xfrm>
            <a:off x="-2286000" y="4389120"/>
            <a:ext cx="4572000" cy="4572000"/>
          </a:xfrm>
          <a:prstGeom prst="ellipse">
            <a:avLst/>
          </a:prstGeom>
          <a:solidFill>
            <a:srgbClr val="241F17"/>
          </a:solidFill>
          <a:ln/>
        </p:spPr>
      </p:sp>
      <p:sp>
        <p:nvSpPr>
          <p:cNvPr id="4" name="Text 2"/>
          <p:cNvSpPr/>
          <p:nvPr/>
        </p:nvSpPr>
        <p:spPr>
          <a:xfrm>
            <a:off x="822960" y="1920240"/>
            <a:ext cx="10545775" cy="960120"/>
          </a:xfrm>
          <a:prstGeom prst="rect">
            <a:avLst/>
          </a:prstGeom>
          <a:noFill/>
          <a:ln/>
        </p:spPr>
        <p:txBody>
          <a:bodyPr wrap="square" rtlCol="0" anchor="ctr"/>
          <a:lstStyle/>
          <a:p>
            <a:pPr indent="0" marL="0">
              <a:buNone/>
            </a:pPr>
            <a:r>
              <a:rPr lang="en-US" sz="5000" b="1" dirty="0">
                <a:solidFill>
                  <a:srgbClr val="E8C766"/>
                </a:solidFill>
                <a:latin typeface="Cambria" pitchFamily="34" charset="0"/>
                <a:ea typeface="Cambria" pitchFamily="34" charset="-122"/>
                <a:cs typeface="Cambria" pitchFamily="34" charset="-120"/>
              </a:rPr>
              <a:t>ALBION HELPER</a:t>
            </a:r>
            <a:endParaRPr lang="en-US" sz="5000" dirty="0"/>
          </a:p>
        </p:txBody>
      </p:sp>
      <p:sp>
        <p:nvSpPr>
          <p:cNvPr id="5" name="Text 3"/>
          <p:cNvSpPr/>
          <p:nvPr/>
        </p:nvSpPr>
        <p:spPr>
          <a:xfrm>
            <a:off x="822960" y="2880360"/>
            <a:ext cx="10545775" cy="502920"/>
          </a:xfrm>
          <a:prstGeom prst="rect">
            <a:avLst/>
          </a:prstGeom>
          <a:noFill/>
          <a:ln/>
        </p:spPr>
        <p:txBody>
          <a:bodyPr wrap="square" rtlCol="0" anchor="ctr"/>
          <a:lstStyle/>
          <a:p>
            <a:pPr indent="0" marL="0">
              <a:buNone/>
            </a:pPr>
            <a:r>
              <a:rPr lang="en-US" sz="1650" spc="120" kern="0" dirty="0">
                <a:solidFill>
                  <a:srgbClr val="C9A227"/>
                </a:solidFill>
                <a:latin typeface="Calibri" pitchFamily="34" charset="0"/>
                <a:ea typeface="Calibri" pitchFamily="34" charset="-122"/>
                <a:cs typeface="Calibri" pitchFamily="34" charset="-120"/>
              </a:rPr>
              <a:t>BLOC 1 — CADRER UN PROJET DE DÉVELOPPEMENT D'APPLICATIONS LOGICIELLES</a:t>
            </a:r>
            <a:endParaRPr lang="en-US" sz="1650" dirty="0"/>
          </a:p>
        </p:txBody>
      </p:sp>
      <p:sp>
        <p:nvSpPr>
          <p:cNvPr id="6" name="Shape 4"/>
          <p:cNvSpPr/>
          <p:nvPr/>
        </p:nvSpPr>
        <p:spPr>
          <a:xfrm>
            <a:off x="822960" y="3566160"/>
            <a:ext cx="2011680" cy="0"/>
          </a:xfrm>
          <a:prstGeom prst="line">
            <a:avLst/>
          </a:prstGeom>
          <a:noFill/>
          <a:ln w="19050">
            <a:solidFill>
              <a:srgbClr val="C9A227"/>
            </a:solidFill>
            <a:prstDash val="solid"/>
          </a:ln>
        </p:spPr>
      </p:sp>
      <p:sp>
        <p:nvSpPr>
          <p:cNvPr id="7" name="Text 5"/>
          <p:cNvSpPr/>
          <p:nvPr/>
        </p:nvSpPr>
        <p:spPr>
          <a:xfrm>
            <a:off x="822960" y="3886200"/>
            <a:ext cx="10545775" cy="1188720"/>
          </a:xfrm>
          <a:prstGeom prst="rect">
            <a:avLst/>
          </a:prstGeom>
          <a:noFill/>
          <a:ln/>
        </p:spPr>
        <p:txBody>
          <a:bodyPr wrap="square" rtlCol="0" anchor="ctr"/>
          <a:lstStyle/>
          <a:p>
            <a:pPr indent="0" marL="0">
              <a:lnSpc>
                <a:spcPct val="140000"/>
              </a:lnSpc>
              <a:buNone/>
            </a:pPr>
            <a:r>
              <a:rPr lang="en-US" sz="1300" dirty="0">
                <a:solidFill>
                  <a:srgbClr val="EDE6D6"/>
                </a:solidFill>
                <a:latin typeface="Calibri" pitchFamily="34" charset="0"/>
                <a:ea typeface="Calibri" pitchFamily="34" charset="-122"/>
                <a:cs typeface="Calibri" pitchFamily="34" charset="-120"/>
              </a:rPr>
              <a:t>Pierre Saugues — M2 Expert en développement full-stack, YNOV</a:t>
            </a:r>
            <a:endParaRPr lang="en-US" sz="1300" dirty="0"/>
          </a:p>
          <a:p>
            <a:pPr indent="0" marL="0">
              <a:lnSpc>
                <a:spcPct val="140000"/>
              </a:lnSpc>
              <a:buNone/>
            </a:pPr>
            <a:r>
              <a:rPr lang="en-US" sz="1300" dirty="0">
                <a:solidFill>
                  <a:srgbClr val="EDE6D6"/>
                </a:solidFill>
                <a:latin typeface="Calibri" pitchFamily="34" charset="0"/>
                <a:ea typeface="Calibri" pitchFamily="34" charset="-122"/>
                <a:cs typeface="Calibri" pitchFamily="34" charset="-120"/>
              </a:rPr>
              <a:t>Titre RNCP39583 « Expert en développement logiciel » — épreuve orale (20 min de présentation + 10 min d'échanges)</a:t>
            </a:r>
            <a:endParaRPr lang="en-US" sz="1300" dirty="0"/>
          </a:p>
          <a:p>
            <a:pPr indent="0" marL="0">
              <a:lnSpc>
                <a:spcPct val="140000"/>
              </a:lnSpc>
              <a:buNone/>
            </a:pPr>
            <a:r>
              <a:rPr lang="en-US" sz="1300" dirty="0">
                <a:solidFill>
                  <a:srgbClr val="EDE6D6"/>
                </a:solidFill>
                <a:latin typeface="Calibri" pitchFamily="34" charset="0"/>
                <a:ea typeface="Calibri" pitchFamily="34" charset="-122"/>
                <a:cs typeface="Calibri" pitchFamily="34" charset="-120"/>
              </a:rPr>
              <a:t>Octobre 2026</a:t>
            </a:r>
            <a:endParaRPr lang="en-US" sz="1300" dirty="0"/>
          </a:p>
        </p:txBody>
      </p:sp>
      <p:sp>
        <p:nvSpPr>
          <p:cNvPr id="8" name="Text 6"/>
          <p:cNvSpPr/>
          <p:nvPr/>
        </p:nvSpPr>
        <p:spPr>
          <a:xfrm>
            <a:off x="822960" y="6217920"/>
            <a:ext cx="3657600" cy="320040"/>
          </a:xfrm>
          <a:prstGeom prst="rect">
            <a:avLst/>
          </a:prstGeom>
          <a:noFill/>
          <a:ln/>
        </p:spPr>
        <p:txBody>
          <a:bodyPr wrap="square" rtlCol="0" anchor="ctr"/>
          <a:lstStyle/>
          <a:p>
            <a:pPr indent="0" marL="0">
              <a:buNone/>
            </a:pPr>
            <a:r>
              <a:rPr lang="en-US" sz="1050" i="1" dirty="0">
                <a:solidFill>
                  <a:srgbClr val="9A8F6E"/>
                </a:solidFill>
                <a:latin typeface="Calibri" pitchFamily="34" charset="0"/>
                <a:ea typeface="Calibri" pitchFamily="34" charset="-122"/>
                <a:cs typeface="Calibri" pitchFamily="34" charset="-120"/>
              </a:rPr>
              <a:t>v3.3.1 — en production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1</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0</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CONTEXTE DE LA DEMANDE</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500" b="1" dirty="0">
                <a:solidFill>
                  <a:srgbClr val="E8C766"/>
                </a:solidFill>
                <a:latin typeface="Cambria" pitchFamily="34" charset="0"/>
                <a:ea typeface="Cambria" pitchFamily="34" charset="-122"/>
                <a:cs typeface="Cambria" pitchFamily="34" charset="-120"/>
              </a:rPr>
              <a:t>Le problème à résoudre</a:t>
            </a:r>
            <a:endParaRPr lang="en-US" sz="2500" dirty="0"/>
          </a:p>
        </p:txBody>
      </p:sp>
      <p:sp>
        <p:nvSpPr>
          <p:cNvPr id="8" name="Shape 6"/>
          <p:cNvSpPr/>
          <p:nvPr/>
        </p:nvSpPr>
        <p:spPr>
          <a:xfrm>
            <a:off x="457200" y="1371600"/>
            <a:ext cx="5623560" cy="4892040"/>
          </a:xfrm>
          <a:prstGeom prst="roundRect">
            <a:avLst>
              <a:gd name="adj" fmla="val 1308"/>
            </a:avLst>
          </a:prstGeom>
          <a:solidFill>
            <a:srgbClr val="F1E9D2"/>
          </a:solidFill>
          <a:ln/>
          <a:effectLst>
            <a:outerShdw sx="100000" sy="100000" kx="0" ky="0" algn="bl" rotWithShape="0" blurRad="76200" dist="38100" dir="5400000">
              <a:srgbClr val="000000">
                <a:alpha val="35000"/>
              </a:srgbClr>
            </a:outerShdw>
          </a:effectLst>
        </p:spPr>
      </p:sp>
      <p:sp>
        <p:nvSpPr>
          <p:cNvPr id="9" name="Text 7"/>
          <p:cNvSpPr/>
          <p:nvPr/>
        </p:nvSpPr>
        <p:spPr>
          <a:xfrm>
            <a:off x="685800" y="1536192"/>
            <a:ext cx="5212080" cy="320040"/>
          </a:xfrm>
          <a:prstGeom prst="rect">
            <a:avLst/>
          </a:prstGeom>
          <a:noFill/>
          <a:ln/>
        </p:spPr>
        <p:txBody>
          <a:bodyPr wrap="square" rtlCol="0" anchor="ctr"/>
          <a:lstStyle/>
          <a:p>
            <a:pPr indent="0" marL="0">
              <a:buNone/>
            </a:pPr>
            <a:r>
              <a:rPr lang="en-US" sz="1300" b="1" dirty="0">
                <a:solidFill>
                  <a:srgbClr val="1D1A14"/>
                </a:solidFill>
                <a:latin typeface="Calibri" pitchFamily="34" charset="0"/>
                <a:ea typeface="Calibri" pitchFamily="34" charset="-122"/>
                <a:cs typeface="Calibri" pitchFamily="34" charset="-120"/>
              </a:rPr>
              <a:t>Problématique du commanditaire</a:t>
            </a:r>
            <a:endParaRPr lang="en-US" sz="1300" dirty="0"/>
          </a:p>
        </p:txBody>
      </p:sp>
      <p:sp>
        <p:nvSpPr>
          <p:cNvPr id="10" name="Text 8"/>
          <p:cNvSpPr/>
          <p:nvPr/>
        </p:nvSpPr>
        <p:spPr>
          <a:xfrm>
            <a:off x="685800" y="1856232"/>
            <a:ext cx="5212080" cy="640080"/>
          </a:xfrm>
          <a:prstGeom prst="rect">
            <a:avLst/>
          </a:prstGeom>
          <a:noFill/>
          <a:ln/>
        </p:spPr>
        <p:txBody>
          <a:bodyPr wrap="square" rtlCol="0" anchor="ctr"/>
          <a:lstStyle/>
          <a:p>
            <a:pPr indent="0" marL="0">
              <a:lnSpc>
                <a:spcPct val="122000"/>
              </a:lnSpc>
              <a:buNone/>
            </a:pPr>
            <a:r>
              <a:rPr lang="en-US" sz="1100" dirty="0">
                <a:solidFill>
                  <a:srgbClr val="1D1A14"/>
                </a:solidFill>
                <a:latin typeface="Calibri" pitchFamily="34" charset="0"/>
                <a:ea typeface="Calibri" pitchFamily="34" charset="-122"/>
                <a:cs typeface="Calibri" pitchFamily="34" charset="-120"/>
              </a:rPr>
              <a:t>Albion Online est un MMORPG où l'information est stratégique : équipement des adversaires, prix du marché, itinéraires, préparation des batailles.</a:t>
            </a:r>
            <a:endParaRPr lang="en-US" sz="1100" dirty="0"/>
          </a:p>
        </p:txBody>
      </p:sp>
      <p:sp>
        <p:nvSpPr>
          <p:cNvPr id="11" name="Shape 9"/>
          <p:cNvSpPr/>
          <p:nvPr/>
        </p:nvSpPr>
        <p:spPr>
          <a:xfrm>
            <a:off x="685800" y="2542032"/>
            <a:ext cx="5212080" cy="1371600"/>
          </a:xfrm>
          <a:prstGeom prst="roundRect">
            <a:avLst>
              <a:gd name="adj" fmla="val 4667"/>
            </a:avLst>
          </a:prstGeom>
          <a:solidFill>
            <a:srgbClr val="E9DFC4"/>
          </a:solidFill>
          <a:ln/>
        </p:spPr>
      </p:sp>
      <p:sp>
        <p:nvSpPr>
          <p:cNvPr id="12" name="Text 10"/>
          <p:cNvSpPr/>
          <p:nvPr/>
        </p:nvSpPr>
        <p:spPr>
          <a:xfrm>
            <a:off x="868680" y="2670048"/>
            <a:ext cx="4846320" cy="1143000"/>
          </a:xfrm>
          <a:prstGeom prst="rect">
            <a:avLst/>
          </a:prstGeom>
          <a:noFill/>
          <a:ln/>
        </p:spPr>
        <p:txBody>
          <a:bodyPr wrap="square" rtlCol="0" anchor="ctr"/>
          <a:lstStyle/>
          <a:p>
            <a:pPr indent="0" marL="0">
              <a:lnSpc>
                <a:spcPct val="122000"/>
              </a:lnSpc>
              <a:buNone/>
            </a:pPr>
            <a:r>
              <a:rPr lang="en-US" sz="1050" i="1" dirty="0">
                <a:solidFill>
                  <a:srgbClr val="1D1A14"/>
                </a:solidFill>
                <a:latin typeface="Calibri" pitchFamily="34" charset="0"/>
                <a:ea typeface="Calibri" pitchFamily="34" charset="-122"/>
                <a:cs typeface="Calibri" pitchFamily="34" charset="-120"/>
              </a:rPr>
              <a:t>Ces informations existent mais sont éclatées entre plusieurs sites tiers, souvent en anglais uniquement, sans partage possible entre membres, et sans outil couvrant les trois serveurs mondiaux du jeu.</a:t>
            </a:r>
            <a:endParaRPr lang="en-US" sz="1050" dirty="0"/>
          </a:p>
        </p:txBody>
      </p:sp>
      <p:sp>
        <p:nvSpPr>
          <p:cNvPr id="13" name="Text 11"/>
          <p:cNvSpPr/>
          <p:nvPr/>
        </p:nvSpPr>
        <p:spPr>
          <a:xfrm>
            <a:off x="685800" y="4069080"/>
            <a:ext cx="5212080" cy="868680"/>
          </a:xfrm>
          <a:prstGeom prst="rect">
            <a:avLst/>
          </a:prstGeom>
          <a:noFill/>
          <a:ln/>
        </p:spPr>
        <p:txBody>
          <a:bodyPr wrap="square" rtlCol="0" anchor="ctr"/>
          <a:lstStyle/>
          <a:p>
            <a:pPr indent="0" marL="0">
              <a:buNone/>
            </a:pPr>
            <a:r>
              <a:rPr lang="en-US" sz="1200" b="1" i="1" dirty="0">
                <a:solidFill>
                  <a:srgbClr val="7A5A08"/>
                </a:solidFill>
                <a:latin typeface="Cambria" pitchFamily="34" charset="0"/>
                <a:ea typeface="Cambria" pitchFamily="34" charset="-122"/>
                <a:cs typeface="Cambria" pitchFamily="34" charset="-120"/>
              </a:rPr>
              <a:t>« Un outil unique, dans notre langue, où la guilde prépare et partage tout ce dont elle a besoin en session de jeu. »</a:t>
            </a:r>
            <a:endParaRPr lang="en-US" sz="1200" dirty="0"/>
          </a:p>
        </p:txBody>
      </p:sp>
      <p:sp>
        <p:nvSpPr>
          <p:cNvPr id="14" name="Text 12"/>
          <p:cNvSpPr/>
          <p:nvPr/>
        </p:nvSpPr>
        <p:spPr>
          <a:xfrm>
            <a:off x="685800" y="4919472"/>
            <a:ext cx="5212080" cy="274320"/>
          </a:xfrm>
          <a:prstGeom prst="rect">
            <a:avLst/>
          </a:prstGeom>
          <a:noFill/>
          <a:ln/>
        </p:spPr>
        <p:txBody>
          <a:bodyPr wrap="square" rtlCol="0" anchor="ctr"/>
          <a:lstStyle/>
          <a:p>
            <a:pPr indent="0" marL="0">
              <a:buNone/>
            </a:pPr>
            <a:r>
              <a:rPr lang="en-US" sz="950" dirty="0">
                <a:solidFill>
                  <a:srgbClr val="6B6357"/>
                </a:solidFill>
                <a:latin typeface="Calibri" pitchFamily="34" charset="0"/>
                <a:ea typeface="Calibri" pitchFamily="34" charset="-122"/>
                <a:cs typeface="Calibri" pitchFamily="34" charset="-120"/>
              </a:rPr>
              <a:t>— la demande du commanditaire</a:t>
            </a:r>
            <a:endParaRPr lang="en-US" sz="950" dirty="0"/>
          </a:p>
        </p:txBody>
      </p:sp>
      <p:sp>
        <p:nvSpPr>
          <p:cNvPr id="15" name="Text 13"/>
          <p:cNvSpPr/>
          <p:nvPr/>
        </p:nvSpPr>
        <p:spPr>
          <a:xfrm>
            <a:off x="685800" y="5285232"/>
            <a:ext cx="5212080" cy="868680"/>
          </a:xfrm>
          <a:prstGeom prst="rect">
            <a:avLst/>
          </a:prstGeom>
          <a:noFill/>
          <a:ln/>
        </p:spPr>
        <p:txBody>
          <a:bodyPr wrap="square" rtlCol="0" anchor="ctr"/>
          <a:lstStyle/>
          <a:p>
            <a:pPr indent="0" marL="0">
              <a:lnSpc>
                <a:spcPct val="120000"/>
              </a:lnSpc>
              <a:buNone/>
            </a:pPr>
            <a:r>
              <a:rPr lang="en-US" sz="1000" b="1" dirty="0">
                <a:solidFill>
                  <a:srgbClr val="7A5A08"/>
                </a:solidFill>
                <a:latin typeface="Calibri" pitchFamily="34" charset="0"/>
                <a:ea typeface="Calibri" pitchFamily="34" charset="-122"/>
                <a:cs typeface="Calibri" pitchFamily="34" charset="-120"/>
              </a:rPr>
              <a:t>Atout décisif dès le cadrage : l'éditeur du jeu (Sandbox Interactive) expose une API de données publique et gratuite — le projet est possible sans partenariat commercial.</a:t>
            </a:r>
            <a:endParaRPr lang="en-US" sz="1000" dirty="0"/>
          </a:p>
        </p:txBody>
      </p:sp>
      <p:sp>
        <p:nvSpPr>
          <p:cNvPr id="16" name="Text 14"/>
          <p:cNvSpPr/>
          <p:nvPr/>
        </p:nvSpPr>
        <p:spPr>
          <a:xfrm>
            <a:off x="6355080" y="1417320"/>
            <a:ext cx="5394960" cy="320040"/>
          </a:xfrm>
          <a:prstGeom prst="rect">
            <a:avLst/>
          </a:prstGeom>
          <a:noFill/>
          <a:ln/>
        </p:spPr>
        <p:txBody>
          <a:bodyPr wrap="square" rtlCol="0" anchor="ctr"/>
          <a:lstStyle/>
          <a:p>
            <a:pPr indent="0" marL="0">
              <a:buNone/>
            </a:pPr>
            <a:r>
              <a:rPr lang="en-US" sz="1300" b="1" dirty="0">
                <a:solidFill>
                  <a:srgbClr val="E8C766"/>
                </a:solidFill>
                <a:latin typeface="Calibri" pitchFamily="34" charset="0"/>
                <a:ea typeface="Calibri" pitchFamily="34" charset="-122"/>
                <a:cs typeface="Calibri" pitchFamily="34" charset="-120"/>
              </a:rPr>
              <a:t>Périmètre proposé au cadrage</a:t>
            </a:r>
            <a:endParaRPr lang="en-US" sz="1300" dirty="0"/>
          </a:p>
        </p:txBody>
      </p:sp>
      <p:sp>
        <p:nvSpPr>
          <p:cNvPr id="17" name="Text 15"/>
          <p:cNvSpPr/>
          <p:nvPr/>
        </p:nvSpPr>
        <p:spPr>
          <a:xfrm>
            <a:off x="6355080" y="1783080"/>
            <a:ext cx="5394960" cy="1600200"/>
          </a:xfrm>
          <a:prstGeom prst="rect">
            <a:avLst/>
          </a:prstGeom>
          <a:noFill/>
          <a:ln/>
        </p:spPr>
        <p:txBody>
          <a:bodyPr wrap="square" rtlCol="0" anchor="t"/>
          <a:lstStyle/>
          <a:p>
            <a:pPr marL="342900" indent="-342900">
              <a:lnSpc>
                <a:spcPct val="128000"/>
              </a:lnSpc>
              <a:spcAft>
                <a:spcPts val="600"/>
              </a:spcAft>
              <a:buSzPct val="100000"/>
              <a:buChar char="✦"/>
            </a:pPr>
            <a:r>
              <a:rPr lang="en-US" sz="1150" dirty="0">
                <a:solidFill>
                  <a:srgbClr val="EDE6D6"/>
                </a:solidFill>
                <a:latin typeface="Calibri" pitchFamily="34" charset="0"/>
                <a:ea typeface="Calibri" pitchFamily="34" charset="-122"/>
                <a:cs typeface="Calibri" pitchFamily="34" charset="-120"/>
              </a:rPr>
              <a:t>Recherche joueurs / guildes / batailles + statistiques</a:t>
            </a:r>
            <a:endParaRPr lang="en-US" sz="1150" dirty="0"/>
          </a:p>
          <a:p>
            <a:pPr marL="342900" indent="-342900">
              <a:lnSpc>
                <a:spcPct val="128000"/>
              </a:lnSpc>
              <a:spcAft>
                <a:spcPts val="600"/>
              </a:spcAft>
              <a:buSzPct val="100000"/>
              <a:buChar char="✦"/>
            </a:pPr>
            <a:r>
              <a:rPr lang="en-US" sz="1150" dirty="0">
                <a:solidFill>
                  <a:srgbClr val="EDE6D6"/>
                </a:solidFill>
                <a:latin typeface="Calibri" pitchFamily="34" charset="0"/>
                <a:ea typeface="Calibri" pitchFamily="34" charset="-122"/>
                <a:cs typeface="Calibri" pitchFamily="34" charset="-120"/>
              </a:rPr>
              <a:t>Carte des zones et itinéraires partageables</a:t>
            </a:r>
            <a:endParaRPr lang="en-US" sz="1150" dirty="0"/>
          </a:p>
          <a:p>
            <a:pPr marL="342900" indent="-342900">
              <a:lnSpc>
                <a:spcPct val="128000"/>
              </a:lnSpc>
              <a:spcAft>
                <a:spcPts val="600"/>
              </a:spcAft>
              <a:buSzPct val="100000"/>
              <a:buChar char="✦"/>
            </a:pPr>
            <a:r>
              <a:rPr lang="en-US" sz="1150" dirty="0">
                <a:solidFill>
                  <a:srgbClr val="EDE6D6"/>
                </a:solidFill>
                <a:latin typeface="Calibri" pitchFamily="34" charset="0"/>
                <a:ea typeface="Calibri" pitchFamily="34" charset="-122"/>
                <a:cs typeface="Calibri" pitchFamily="34" charset="-120"/>
              </a:rPr>
              <a:t>Compositions d'équipe et calculateur d'artisanat (prix marché)</a:t>
            </a:r>
            <a:endParaRPr lang="en-US" sz="1150" dirty="0"/>
          </a:p>
          <a:p>
            <a:pPr marL="342900" indent="-342900">
              <a:lnSpc>
                <a:spcPct val="128000"/>
              </a:lnSpc>
              <a:spcAft>
                <a:spcPts val="600"/>
              </a:spcAft>
              <a:buSzPct val="100000"/>
              <a:buChar char="✦"/>
            </a:pPr>
            <a:r>
              <a:rPr lang="en-US" sz="1150" dirty="0">
                <a:solidFill>
                  <a:srgbClr val="EDE6D6"/>
                </a:solidFill>
                <a:latin typeface="Calibri" pitchFamily="34" charset="0"/>
                <a:ea typeface="Calibri" pitchFamily="34" charset="-122"/>
                <a:cs typeface="Calibri" pitchFamily="34" charset="-120"/>
              </a:rPr>
              <a:t>Multi-langue, multi-serveur, administrable sans technicien</a:t>
            </a:r>
            <a:endParaRPr lang="en-US" sz="1150" dirty="0"/>
          </a:p>
        </p:txBody>
      </p:sp>
      <p:sp>
        <p:nvSpPr>
          <p:cNvPr id="18" name="Text 16"/>
          <p:cNvSpPr/>
          <p:nvPr/>
        </p:nvSpPr>
        <p:spPr>
          <a:xfrm>
            <a:off x="6355080" y="3474720"/>
            <a:ext cx="5394960" cy="320040"/>
          </a:xfrm>
          <a:prstGeom prst="rect">
            <a:avLst/>
          </a:prstGeom>
          <a:noFill/>
          <a:ln/>
        </p:spPr>
        <p:txBody>
          <a:bodyPr wrap="square" rtlCol="0" anchor="ctr"/>
          <a:lstStyle/>
          <a:p>
            <a:pPr indent="0" marL="0">
              <a:buNone/>
            </a:pPr>
            <a:r>
              <a:rPr lang="en-US" sz="1300" b="1" dirty="0">
                <a:solidFill>
                  <a:srgbClr val="E8C766"/>
                </a:solidFill>
                <a:latin typeface="Calibri" pitchFamily="34" charset="0"/>
                <a:ea typeface="Calibri" pitchFamily="34" charset="-122"/>
                <a:cs typeface="Calibri" pitchFamily="34" charset="-120"/>
              </a:rPr>
              <a:t>Vision v3.3.1 (aujourd'hui, en production)</a:t>
            </a:r>
            <a:endParaRPr lang="en-US" sz="1300" dirty="0"/>
          </a:p>
        </p:txBody>
      </p:sp>
      <p:sp>
        <p:nvSpPr>
          <p:cNvPr id="19" name="Text 17"/>
          <p:cNvSpPr/>
          <p:nvPr/>
        </p:nvSpPr>
        <p:spPr>
          <a:xfrm>
            <a:off x="6355080" y="3840480"/>
            <a:ext cx="5394960" cy="1600200"/>
          </a:xfrm>
          <a:prstGeom prst="rect">
            <a:avLst/>
          </a:prstGeom>
          <a:noFill/>
          <a:ln/>
        </p:spPr>
        <p:txBody>
          <a:bodyPr wrap="square" rtlCol="0" anchor="t"/>
          <a:lstStyle/>
          <a:p>
            <a:pPr marL="342900" indent="-342900">
              <a:lnSpc>
                <a:spcPct val="128000"/>
              </a:lnSpc>
              <a:spcAft>
                <a:spcPts val="600"/>
              </a:spcAft>
              <a:buSzPct val="100000"/>
              <a:buChar char="✦"/>
            </a:pPr>
            <a:r>
              <a:rPr lang="en-US" sz="1150" dirty="0">
                <a:solidFill>
                  <a:srgbClr val="EDE6D6"/>
                </a:solidFill>
                <a:latin typeface="Calibri" pitchFamily="34" charset="0"/>
                <a:ea typeface="Calibri" pitchFamily="34" charset="-122"/>
                <a:cs typeface="Calibri" pitchFamily="34" charset="-120"/>
              </a:rPr>
              <a:t>12 066 items catalogués, 20 langues administrables</a:t>
            </a:r>
            <a:endParaRPr lang="en-US" sz="1150" dirty="0"/>
          </a:p>
          <a:p>
            <a:pPr marL="342900" indent="-342900">
              <a:lnSpc>
                <a:spcPct val="128000"/>
              </a:lnSpc>
              <a:spcAft>
                <a:spcPts val="600"/>
              </a:spcAft>
              <a:buSzPct val="100000"/>
              <a:buChar char="✦"/>
            </a:pPr>
            <a:r>
              <a:rPr lang="en-US" sz="1150" dirty="0">
                <a:solidFill>
                  <a:srgbClr val="EDE6D6"/>
                </a:solidFill>
                <a:latin typeface="Calibri" pitchFamily="34" charset="0"/>
                <a:ea typeface="Calibri" pitchFamily="34" charset="-122"/>
                <a:cs typeface="Calibri" pitchFamily="34" charset="-120"/>
              </a:rPr>
              <a:t>Thème sombre/clair « fantasy », tutoriel guidé</a:t>
            </a:r>
            <a:endParaRPr lang="en-US" sz="1150" dirty="0"/>
          </a:p>
          <a:p>
            <a:pPr marL="342900" indent="-342900">
              <a:lnSpc>
                <a:spcPct val="128000"/>
              </a:lnSpc>
              <a:spcAft>
                <a:spcPts val="600"/>
              </a:spcAft>
              <a:buSzPct val="100000"/>
              <a:buChar char="✦"/>
            </a:pPr>
            <a:r>
              <a:rPr lang="en-US" sz="1150" dirty="0">
                <a:solidFill>
                  <a:srgbClr val="EDE6D6"/>
                </a:solidFill>
                <a:latin typeface="Calibri" pitchFamily="34" charset="0"/>
                <a:ea typeface="Calibri" pitchFamily="34" charset="-122"/>
                <a:cs typeface="Calibri" pitchFamily="34" charset="-120"/>
              </a:rPr>
              <a:t>Auth durcie : JWT en cookies httpOnly, RGPD</a:t>
            </a:r>
            <a:endParaRPr lang="en-US" sz="1150" dirty="0"/>
          </a:p>
          <a:p>
            <a:pPr marL="342900" indent="-342900">
              <a:lnSpc>
                <a:spcPct val="128000"/>
              </a:lnSpc>
              <a:spcAft>
                <a:spcPts val="600"/>
              </a:spcAft>
              <a:buSzPct val="100000"/>
              <a:buChar char="✦"/>
            </a:pPr>
            <a:r>
              <a:rPr lang="en-US" sz="1150" dirty="0">
                <a:solidFill>
                  <a:srgbClr val="EDE6D6"/>
                </a:solidFill>
                <a:latin typeface="Calibri" pitchFamily="34" charset="0"/>
                <a:ea typeface="Calibri" pitchFamily="34" charset="-122"/>
                <a:cs typeface="Calibri" pitchFamily="34" charset="-120"/>
              </a:rPr>
              <a:t>177 tests automatisés, prod supervisée 24 h/24</a:t>
            </a:r>
            <a:endParaRPr lang="en-US" sz="1150" dirty="0"/>
          </a:p>
        </p:txBody>
      </p:sp>
      <p:sp>
        <p:nvSpPr>
          <p:cNvPr id="20" name="Shape 18"/>
          <p:cNvSpPr/>
          <p:nvPr/>
        </p:nvSpPr>
        <p:spPr>
          <a:xfrm>
            <a:off x="6355080" y="5623560"/>
            <a:ext cx="5394960" cy="777240"/>
          </a:xfrm>
          <a:prstGeom prst="roundRect">
            <a:avLst>
              <a:gd name="adj" fmla="val 8235"/>
            </a:avLst>
          </a:prstGeom>
          <a:solidFill>
            <a:srgbClr val="2A2313"/>
          </a:solidFill>
          <a:ln/>
        </p:spPr>
      </p:sp>
      <p:sp>
        <p:nvSpPr>
          <p:cNvPr id="21" name="Text 19"/>
          <p:cNvSpPr/>
          <p:nvPr/>
        </p:nvSpPr>
        <p:spPr>
          <a:xfrm>
            <a:off x="6537960" y="5742432"/>
            <a:ext cx="5029200" cy="548640"/>
          </a:xfrm>
          <a:prstGeom prst="rect">
            <a:avLst/>
          </a:prstGeom>
          <a:noFill/>
          <a:ln/>
        </p:spPr>
        <p:txBody>
          <a:bodyPr wrap="square" rtlCol="0" anchor="ctr"/>
          <a:lstStyle/>
          <a:p>
            <a:pPr indent="0" marL="0">
              <a:buNone/>
            </a:pPr>
            <a:r>
              <a:rPr lang="en-US" sz="1000" i="1" dirty="0">
                <a:solidFill>
                  <a:srgbClr val="C9A227"/>
                </a:solidFill>
                <a:latin typeface="Calibri" pitchFamily="34" charset="0"/>
                <a:ea typeface="Calibri" pitchFamily="34" charset="-122"/>
                <a:cs typeface="Calibri" pitchFamily="34" charset="-120"/>
              </a:rPr>
              <a:t>Le cadrage a été le point de départ de tout ce qui suit — chaque décision se retrouve dans l'application livrée.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2</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CARTOGRAPHIE DES PARTIES PRENANTES — C1.1.1 ÉLIMINATOIRE</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300" b="1" dirty="0">
                <a:solidFill>
                  <a:srgbClr val="E8C766"/>
                </a:solidFill>
                <a:latin typeface="Cambria" pitchFamily="34" charset="0"/>
                <a:ea typeface="Cambria" pitchFamily="34" charset="-122"/>
                <a:cs typeface="Cambria" pitchFamily="34" charset="-120"/>
              </a:rPr>
              <a:t>Acteurs, rôles et niveaux d'implication</a:t>
            </a:r>
            <a:endParaRPr lang="en-US" sz="2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4572000"/>
        </p:xfrm>
        <a:graphic>
          <a:graphicData uri="http://schemas.openxmlformats.org/drawingml/2006/table">
            <a:tbl>
              <a:tblPr/>
              <a:tblGrid>
                <a:gridCol w="3200400"/>
                <a:gridCol w="3108960"/>
                <a:gridCol w="2286000"/>
                <a:gridCol w="2679192"/>
              </a:tblGrid>
              <a:tr h="571500">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Acteur</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Rôle dans le projet</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Implication</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Attentes principales</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r>
              <a:tr h="571500">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Commanditaire — communauté / guilde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Exprime le besoin, valide les livraisons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Forte — décisionnaire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Outil fiable, simple, disponible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571500">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Utilisateurs finaux — joueurs (débutant à chef de guilde)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Utilisent l'app, remontent les retours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Forte — quotidienne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Rapidité, langue native, aucune installation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571500">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Développeur / architecte (moi)</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Conçoit, développe, exploite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Forte — permanente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Stack maintenable, périmètre réaliste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571500">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Administrateurs de l'outil</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Gèrent utilisateurs, langues, contenus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Moyenne — régulière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Back-office sans compétence technique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571500">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Sandbox Interactive (éditeur du jeu) — externe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Fournit l'API de données publique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Faible mais critique (dépendance)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Respect des conditions d'usage de l'API</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571500">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Hébergeur (VPS perfweb.net) — externe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Infrastructure de production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Faible — contractuelle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571500">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YNOV / jury</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Cadre pédagogique, jalons de validation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Moyenne — aux jalons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Conformité au référentiel, preuves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bl>
          </a:graphicData>
        </a:graphic>
      </p:graphicFrame>
      <p:sp>
        <p:nvSpPr>
          <p:cNvPr id="9" name="Shape 6"/>
          <p:cNvSpPr/>
          <p:nvPr/>
        </p:nvSpPr>
        <p:spPr>
          <a:xfrm>
            <a:off x="457200" y="5989320"/>
            <a:ext cx="11274552" cy="420000"/>
          </a:xfrm>
          <a:prstGeom prst="roundRect">
            <a:avLst>
              <a:gd name="adj" fmla="val 10769"/>
            </a:avLst>
          </a:prstGeom>
          <a:solidFill>
            <a:srgbClr val="2A2313"/>
          </a:solidFill>
          <a:ln/>
        </p:spPr>
      </p:sp>
      <p:sp>
        <p:nvSpPr>
          <p:cNvPr id="10" name="Text 7"/>
          <p:cNvSpPr/>
          <p:nvPr/>
        </p:nvSpPr>
        <p:spPr>
          <a:xfrm>
            <a:off x="640080" y="6019320"/>
            <a:ext cx="10881360" cy="360000"/>
          </a:xfrm>
          <a:prstGeom prst="rect">
            <a:avLst/>
          </a:prstGeom>
          <a:noFill/>
          <a:ln/>
        </p:spPr>
        <p:txBody>
          <a:bodyPr wrap="square" rtlCol="0" anchor="ctr"/>
          <a:lstStyle/>
          <a:p>
            <a:pPr indent="0" marL="0">
              <a:buNone/>
            </a:pPr>
            <a:r>
              <a:rPr lang="en-US" sz="1000" i="1" dirty="0">
                <a:solidFill>
                  <a:srgbClr val="C9A227"/>
                </a:solidFill>
                <a:latin typeface="Calibri" pitchFamily="34" charset="0"/>
                <a:ea typeface="Calibri" pitchFamily="34" charset="-122"/>
                <a:cs typeface="Calibri" pitchFamily="34" charset="-120"/>
              </a:rPr>
              <a:t>Lecture pouvoir × intérêt : le commanditaire et les utilisateurs pilotent le périmètre ; Sandbox Interactive a peu d'intérêt pour le projet mais un pouvoir de blocage total (API) → risque suivi en cartographie des risques (slide 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3</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2</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ANALYSE DE LA DEMANDE</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400" b="1" dirty="0">
                <a:solidFill>
                  <a:srgbClr val="E8C766"/>
                </a:solidFill>
                <a:latin typeface="Cambria" pitchFamily="34" charset="0"/>
                <a:ea typeface="Cambria" pitchFamily="34" charset="-122"/>
                <a:cs typeface="Cambria" pitchFamily="34" charset="-120"/>
              </a:rPr>
              <a:t>Objectifs et enjeux par partie prenante</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2606040"/>
        </p:xfrm>
        <a:graphic>
          <a:graphicData uri="http://schemas.openxmlformats.org/drawingml/2006/table">
            <a:tbl>
              <a:tblPr/>
              <a:tblGrid>
                <a:gridCol w="2194560"/>
                <a:gridCol w="3319272"/>
                <a:gridCol w="3017520"/>
                <a:gridCol w="2743200"/>
              </a:tblGrid>
              <a:tr h="521208">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Partie prenante</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Besoins recensés</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Objectifs</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Enjeux</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r>
              <a:tr h="521208">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Commanditaire (guilde)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Centraliser l'info, partager itinéraires et compositions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1 outil unique remplaçant 4 sites tiers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Cohésion et efficacité de la guilde en jeu</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521208">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Joueurs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Consulter vite, en session, dans leur langue, sur leur serveur</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Réponse &lt; 1 s, interface FR/EN/…, 3 serveurs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Adoption — un outil lent ou anglophone ne sera pas utilisé</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521208">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Administrateurs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Gérer comptes et langues sans développeur</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Back-office complet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Autonomie du commanditaire après livraison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521208">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Développeur</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Périmètre finançable et maintenable en solo</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Stack unifiée, coûts ~0 licence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Viabilité long terme du service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bl>
          </a:graphicData>
        </a:graphic>
      </p:graphicFrame>
      <p:sp>
        <p:nvSpPr>
          <p:cNvPr id="9" name="Shape 6"/>
          <p:cNvSpPr/>
          <p:nvPr/>
        </p:nvSpPr>
        <p:spPr>
          <a:xfrm>
            <a:off x="457200" y="4160520"/>
            <a:ext cx="11274552" cy="2331720"/>
          </a:xfrm>
          <a:prstGeom prst="roundRect">
            <a:avLst>
              <a:gd name="adj" fmla="val 2745"/>
            </a:avLst>
          </a:prstGeom>
          <a:solidFill>
            <a:srgbClr val="F1E9D2"/>
          </a:solidFill>
          <a:ln/>
          <a:effectLst>
            <a:outerShdw sx="100000" sy="100000" kx="0" ky="0" algn="bl" rotWithShape="0" blurRad="76200" dist="38100" dir="5400000">
              <a:srgbClr val="000000">
                <a:alpha val="35000"/>
              </a:srgbClr>
            </a:outerShdw>
          </a:effectLst>
        </p:spPr>
      </p:sp>
      <p:sp>
        <p:nvSpPr>
          <p:cNvPr id="10" name="Text 7"/>
          <p:cNvSpPr/>
          <p:nvPr/>
        </p:nvSpPr>
        <p:spPr>
          <a:xfrm>
            <a:off x="685800" y="4315968"/>
            <a:ext cx="10789920" cy="320040"/>
          </a:xfrm>
          <a:prstGeom prst="rect">
            <a:avLst/>
          </a:prstGeom>
          <a:noFill/>
          <a:ln/>
        </p:spPr>
        <p:txBody>
          <a:bodyPr wrap="square" rtlCol="0" anchor="ctr"/>
          <a:lstStyle/>
          <a:p>
            <a:pPr indent="0" marL="0">
              <a:buNone/>
            </a:pPr>
            <a:r>
              <a:rPr lang="en-US" sz="1300" b="1" dirty="0">
                <a:solidFill>
                  <a:srgbClr val="1D1A14"/>
                </a:solidFill>
                <a:latin typeface="Calibri" pitchFamily="34" charset="0"/>
                <a:ea typeface="Calibri" pitchFamily="34" charset="-122"/>
                <a:cs typeface="Calibri" pitchFamily="34" charset="-120"/>
              </a:rPr>
              <a:t>Pistes de solutions envisagées au cadrage</a:t>
            </a:r>
            <a:endParaRPr lang="en-US" sz="1300" dirty="0"/>
          </a:p>
        </p:txBody>
      </p:sp>
      <p:sp>
        <p:nvSpPr>
          <p:cNvPr id="11" name="Text 8"/>
          <p:cNvSpPr/>
          <p:nvPr/>
        </p:nvSpPr>
        <p:spPr>
          <a:xfrm>
            <a:off x="685800" y="4663440"/>
            <a:ext cx="10789920" cy="868680"/>
          </a:xfrm>
          <a:prstGeom prst="rect">
            <a:avLst/>
          </a:prstGeom>
          <a:noFill/>
          <a:ln/>
        </p:spPr>
        <p:txBody>
          <a:bodyPr wrap="square" rtlCol="0" anchor="t"/>
          <a:lstStyle/>
          <a:p>
            <a:pPr marL="342900" indent="-342900">
              <a:lnSpc>
                <a:spcPct val="128000"/>
              </a:lnSpc>
              <a:spcAft>
                <a:spcPts val="600"/>
              </a:spcAft>
              <a:buSzPct val="100000"/>
              <a:buChar char="✦"/>
            </a:pPr>
            <a:r>
              <a:rPr lang="en-US" sz="1100" dirty="0">
                <a:solidFill>
                  <a:srgbClr val="1D1A14"/>
                </a:solidFill>
                <a:latin typeface="Calibri" pitchFamily="34" charset="0"/>
                <a:ea typeface="Calibri" pitchFamily="34" charset="-122"/>
                <a:cs typeface="Calibri" pitchFamily="34" charset="-120"/>
              </a:rPr>
              <a:t>① Application web sur mesure (front + API)</a:t>
            </a:r>
            <a:endParaRPr lang="en-US" sz="1100" dirty="0"/>
          </a:p>
          <a:p>
            <a:pPr marL="342900" indent="-342900">
              <a:lnSpc>
                <a:spcPct val="128000"/>
              </a:lnSpc>
              <a:spcAft>
                <a:spcPts val="600"/>
              </a:spcAft>
              <a:buSzPct val="100000"/>
              <a:buChar char="✦"/>
            </a:pPr>
            <a:r>
              <a:rPr lang="en-US" sz="1100" dirty="0">
                <a:solidFill>
                  <a:srgbClr val="1D1A14"/>
                </a:solidFill>
                <a:latin typeface="Calibri" pitchFamily="34" charset="0"/>
                <a:ea typeface="Calibri" pitchFamily="34" charset="-122"/>
                <a:cs typeface="Calibri" pitchFamily="34" charset="-120"/>
              </a:rPr>
              <a:t>② Surcouche / plugin d'un site existant</a:t>
            </a:r>
            <a:endParaRPr lang="en-US" sz="1100" dirty="0"/>
          </a:p>
          <a:p>
            <a:pPr marL="342900" indent="-342900">
              <a:lnSpc>
                <a:spcPct val="128000"/>
              </a:lnSpc>
              <a:spcAft>
                <a:spcPts val="600"/>
              </a:spcAft>
              <a:buSzPct val="100000"/>
              <a:buChar char="✦"/>
            </a:pPr>
            <a:r>
              <a:rPr lang="en-US" sz="1100" dirty="0">
                <a:solidFill>
                  <a:srgbClr val="1D1A14"/>
                </a:solidFill>
                <a:latin typeface="Calibri" pitchFamily="34" charset="0"/>
                <a:ea typeface="Calibri" pitchFamily="34" charset="-122"/>
                <a:cs typeface="Calibri" pitchFamily="34" charset="-120"/>
              </a:rPr>
              <a:t>③ Bot Discord</a:t>
            </a:r>
            <a:endParaRPr lang="en-US" sz="1100" dirty="0"/>
          </a:p>
        </p:txBody>
      </p:sp>
      <p:sp>
        <p:nvSpPr>
          <p:cNvPr id="12" name="Text 9"/>
          <p:cNvSpPr/>
          <p:nvPr/>
        </p:nvSpPr>
        <p:spPr>
          <a:xfrm>
            <a:off x="685800" y="5486400"/>
            <a:ext cx="10789920" cy="365760"/>
          </a:xfrm>
          <a:prstGeom prst="rect">
            <a:avLst/>
          </a:prstGeom>
          <a:noFill/>
          <a:ln/>
        </p:spPr>
        <p:txBody>
          <a:bodyPr wrap="square" rtlCol="0" anchor="ctr"/>
          <a:lstStyle/>
          <a:p>
            <a:pPr indent="0" marL="0">
              <a:buNone/>
            </a:pPr>
            <a:r>
              <a:rPr lang="en-US" sz="1050" i="1" dirty="0">
                <a:solidFill>
                  <a:srgbClr val="6B6357"/>
                </a:solidFill>
                <a:latin typeface="Calibri" pitchFamily="34" charset="0"/>
                <a:ea typeface="Calibri" pitchFamily="34" charset="-122"/>
                <a:cs typeface="Calibri" pitchFamily="34" charset="-120"/>
              </a:rPr>
              <a:t>Le bot ne couvre ni carte ni compositions ; la surcouche crée une dépendance à un tiers non contractuel.</a:t>
            </a:r>
            <a:endParaRPr lang="en-US" sz="1050" dirty="0"/>
          </a:p>
        </p:txBody>
      </p:sp>
      <p:sp>
        <p:nvSpPr>
          <p:cNvPr id="13" name="Text 10"/>
          <p:cNvSpPr/>
          <p:nvPr/>
        </p:nvSpPr>
        <p:spPr>
          <a:xfrm>
            <a:off x="685800" y="5852160"/>
            <a:ext cx="10789920" cy="548640"/>
          </a:xfrm>
          <a:prstGeom prst="rect">
            <a:avLst/>
          </a:prstGeom>
          <a:noFill/>
          <a:ln/>
        </p:spPr>
        <p:txBody>
          <a:bodyPr wrap="square" rtlCol="0" anchor="ctr"/>
          <a:lstStyle/>
          <a:p>
            <a:pPr indent="0" marL="0">
              <a:buNone/>
            </a:pPr>
            <a:r>
              <a:rPr lang="en-US" sz="1150" b="1" dirty="0">
                <a:solidFill>
                  <a:srgbClr val="7A5A08"/>
                </a:solidFill>
                <a:latin typeface="Calibri" pitchFamily="34" charset="0"/>
                <a:ea typeface="Calibri" pitchFamily="34" charset="-122"/>
                <a:cs typeface="Calibri" pitchFamily="34" charset="-120"/>
              </a:rPr>
              <a:t>→ Piste retenue : application web sur mesure, validée par l'étude comparative (slide 11) et l'estimation budgétaire (slide 13).</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4</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3</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OPPORTUNITÉS ET MENACES</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600" b="1" dirty="0">
                <a:solidFill>
                  <a:srgbClr val="E8C766"/>
                </a:solidFill>
                <a:latin typeface="Cambria" pitchFamily="34" charset="0"/>
                <a:ea typeface="Cambria" pitchFamily="34" charset="-122"/>
                <a:cs typeface="Cambria" pitchFamily="34" charset="-120"/>
              </a:rPr>
              <a:t>Analyse SWOT du projet</a:t>
            </a:r>
            <a:endParaRPr lang="en-US" sz="2600" dirty="0"/>
          </a:p>
        </p:txBody>
      </p:sp>
      <p:sp>
        <p:nvSpPr>
          <p:cNvPr id="8" name="Shape 6"/>
          <p:cNvSpPr/>
          <p:nvPr/>
        </p:nvSpPr>
        <p:spPr>
          <a:xfrm>
            <a:off x="457200" y="1371600"/>
            <a:ext cx="5522976" cy="1965960"/>
          </a:xfrm>
          <a:prstGeom prst="roundRect">
            <a:avLst>
              <a:gd name="adj" fmla="val 3256"/>
            </a:avLst>
          </a:prstGeom>
          <a:solidFill>
            <a:srgbClr val="DCEAD9"/>
          </a:solidFill>
          <a:ln/>
        </p:spPr>
      </p:sp>
      <p:sp>
        <p:nvSpPr>
          <p:cNvPr id="9" name="Text 7"/>
          <p:cNvSpPr/>
          <p:nvPr/>
        </p:nvSpPr>
        <p:spPr>
          <a:xfrm>
            <a:off x="685800" y="1481328"/>
            <a:ext cx="5065776" cy="320040"/>
          </a:xfrm>
          <a:prstGeom prst="rect">
            <a:avLst/>
          </a:prstGeom>
          <a:noFill/>
          <a:ln/>
        </p:spPr>
        <p:txBody>
          <a:bodyPr wrap="square" rtlCol="0" anchor="ctr"/>
          <a:lstStyle/>
          <a:p>
            <a:pPr indent="0" marL="0">
              <a:buNone/>
            </a:pPr>
            <a:r>
              <a:rPr lang="en-US" sz="1250" b="1" dirty="0">
                <a:solidFill>
                  <a:srgbClr val="20401F"/>
                </a:solidFill>
                <a:latin typeface="Calibri" pitchFamily="34" charset="0"/>
                <a:ea typeface="Calibri" pitchFamily="34" charset="-122"/>
                <a:cs typeface="Calibri" pitchFamily="34" charset="-120"/>
              </a:rPr>
              <a:t>Forces (interne)</a:t>
            </a:r>
            <a:endParaRPr lang="en-US" sz="1250" dirty="0"/>
          </a:p>
        </p:txBody>
      </p:sp>
      <p:sp>
        <p:nvSpPr>
          <p:cNvPr id="10" name="Text 8"/>
          <p:cNvSpPr/>
          <p:nvPr/>
        </p:nvSpPr>
        <p:spPr>
          <a:xfrm>
            <a:off x="685800" y="1828800"/>
            <a:ext cx="5065776" cy="1371600"/>
          </a:xfrm>
          <a:prstGeom prst="rect">
            <a:avLst/>
          </a:prstGeom>
          <a:noFill/>
          <a:ln/>
        </p:spPr>
        <p:txBody>
          <a:bodyPr wrap="square" rtlCol="0" anchor="t"/>
          <a:lstStyle/>
          <a:p>
            <a:pPr marL="342900" indent="-342900">
              <a:lnSpc>
                <a:spcPct val="128000"/>
              </a:lnSpc>
              <a:spcAft>
                <a:spcPts val="600"/>
              </a:spcAft>
              <a:buSzPct val="100000"/>
              <a:buChar char="✦"/>
            </a:pPr>
            <a:r>
              <a:rPr lang="en-US" sz="1000" dirty="0">
                <a:solidFill>
                  <a:srgbClr val="20401F"/>
                </a:solidFill>
                <a:latin typeface="Calibri" pitchFamily="34" charset="0"/>
                <a:ea typeface="Calibri" pitchFamily="34" charset="-122"/>
                <a:cs typeface="Calibri" pitchFamily="34" charset="-120"/>
              </a:rPr>
              <a:t>Stack maîtrisée et 100 % open source (coût licences nul)</a:t>
            </a:r>
            <a:endParaRPr lang="en-US" sz="1000" dirty="0"/>
          </a:p>
          <a:p>
            <a:pPr marL="342900" indent="-342900">
              <a:lnSpc>
                <a:spcPct val="128000"/>
              </a:lnSpc>
              <a:spcAft>
                <a:spcPts val="600"/>
              </a:spcAft>
              <a:buSzPct val="100000"/>
              <a:buChar char="✦"/>
            </a:pPr>
            <a:r>
              <a:rPr lang="en-US" sz="1000" dirty="0">
                <a:solidFill>
                  <a:srgbClr val="20401F"/>
                </a:solidFill>
                <a:latin typeface="Calibri" pitchFamily="34" charset="0"/>
                <a:ea typeface="Calibri" pitchFamily="34" charset="-122"/>
                <a:cs typeface="Calibri" pitchFamily="34" charset="-120"/>
              </a:rPr>
              <a:t>API du jeu gratuite et documentée</a:t>
            </a:r>
            <a:endParaRPr lang="en-US" sz="1000" dirty="0"/>
          </a:p>
          <a:p>
            <a:pPr marL="342900" indent="-342900">
              <a:lnSpc>
                <a:spcPct val="128000"/>
              </a:lnSpc>
              <a:spcAft>
                <a:spcPts val="600"/>
              </a:spcAft>
              <a:buSzPct val="100000"/>
              <a:buChar char="✦"/>
            </a:pPr>
            <a:r>
              <a:rPr lang="en-US" sz="1000" dirty="0">
                <a:solidFill>
                  <a:srgbClr val="20401F"/>
                </a:solidFill>
                <a:latin typeface="Calibri" pitchFamily="34" charset="0"/>
                <a:ea typeface="Calibri" pitchFamily="34" charset="-122"/>
                <a:cs typeface="Calibri" pitchFamily="34" charset="-120"/>
              </a:rPr>
              <a:t>Développeur = joueur : connaissance métier directe</a:t>
            </a:r>
            <a:endParaRPr lang="en-US" sz="1000" dirty="0"/>
          </a:p>
        </p:txBody>
      </p:sp>
      <p:sp>
        <p:nvSpPr>
          <p:cNvPr id="11" name="Shape 9"/>
          <p:cNvSpPr/>
          <p:nvPr/>
        </p:nvSpPr>
        <p:spPr>
          <a:xfrm>
            <a:off x="6208776" y="1371600"/>
            <a:ext cx="5522976" cy="1965960"/>
          </a:xfrm>
          <a:prstGeom prst="roundRect">
            <a:avLst>
              <a:gd name="adj" fmla="val 3256"/>
            </a:avLst>
          </a:prstGeom>
          <a:solidFill>
            <a:srgbClr val="F6D9D9"/>
          </a:solidFill>
          <a:ln/>
        </p:spPr>
      </p:sp>
      <p:sp>
        <p:nvSpPr>
          <p:cNvPr id="12" name="Text 10"/>
          <p:cNvSpPr/>
          <p:nvPr/>
        </p:nvSpPr>
        <p:spPr>
          <a:xfrm>
            <a:off x="6437376" y="1481328"/>
            <a:ext cx="5065776" cy="320040"/>
          </a:xfrm>
          <a:prstGeom prst="rect">
            <a:avLst/>
          </a:prstGeom>
          <a:noFill/>
          <a:ln/>
        </p:spPr>
        <p:txBody>
          <a:bodyPr wrap="square" rtlCol="0" anchor="ctr"/>
          <a:lstStyle/>
          <a:p>
            <a:pPr indent="0" marL="0">
              <a:buNone/>
            </a:pPr>
            <a:r>
              <a:rPr lang="en-US" sz="1250" b="1" dirty="0">
                <a:solidFill>
                  <a:srgbClr val="5A1414"/>
                </a:solidFill>
                <a:latin typeface="Calibri" pitchFamily="34" charset="0"/>
                <a:ea typeface="Calibri" pitchFamily="34" charset="-122"/>
                <a:cs typeface="Calibri" pitchFamily="34" charset="-120"/>
              </a:rPr>
              <a:t>Faiblesses (interne)</a:t>
            </a:r>
            <a:endParaRPr lang="en-US" sz="1250" dirty="0"/>
          </a:p>
        </p:txBody>
      </p:sp>
      <p:sp>
        <p:nvSpPr>
          <p:cNvPr id="13" name="Text 11"/>
          <p:cNvSpPr/>
          <p:nvPr/>
        </p:nvSpPr>
        <p:spPr>
          <a:xfrm>
            <a:off x="6437376" y="1828800"/>
            <a:ext cx="5065776" cy="1371600"/>
          </a:xfrm>
          <a:prstGeom prst="rect">
            <a:avLst/>
          </a:prstGeom>
          <a:noFill/>
          <a:ln/>
        </p:spPr>
        <p:txBody>
          <a:bodyPr wrap="square" rtlCol="0" anchor="t"/>
          <a:lstStyle/>
          <a:p>
            <a:pPr marL="342900" indent="-342900">
              <a:lnSpc>
                <a:spcPct val="128000"/>
              </a:lnSpc>
              <a:spcAft>
                <a:spcPts val="600"/>
              </a:spcAft>
              <a:buSzPct val="100000"/>
              <a:buChar char="✦"/>
            </a:pPr>
            <a:r>
              <a:rPr lang="en-US" sz="1000" dirty="0">
                <a:solidFill>
                  <a:srgbClr val="5A1414"/>
                </a:solidFill>
                <a:latin typeface="Calibri" pitchFamily="34" charset="0"/>
                <a:ea typeface="Calibri" pitchFamily="34" charset="-122"/>
                <a:cs typeface="Calibri" pitchFamily="34" charset="-120"/>
              </a:rPr>
              <a:t>Équipe d'une personne (bus factor = 1)</a:t>
            </a:r>
            <a:endParaRPr lang="en-US" sz="1000" dirty="0"/>
          </a:p>
          <a:p>
            <a:pPr marL="342900" indent="-342900">
              <a:lnSpc>
                <a:spcPct val="128000"/>
              </a:lnSpc>
              <a:spcAft>
                <a:spcPts val="600"/>
              </a:spcAft>
              <a:buSzPct val="100000"/>
              <a:buChar char="✦"/>
            </a:pPr>
            <a:r>
              <a:rPr lang="en-US" sz="1000" dirty="0">
                <a:solidFill>
                  <a:srgbClr val="5A1414"/>
                </a:solidFill>
                <a:latin typeface="Calibri" pitchFamily="34" charset="0"/>
                <a:ea typeface="Calibri" pitchFamily="34" charset="-122"/>
                <a:cs typeface="Calibri" pitchFamily="34" charset="-120"/>
              </a:rPr>
              <a:t>Budget infrastructure minimal (VPS mutualisé)</a:t>
            </a:r>
            <a:endParaRPr lang="en-US" sz="1000" dirty="0"/>
          </a:p>
          <a:p>
            <a:pPr marL="342900" indent="-342900">
              <a:lnSpc>
                <a:spcPct val="128000"/>
              </a:lnSpc>
              <a:spcAft>
                <a:spcPts val="600"/>
              </a:spcAft>
              <a:buSzPct val="100000"/>
              <a:buChar char="✦"/>
            </a:pPr>
            <a:r>
              <a:rPr lang="en-US" sz="1000" dirty="0">
                <a:solidFill>
                  <a:srgbClr val="5A1414"/>
                </a:solidFill>
                <a:latin typeface="Calibri" pitchFamily="34" charset="0"/>
                <a:ea typeface="Calibri" pitchFamily="34" charset="-122"/>
                <a:cs typeface="Calibri" pitchFamily="34" charset="-120"/>
              </a:rPr>
              <a:t>Compétence sécurité à construire (identifiée au cadrage)</a:t>
            </a:r>
            <a:endParaRPr lang="en-US" sz="1000" dirty="0"/>
          </a:p>
        </p:txBody>
      </p:sp>
      <p:sp>
        <p:nvSpPr>
          <p:cNvPr id="14" name="Shape 12"/>
          <p:cNvSpPr/>
          <p:nvPr/>
        </p:nvSpPr>
        <p:spPr>
          <a:xfrm>
            <a:off x="457200" y="3566160"/>
            <a:ext cx="5522976" cy="1965960"/>
          </a:xfrm>
          <a:prstGeom prst="roundRect">
            <a:avLst>
              <a:gd name="adj" fmla="val 3256"/>
            </a:avLst>
          </a:prstGeom>
          <a:solidFill>
            <a:srgbClr val="D8E3F0"/>
          </a:solidFill>
          <a:ln/>
        </p:spPr>
      </p:sp>
      <p:sp>
        <p:nvSpPr>
          <p:cNvPr id="15" name="Text 13"/>
          <p:cNvSpPr/>
          <p:nvPr/>
        </p:nvSpPr>
        <p:spPr>
          <a:xfrm>
            <a:off x="685800" y="3675888"/>
            <a:ext cx="5065776" cy="320040"/>
          </a:xfrm>
          <a:prstGeom prst="rect">
            <a:avLst/>
          </a:prstGeom>
          <a:noFill/>
          <a:ln/>
        </p:spPr>
        <p:txBody>
          <a:bodyPr wrap="square" rtlCol="0" anchor="ctr"/>
          <a:lstStyle/>
          <a:p>
            <a:pPr indent="0" marL="0">
              <a:buNone/>
            </a:pPr>
            <a:r>
              <a:rPr lang="en-US" sz="1250" b="1" dirty="0">
                <a:solidFill>
                  <a:srgbClr val="12305A"/>
                </a:solidFill>
                <a:latin typeface="Calibri" pitchFamily="34" charset="0"/>
                <a:ea typeface="Calibri" pitchFamily="34" charset="-122"/>
                <a:cs typeface="Calibri" pitchFamily="34" charset="-120"/>
              </a:rPr>
              <a:t>Opportunités (externe)</a:t>
            </a:r>
            <a:endParaRPr lang="en-US" sz="1250" dirty="0"/>
          </a:p>
        </p:txBody>
      </p:sp>
      <p:sp>
        <p:nvSpPr>
          <p:cNvPr id="16" name="Text 14"/>
          <p:cNvSpPr/>
          <p:nvPr/>
        </p:nvSpPr>
        <p:spPr>
          <a:xfrm>
            <a:off x="685800" y="4023360"/>
            <a:ext cx="5065776" cy="1371600"/>
          </a:xfrm>
          <a:prstGeom prst="rect">
            <a:avLst/>
          </a:prstGeom>
          <a:noFill/>
          <a:ln/>
        </p:spPr>
        <p:txBody>
          <a:bodyPr wrap="square" rtlCol="0" anchor="t"/>
          <a:lstStyle/>
          <a:p>
            <a:pPr marL="342900" indent="-342900">
              <a:lnSpc>
                <a:spcPct val="128000"/>
              </a:lnSpc>
              <a:spcAft>
                <a:spcPts val="600"/>
              </a:spcAft>
              <a:buSzPct val="100000"/>
              <a:buChar char="✦"/>
            </a:pPr>
            <a:r>
              <a:rPr lang="en-US" sz="1000" dirty="0">
                <a:solidFill>
                  <a:srgbClr val="12305A"/>
                </a:solidFill>
                <a:latin typeface="Calibri" pitchFamily="34" charset="0"/>
                <a:ea typeface="Calibri" pitchFamily="34" charset="-122"/>
                <a:cs typeface="Calibri" pitchFamily="34" charset="-120"/>
              </a:rPr>
              <a:t>Aucun concurrent multilingue + multi-serveur + partage</a:t>
            </a:r>
            <a:endParaRPr lang="en-US" sz="1000" dirty="0"/>
          </a:p>
          <a:p>
            <a:pPr marL="342900" indent="-342900">
              <a:lnSpc>
                <a:spcPct val="128000"/>
              </a:lnSpc>
              <a:spcAft>
                <a:spcPts val="600"/>
              </a:spcAft>
              <a:buSzPct val="100000"/>
              <a:buChar char="✦"/>
            </a:pPr>
            <a:r>
              <a:rPr lang="en-US" sz="1000" dirty="0">
                <a:solidFill>
                  <a:srgbClr val="12305A"/>
                </a:solidFill>
                <a:latin typeface="Calibri" pitchFamily="34" charset="0"/>
                <a:ea typeface="Calibri" pitchFamily="34" charset="-122"/>
                <a:cs typeface="Calibri" pitchFamily="34" charset="-120"/>
              </a:rPr>
              <a:t>Communauté active = testeurs et prescripteurs gratuits</a:t>
            </a:r>
            <a:endParaRPr lang="en-US" sz="1000" dirty="0"/>
          </a:p>
          <a:p>
            <a:pPr marL="342900" indent="-342900">
              <a:lnSpc>
                <a:spcPct val="128000"/>
              </a:lnSpc>
              <a:spcAft>
                <a:spcPts val="600"/>
              </a:spcAft>
              <a:buSzPct val="100000"/>
              <a:buChar char="✦"/>
            </a:pPr>
            <a:r>
              <a:rPr lang="en-US" sz="1000" dirty="0">
                <a:solidFill>
                  <a:srgbClr val="12305A"/>
                </a:solidFill>
                <a:latin typeface="Calibri" pitchFamily="34" charset="0"/>
                <a:ea typeface="Calibri" pitchFamily="34" charset="-122"/>
                <a:cs typeface="Calibri" pitchFamily="34" charset="-120"/>
              </a:rPr>
              <a:t>Synergie possible avec d'autres outils communautaires</a:t>
            </a:r>
            <a:endParaRPr lang="en-US" sz="1000" dirty="0"/>
          </a:p>
        </p:txBody>
      </p:sp>
      <p:sp>
        <p:nvSpPr>
          <p:cNvPr id="17" name="Shape 15"/>
          <p:cNvSpPr/>
          <p:nvPr/>
        </p:nvSpPr>
        <p:spPr>
          <a:xfrm>
            <a:off x="6208776" y="3566160"/>
            <a:ext cx="5522976" cy="1965960"/>
          </a:xfrm>
          <a:prstGeom prst="roundRect">
            <a:avLst>
              <a:gd name="adj" fmla="val 3256"/>
            </a:avLst>
          </a:prstGeom>
          <a:solidFill>
            <a:srgbClr val="F1E0BE"/>
          </a:solidFill>
          <a:ln/>
        </p:spPr>
      </p:sp>
      <p:sp>
        <p:nvSpPr>
          <p:cNvPr id="18" name="Text 16"/>
          <p:cNvSpPr/>
          <p:nvPr/>
        </p:nvSpPr>
        <p:spPr>
          <a:xfrm>
            <a:off x="6437376" y="3675888"/>
            <a:ext cx="5065776" cy="320040"/>
          </a:xfrm>
          <a:prstGeom prst="rect">
            <a:avLst/>
          </a:prstGeom>
          <a:noFill/>
          <a:ln/>
        </p:spPr>
        <p:txBody>
          <a:bodyPr wrap="square" rtlCol="0" anchor="ctr"/>
          <a:lstStyle/>
          <a:p>
            <a:pPr indent="0" marL="0">
              <a:buNone/>
            </a:pPr>
            <a:r>
              <a:rPr lang="en-US" sz="1250" b="1" dirty="0">
                <a:solidFill>
                  <a:srgbClr val="5A3E08"/>
                </a:solidFill>
                <a:latin typeface="Calibri" pitchFamily="34" charset="0"/>
                <a:ea typeface="Calibri" pitchFamily="34" charset="-122"/>
                <a:cs typeface="Calibri" pitchFamily="34" charset="-120"/>
              </a:rPr>
              <a:t>Menaces (externe)</a:t>
            </a:r>
            <a:endParaRPr lang="en-US" sz="1250" dirty="0"/>
          </a:p>
        </p:txBody>
      </p:sp>
      <p:sp>
        <p:nvSpPr>
          <p:cNvPr id="19" name="Text 17"/>
          <p:cNvSpPr/>
          <p:nvPr/>
        </p:nvSpPr>
        <p:spPr>
          <a:xfrm>
            <a:off x="6437376" y="4023360"/>
            <a:ext cx="5065776" cy="1371600"/>
          </a:xfrm>
          <a:prstGeom prst="rect">
            <a:avLst/>
          </a:prstGeom>
          <a:noFill/>
          <a:ln/>
        </p:spPr>
        <p:txBody>
          <a:bodyPr wrap="square" rtlCol="0" anchor="t"/>
          <a:lstStyle/>
          <a:p>
            <a:pPr marL="342900" indent="-342900">
              <a:lnSpc>
                <a:spcPct val="128000"/>
              </a:lnSpc>
              <a:spcAft>
                <a:spcPts val="600"/>
              </a:spcAft>
              <a:buSzPct val="100000"/>
              <a:buChar char="✦"/>
            </a:pPr>
            <a:r>
              <a:rPr lang="en-US" sz="1000" dirty="0">
                <a:solidFill>
                  <a:srgbClr val="5A3E08"/>
                </a:solidFill>
                <a:latin typeface="Calibri" pitchFamily="34" charset="0"/>
                <a:ea typeface="Calibri" pitchFamily="34" charset="-122"/>
                <a:cs typeface="Calibri" pitchFamily="34" charset="-120"/>
              </a:rPr>
              <a:t>Dépendance à l'API de l'éditeur (panne, changement)</a:t>
            </a:r>
            <a:endParaRPr lang="en-US" sz="1000" dirty="0"/>
          </a:p>
          <a:p>
            <a:pPr marL="342900" indent="-342900">
              <a:lnSpc>
                <a:spcPct val="128000"/>
              </a:lnSpc>
              <a:spcAft>
                <a:spcPts val="600"/>
              </a:spcAft>
              <a:buSzPct val="100000"/>
              <a:buChar char="✦"/>
            </a:pPr>
            <a:r>
              <a:rPr lang="en-US" sz="1000" dirty="0">
                <a:solidFill>
                  <a:srgbClr val="5A3E08"/>
                </a:solidFill>
                <a:latin typeface="Calibri" pitchFamily="34" charset="0"/>
                <a:ea typeface="Calibri" pitchFamily="34" charset="-122"/>
                <a:cs typeface="Calibri" pitchFamily="34" charset="-120"/>
              </a:rPr>
              <a:t>Exposition web publique = surface d'attaque</a:t>
            </a:r>
            <a:endParaRPr lang="en-US" sz="1000" dirty="0"/>
          </a:p>
          <a:p>
            <a:pPr marL="342900" indent="-342900">
              <a:lnSpc>
                <a:spcPct val="128000"/>
              </a:lnSpc>
              <a:spcAft>
                <a:spcPts val="600"/>
              </a:spcAft>
              <a:buSzPct val="100000"/>
              <a:buChar char="✦"/>
            </a:pPr>
            <a:r>
              <a:rPr lang="en-US" sz="1000" dirty="0">
                <a:solidFill>
                  <a:srgbClr val="5A3E08"/>
                </a:solidFill>
                <a:latin typeface="Calibri" pitchFamily="34" charset="0"/>
                <a:ea typeface="Calibri" pitchFamily="34" charset="-122"/>
                <a:cs typeface="Calibri" pitchFamily="34" charset="-120"/>
              </a:rPr>
              <a:t>Désintérêt du jeu à long terme (marché de niche)</a:t>
            </a:r>
            <a:endParaRPr lang="en-US" sz="1000" dirty="0"/>
          </a:p>
        </p:txBody>
      </p:sp>
      <p:sp>
        <p:nvSpPr>
          <p:cNvPr id="20" name="Shape 18"/>
          <p:cNvSpPr/>
          <p:nvPr/>
        </p:nvSpPr>
        <p:spPr>
          <a:xfrm>
            <a:off x="457200" y="5715000"/>
            <a:ext cx="11274552" cy="690000"/>
          </a:xfrm>
          <a:prstGeom prst="roundRect">
            <a:avLst>
              <a:gd name="adj" fmla="val 7368"/>
            </a:avLst>
          </a:prstGeom>
          <a:solidFill>
            <a:srgbClr val="2A2313"/>
          </a:solidFill>
          <a:ln/>
        </p:spPr>
      </p:sp>
      <p:sp>
        <p:nvSpPr>
          <p:cNvPr id="21" name="Text 19"/>
          <p:cNvSpPr/>
          <p:nvPr/>
        </p:nvSpPr>
        <p:spPr>
          <a:xfrm>
            <a:off x="685800" y="5745000"/>
            <a:ext cx="10789920" cy="630000"/>
          </a:xfrm>
          <a:prstGeom prst="rect">
            <a:avLst/>
          </a:prstGeom>
          <a:noFill/>
          <a:ln/>
        </p:spPr>
        <p:txBody>
          <a:bodyPr wrap="square" rtlCol="0" anchor="ctr"/>
          <a:lstStyle/>
          <a:p>
            <a:pPr indent="0" marL="0">
              <a:buNone/>
            </a:pPr>
            <a:r>
              <a:rPr lang="en-US" sz="1000" i="1" dirty="0">
                <a:solidFill>
                  <a:srgbClr val="C9A227"/>
                </a:solidFill>
                <a:latin typeface="Calibri" pitchFamily="34" charset="0"/>
                <a:ea typeface="Calibri" pitchFamily="34" charset="-122"/>
                <a:cs typeface="Calibri" pitchFamily="34" charset="-120"/>
              </a:rPr>
              <a:t>Points de vigilance transverses : impact environnemental maîtrisé dès la conception (hébergement mutualisé, cache des appels API → moins de requêtes réseau) ; interactions avec les projets existants limitées à la consommation de l'API publique dans le respect de ses conditions.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5</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4</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DÉMARCHE D'AUDIT</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400" b="1" dirty="0">
                <a:solidFill>
                  <a:srgbClr val="E8C766"/>
                </a:solidFill>
                <a:latin typeface="Cambria" pitchFamily="34" charset="0"/>
                <a:ea typeface="Cambria" pitchFamily="34" charset="-122"/>
                <a:cs typeface="Cambria" pitchFamily="34" charset="-120"/>
              </a:rPr>
              <a:t>Audit de l'existant : démarche mise en œuvre</a:t>
            </a:r>
            <a:endParaRPr lang="en-US" sz="2400" dirty="0"/>
          </a:p>
        </p:txBody>
      </p:sp>
      <p:sp>
        <p:nvSpPr>
          <p:cNvPr id="8" name="Text 6"/>
          <p:cNvSpPr/>
          <p:nvPr/>
        </p:nvSpPr>
        <p:spPr>
          <a:xfrm>
            <a:off x="457200" y="1463040"/>
            <a:ext cx="5394960" cy="365760"/>
          </a:xfrm>
          <a:prstGeom prst="rect">
            <a:avLst/>
          </a:prstGeom>
          <a:noFill/>
          <a:ln/>
        </p:spPr>
        <p:txBody>
          <a:bodyPr wrap="square" rtlCol="0" anchor="ctr"/>
          <a:lstStyle/>
          <a:p>
            <a:pPr indent="0" marL="0">
              <a:buNone/>
            </a:pPr>
            <a:r>
              <a:rPr lang="en-US" sz="1500" b="1" dirty="0">
                <a:solidFill>
                  <a:srgbClr val="E8C766"/>
                </a:solidFill>
                <a:latin typeface="Calibri" pitchFamily="34" charset="0"/>
                <a:ea typeface="Calibri" pitchFamily="34" charset="-122"/>
                <a:cs typeface="Calibri" pitchFamily="34" charset="-120"/>
              </a:rPr>
              <a:t>Méthode (3 volets)</a:t>
            </a:r>
            <a:endParaRPr lang="en-US" sz="1500" dirty="0"/>
          </a:p>
        </p:txBody>
      </p:sp>
      <p:sp>
        <p:nvSpPr>
          <p:cNvPr id="9" name="Text 7"/>
          <p:cNvSpPr/>
          <p:nvPr/>
        </p:nvSpPr>
        <p:spPr>
          <a:xfrm>
            <a:off x="457200" y="1965960"/>
            <a:ext cx="5394960" cy="3566160"/>
          </a:xfrm>
          <a:prstGeom prst="rect">
            <a:avLst/>
          </a:prstGeom>
          <a:noFill/>
          <a:ln/>
        </p:spPr>
        <p:txBody>
          <a:bodyPr wrap="square" rtlCol="0" anchor="t"/>
          <a:lstStyle/>
          <a:p>
            <a:pPr marL="342900" indent="-342900">
              <a:lnSpc>
                <a:spcPct val="128000"/>
              </a:lnSpc>
              <a:spcAft>
                <a:spcPts val="1600"/>
              </a:spcAft>
              <a:buSzPct val="100000"/>
              <a:buChar char="✦"/>
            </a:pPr>
            <a:r>
              <a:rPr lang="en-US" sz="1350" dirty="0">
                <a:solidFill>
                  <a:srgbClr val="EDE6D6"/>
                </a:solidFill>
                <a:latin typeface="Calibri" pitchFamily="34" charset="0"/>
                <a:ea typeface="Calibri" pitchFamily="34" charset="-122"/>
                <a:cs typeface="Calibri" pitchFamily="34" charset="-120"/>
              </a:rPr>
              <a:t>État des lieux fonctionnel : inventaire des outils utilisés par la communauté (sites de stats, cartes en ligne, tableurs, Discord) — grille fonction / langue / serveurs / partage</a:t>
            </a:r>
            <a:endParaRPr lang="en-US" sz="1350" dirty="0"/>
          </a:p>
          <a:p>
            <a:pPr marL="342900" indent="-342900">
              <a:lnSpc>
                <a:spcPct val="128000"/>
              </a:lnSpc>
              <a:spcAft>
                <a:spcPts val="1600"/>
              </a:spcAft>
              <a:buSzPct val="100000"/>
              <a:buChar char="✦"/>
            </a:pPr>
            <a:r>
              <a:rPr lang="en-US" sz="1350" dirty="0">
                <a:solidFill>
                  <a:srgbClr val="EDE6D6"/>
                </a:solidFill>
                <a:latin typeface="Calibri" pitchFamily="34" charset="0"/>
                <a:ea typeface="Calibri" pitchFamily="34" charset="-122"/>
                <a:cs typeface="Calibri" pitchFamily="34" charset="-120"/>
              </a:rPr>
              <a:t>Audit technique de l'API du jeu : essais outillés des points d'accès (format des données, latence, limites de débit, absence d'authentification requise)</a:t>
            </a:r>
            <a:endParaRPr lang="en-US" sz="1350" dirty="0"/>
          </a:p>
          <a:p>
            <a:pPr marL="342900" indent="-342900">
              <a:lnSpc>
                <a:spcPct val="128000"/>
              </a:lnSpc>
              <a:spcAft>
                <a:spcPts val="1600"/>
              </a:spcAft>
              <a:buSzPct val="100000"/>
              <a:buChar char="✦"/>
            </a:pPr>
            <a:r>
              <a:rPr lang="en-US" sz="1350" dirty="0">
                <a:solidFill>
                  <a:srgbClr val="EDE6D6"/>
                </a:solidFill>
                <a:latin typeface="Calibri" pitchFamily="34" charset="0"/>
                <a:ea typeface="Calibri" pitchFamily="34" charset="-122"/>
                <a:cs typeface="Calibri" pitchFamily="34" charset="-120"/>
              </a:rPr>
              <a:t>Audit de l'infrastructure cible : capacités du VPS existant (versions PHP, PostgreSQL, mémoire, HTTPS)</a:t>
            </a:r>
            <a:endParaRPr lang="en-US" sz="1350" dirty="0"/>
          </a:p>
        </p:txBody>
      </p:sp>
      <p:sp>
        <p:nvSpPr>
          <p:cNvPr id="10" name="Text 8"/>
          <p:cNvSpPr/>
          <p:nvPr/>
        </p:nvSpPr>
        <p:spPr>
          <a:xfrm>
            <a:off x="6309360" y="1463040"/>
            <a:ext cx="5422392" cy="365760"/>
          </a:xfrm>
          <a:prstGeom prst="rect">
            <a:avLst/>
          </a:prstGeom>
          <a:noFill/>
          <a:ln/>
        </p:spPr>
        <p:txBody>
          <a:bodyPr wrap="square" rtlCol="0" anchor="ctr"/>
          <a:lstStyle/>
          <a:p>
            <a:pPr indent="0" marL="0">
              <a:buNone/>
            </a:pPr>
            <a:r>
              <a:rPr lang="en-US" sz="1500" b="1" dirty="0">
                <a:solidFill>
                  <a:srgbClr val="E8C766"/>
                </a:solidFill>
                <a:latin typeface="Calibri" pitchFamily="34" charset="0"/>
                <a:ea typeface="Calibri" pitchFamily="34" charset="-122"/>
                <a:cs typeface="Calibri" pitchFamily="34" charset="-120"/>
              </a:rPr>
              <a:t>Constats structurants</a:t>
            </a:r>
            <a:endParaRPr lang="en-US" sz="1500" dirty="0"/>
          </a:p>
        </p:txBody>
      </p:sp>
      <p:sp>
        <p:nvSpPr>
          <p:cNvPr id="11" name="Text 9"/>
          <p:cNvSpPr/>
          <p:nvPr/>
        </p:nvSpPr>
        <p:spPr>
          <a:xfrm>
            <a:off x="6309360" y="1965960"/>
            <a:ext cx="5422392" cy="3566160"/>
          </a:xfrm>
          <a:prstGeom prst="rect">
            <a:avLst/>
          </a:prstGeom>
          <a:noFill/>
          <a:ln/>
        </p:spPr>
        <p:txBody>
          <a:bodyPr wrap="square" rtlCol="0" anchor="t"/>
          <a:lstStyle/>
          <a:p>
            <a:pPr marL="342900" indent="-342900">
              <a:lnSpc>
                <a:spcPct val="128000"/>
              </a:lnSpc>
              <a:spcAft>
                <a:spcPts val="1600"/>
              </a:spcAft>
              <a:buSzPct val="100000"/>
              <a:buChar char="✦"/>
            </a:pPr>
            <a:r>
              <a:rPr lang="en-US" sz="1350" dirty="0">
                <a:solidFill>
                  <a:srgbClr val="EDE6D6"/>
                </a:solidFill>
                <a:latin typeface="Calibri" pitchFamily="34" charset="0"/>
                <a:ea typeface="Calibri" pitchFamily="34" charset="-122"/>
                <a:cs typeface="Calibri" pitchFamily="34" charset="-120"/>
              </a:rPr>
              <a:t>4 outils tiers nécessaires pour couvrir le besoin — aucun ne partage de contenu entre joueurs, aucun n'est multilingue</a:t>
            </a:r>
            <a:endParaRPr lang="en-US" sz="1350" dirty="0"/>
          </a:p>
          <a:p>
            <a:pPr marL="342900" indent="-342900">
              <a:lnSpc>
                <a:spcPct val="128000"/>
              </a:lnSpc>
              <a:spcAft>
                <a:spcPts val="1600"/>
              </a:spcAft>
              <a:buSzPct val="100000"/>
              <a:buChar char="✦"/>
            </a:pPr>
            <a:r>
              <a:rPr lang="en-US" sz="1350" dirty="0">
                <a:solidFill>
                  <a:srgbClr val="EDE6D6"/>
                </a:solidFill>
                <a:latin typeface="Calibri" pitchFamily="34" charset="0"/>
                <a:ea typeface="Calibri" pitchFamily="34" charset="-122"/>
                <a:cs typeface="Calibri" pitchFamily="34" charset="-120"/>
              </a:rPr>
              <a:t>API du jeu : gratuite, JSON, sans clé — mais sans garantie de service → impose cache + supervision</a:t>
            </a:r>
            <a:endParaRPr lang="en-US" sz="1350" dirty="0"/>
          </a:p>
          <a:p>
            <a:pPr marL="342900" indent="-342900">
              <a:lnSpc>
                <a:spcPct val="128000"/>
              </a:lnSpc>
              <a:spcAft>
                <a:spcPts val="1600"/>
              </a:spcAft>
              <a:buSzPct val="100000"/>
              <a:buChar char="✦"/>
            </a:pPr>
            <a:r>
              <a:rPr lang="en-US" sz="1350" dirty="0">
                <a:solidFill>
                  <a:srgbClr val="EDE6D6"/>
                </a:solidFill>
                <a:latin typeface="Calibri" pitchFamily="34" charset="0"/>
                <a:ea typeface="Calibri" pitchFamily="34" charset="-122"/>
                <a:cs typeface="Calibri" pitchFamily="34" charset="-120"/>
              </a:rPr>
              <a:t>Prix de marché parfois absents sur certains serveurs (donnée communautaire) → à gérer dans l'UX dès la conception</a:t>
            </a:r>
            <a:endParaRPr lang="en-US" sz="1350" dirty="0"/>
          </a:p>
          <a:p>
            <a:pPr marL="342900" indent="-342900">
              <a:lnSpc>
                <a:spcPct val="128000"/>
              </a:lnSpc>
              <a:spcAft>
                <a:spcPts val="1600"/>
              </a:spcAft>
              <a:buSzPct val="100000"/>
              <a:buChar char="✦"/>
            </a:pPr>
            <a:r>
              <a:rPr lang="en-US" sz="1350" dirty="0">
                <a:solidFill>
                  <a:srgbClr val="EDE6D6"/>
                </a:solidFill>
                <a:latin typeface="Calibri" pitchFamily="34" charset="0"/>
                <a:ea typeface="Calibri" pitchFamily="34" charset="-122"/>
                <a:cs typeface="Calibri" pitchFamily="34" charset="-120"/>
              </a:rPr>
              <a:t>VPS existant suffisant pour la volumétrie visée (voir slide 7)</a:t>
            </a:r>
            <a:endParaRPr lang="en-US" sz="1350" dirty="0"/>
          </a:p>
        </p:txBody>
      </p:sp>
      <p:sp>
        <p:nvSpPr>
          <p:cNvPr id="12" name="Shape 10"/>
          <p:cNvSpPr/>
          <p:nvPr/>
        </p:nvSpPr>
        <p:spPr>
          <a:xfrm>
            <a:off x="457200" y="5852160"/>
            <a:ext cx="11274552" cy="555000"/>
          </a:xfrm>
          <a:prstGeom prst="roundRect">
            <a:avLst>
              <a:gd name="adj" fmla="val 8750"/>
            </a:avLst>
          </a:prstGeom>
          <a:solidFill>
            <a:srgbClr val="2A2313"/>
          </a:solidFill>
          <a:ln/>
        </p:spPr>
      </p:sp>
      <p:sp>
        <p:nvSpPr>
          <p:cNvPr id="13" name="Text 11"/>
          <p:cNvSpPr/>
          <p:nvPr/>
        </p:nvSpPr>
        <p:spPr>
          <a:xfrm>
            <a:off x="685800" y="5882160"/>
            <a:ext cx="10881360" cy="495000"/>
          </a:xfrm>
          <a:prstGeom prst="rect">
            <a:avLst/>
          </a:prstGeom>
          <a:noFill/>
          <a:ln/>
        </p:spPr>
        <p:txBody>
          <a:bodyPr wrap="square" rtlCol="0" anchor="t"/>
          <a:lstStyle/>
          <a:p>
            <a:pPr indent="0" marL="0">
              <a:buNone/>
            </a:pPr>
            <a:r>
              <a:rPr lang="en-US" sz="1050" i="1" dirty="0">
                <a:solidFill>
                  <a:srgbClr val="C9A227"/>
                </a:solidFill>
                <a:latin typeface="Calibri" pitchFamily="34" charset="0"/>
                <a:ea typeface="Calibri" pitchFamily="34" charset="-122"/>
                <a:cs typeface="Calibri" pitchFamily="34" charset="-120"/>
              </a:rPr>
              <a:t>Chaque constat d'audit alimente directement une décision de cadrage : cache → architecture ; absence de partage → fonctionnalité différenciante ; API sans garantie → cartographie des risques.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6</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5</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DIAGNOSTIC DES INFRASTRUCTURES — C1.2.2 ÉLIMINATOIRE (FAISABILITÉ)</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100" b="1" dirty="0">
                <a:solidFill>
                  <a:srgbClr val="E8C766"/>
                </a:solidFill>
                <a:latin typeface="Cambria" pitchFamily="34" charset="0"/>
                <a:ea typeface="Cambria" pitchFamily="34" charset="-122"/>
                <a:cs typeface="Cambria" pitchFamily="34" charset="-120"/>
              </a:rPr>
              <a:t>Infrastructure disponible vs besoins du projet</a:t>
            </a:r>
            <a:endParaRPr lang="en-US" sz="2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2148840"/>
        </p:xfrm>
        <a:graphic>
          <a:graphicData uri="http://schemas.openxmlformats.org/drawingml/2006/table">
            <a:tbl>
              <a:tblPr/>
              <a:tblGrid>
                <a:gridCol w="2651760"/>
                <a:gridCol w="4599432"/>
                <a:gridCol w="4023360"/>
              </a:tblGrid>
              <a:tr h="358140">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Élément existant</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État constaté</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Adéquation au besoin</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r>
              <a:tr h="358140">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VPS mutualisé (perfweb.net)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Linux, Nginx, PHP-FPM 8.2+, HTTPS (Let's Encrypt)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2E7D32"/>
                          </a:solidFill>
                          <a:latin typeface="Calibri" pitchFamily="34" charset="0"/>
                          <a:ea typeface="Calibri" pitchFamily="34" charset="-122"/>
                          <a:cs typeface="Calibri" pitchFamily="34" charset="-120"/>
                        </a:rPr>
                        <a:t>Suffisant — API PHP moderne exécutable sans changement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358140">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Base de données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PostgreSQL disponible sur le serveur</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2E7D32"/>
                          </a:solidFill>
                          <a:latin typeface="Calibri" pitchFamily="34" charset="0"/>
                          <a:ea typeface="Calibri" pitchFamily="34" charset="-122"/>
                          <a:cs typeface="Calibri" pitchFamily="34" charset="-120"/>
                        </a:rPr>
                        <a:t>Adapté (relationnel, volumétrie faible)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358140">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Poste de développement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macOS + Docker</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2E7D32"/>
                          </a:solidFill>
                          <a:latin typeface="Calibri" pitchFamily="34" charset="0"/>
                          <a:ea typeface="Calibri" pitchFamily="34" charset="-122"/>
                          <a:cs typeface="Calibri" pitchFamily="34" charset="-120"/>
                        </a:rPr>
                        <a:t>Environnements dev/test isolés et reproductibles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358140">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Chaîne de livraison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B23A3A"/>
                          </a:solidFill>
                          <a:latin typeface="Calibri" pitchFamily="34" charset="0"/>
                          <a:ea typeface="Calibri" pitchFamily="34" charset="-122"/>
                          <a:cs typeface="Calibri" pitchFamily="34" charset="-120"/>
                        </a:rPr>
                        <a:t>Inexistante au cadrage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À construire : dépôt Git + CI/CD</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358140">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Supervision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B23A3A"/>
                          </a:solidFill>
                          <a:latin typeface="Calibri" pitchFamily="34" charset="0"/>
                          <a:ea typeface="Calibri" pitchFamily="34" charset="-122"/>
                          <a:cs typeface="Calibri" pitchFamily="34" charset="-120"/>
                        </a:rPr>
                        <a:t>Inexistante au cadrage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À construire (sondes + alertes)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bl>
          </a:graphicData>
        </a:graphic>
      </p:graphicFrame>
      <p:sp>
        <p:nvSpPr>
          <p:cNvPr id="9" name="Text 6"/>
          <p:cNvSpPr/>
          <p:nvPr/>
        </p:nvSpPr>
        <p:spPr>
          <a:xfrm>
            <a:off x="457200" y="3566160"/>
            <a:ext cx="6766560" cy="320040"/>
          </a:xfrm>
          <a:prstGeom prst="rect">
            <a:avLst/>
          </a:prstGeom>
          <a:noFill/>
          <a:ln/>
        </p:spPr>
        <p:txBody>
          <a:bodyPr wrap="square" rtlCol="0" anchor="ctr"/>
          <a:lstStyle/>
          <a:p>
            <a:pPr indent="0" marL="0">
              <a:buNone/>
            </a:pPr>
            <a:r>
              <a:rPr lang="en-US" sz="1250" b="1" dirty="0">
                <a:solidFill>
                  <a:srgbClr val="E8C766"/>
                </a:solidFill>
                <a:latin typeface="Calibri" pitchFamily="34" charset="0"/>
                <a:ea typeface="Calibri" pitchFamily="34" charset="-122"/>
                <a:cs typeface="Calibri" pitchFamily="34" charset="-120"/>
              </a:rPr>
              <a:t>Contraintes techniques et financières relevées</a:t>
            </a:r>
            <a:endParaRPr lang="en-US" sz="1250" dirty="0"/>
          </a:p>
        </p:txBody>
      </p:sp>
      <p:sp>
        <p:nvSpPr>
          <p:cNvPr id="10" name="Text 7"/>
          <p:cNvSpPr/>
          <p:nvPr/>
        </p:nvSpPr>
        <p:spPr>
          <a:xfrm>
            <a:off x="457200" y="3913632"/>
            <a:ext cx="6766560" cy="1828800"/>
          </a:xfrm>
          <a:prstGeom prst="rect">
            <a:avLst/>
          </a:prstGeom>
          <a:noFill/>
          <a:ln/>
        </p:spPr>
        <p:txBody>
          <a:bodyPr wrap="square" rtlCol="0" anchor="t"/>
          <a:lstStyle/>
          <a:p>
            <a:pPr marL="342900" indent="-342900">
              <a:lnSpc>
                <a:spcPct val="128000"/>
              </a:lnSpc>
              <a:spcAft>
                <a:spcPts val="600"/>
              </a:spcAft>
              <a:buSzPct val="100000"/>
              <a:buChar char="✦"/>
            </a:pPr>
            <a:r>
              <a:rPr lang="en-US" sz="1030" dirty="0">
                <a:solidFill>
                  <a:srgbClr val="EDE6D6"/>
                </a:solidFill>
                <a:latin typeface="Calibri" pitchFamily="34" charset="0"/>
                <a:ea typeface="Calibri" pitchFamily="34" charset="-122"/>
                <a:cs typeface="Calibri" pitchFamily="34" charset="-120"/>
              </a:rPr>
              <a:t>Hébergement : VPS mutualisé ~10 €/mois — pas de budget cloud managé → architecture sobre obligatoire</a:t>
            </a:r>
            <a:endParaRPr lang="en-US" sz="1030" dirty="0"/>
          </a:p>
          <a:p>
            <a:pPr marL="342900" indent="-342900">
              <a:lnSpc>
                <a:spcPct val="128000"/>
              </a:lnSpc>
              <a:spcAft>
                <a:spcPts val="600"/>
              </a:spcAft>
              <a:buSzPct val="100000"/>
              <a:buChar char="✦"/>
            </a:pPr>
            <a:r>
              <a:rPr lang="en-US" sz="1030" dirty="0">
                <a:solidFill>
                  <a:srgbClr val="EDE6D6"/>
                </a:solidFill>
                <a:latin typeface="Calibri" pitchFamily="34" charset="0"/>
                <a:ea typeface="Calibri" pitchFamily="34" charset="-122"/>
                <a:cs typeface="Calibri" pitchFamily="34" charset="-120"/>
              </a:rPr>
              <a:t>Volumétrie : cible ~200 utilisateurs actifs, pics en soirée ; données locales &lt; 1 Go</a:t>
            </a:r>
            <a:endParaRPr lang="en-US" sz="1030" dirty="0"/>
          </a:p>
          <a:p>
            <a:pPr marL="342900" indent="-342900">
              <a:lnSpc>
                <a:spcPct val="128000"/>
              </a:lnSpc>
              <a:spcAft>
                <a:spcPts val="600"/>
              </a:spcAft>
              <a:buSzPct val="100000"/>
              <a:buChar char="✦"/>
            </a:pPr>
            <a:r>
              <a:rPr lang="en-US" sz="1030" dirty="0">
                <a:solidFill>
                  <a:srgbClr val="EDE6D6"/>
                </a:solidFill>
                <a:latin typeface="Calibri" pitchFamily="34" charset="0"/>
                <a:ea typeface="Calibri" pitchFamily="34" charset="-122"/>
                <a:cs typeface="Calibri" pitchFamily="34" charset="-120"/>
              </a:rPr>
              <a:t>Délais : jalons de certification imposés (juin–oct. 2026) → périmètre découpé en lots priorisés</a:t>
            </a:r>
            <a:endParaRPr lang="en-US" sz="1030" dirty="0"/>
          </a:p>
          <a:p>
            <a:pPr marL="342900" indent="-342900">
              <a:lnSpc>
                <a:spcPct val="128000"/>
              </a:lnSpc>
              <a:spcAft>
                <a:spcPts val="600"/>
              </a:spcAft>
              <a:buSzPct val="100000"/>
              <a:buChar char="✦"/>
            </a:pPr>
            <a:r>
              <a:rPr lang="en-US" sz="1030" dirty="0">
                <a:solidFill>
                  <a:srgbClr val="EDE6D6"/>
                </a:solidFill>
                <a:latin typeface="Calibri" pitchFamily="34" charset="0"/>
                <a:ea typeface="Calibri" pitchFamily="34" charset="-122"/>
                <a:cs typeface="Calibri" pitchFamily="34" charset="-120"/>
              </a:rPr>
              <a:t>Budget : quasi nul en licences → open source exclusivement</a:t>
            </a:r>
            <a:endParaRPr lang="en-US" sz="1030" dirty="0"/>
          </a:p>
        </p:txBody>
      </p:sp>
      <p:sp>
        <p:nvSpPr>
          <p:cNvPr id="11" name="Shape 8"/>
          <p:cNvSpPr/>
          <p:nvPr/>
        </p:nvSpPr>
        <p:spPr>
          <a:xfrm>
            <a:off x="7406640" y="3566160"/>
            <a:ext cx="4325112" cy="2651760"/>
          </a:xfrm>
          <a:prstGeom prst="roundRect">
            <a:avLst>
              <a:gd name="adj" fmla="val 2414"/>
            </a:avLst>
          </a:prstGeom>
          <a:solidFill>
            <a:srgbClr val="F1E9D2"/>
          </a:solidFill>
          <a:ln/>
          <a:effectLst>
            <a:outerShdw sx="100000" sy="100000" kx="0" ky="0" algn="bl" rotWithShape="0" blurRad="76200" dist="38100" dir="5400000">
              <a:srgbClr val="000000">
                <a:alpha val="35000"/>
              </a:srgbClr>
            </a:outerShdw>
          </a:effectLst>
        </p:spPr>
      </p:sp>
      <p:sp>
        <p:nvSpPr>
          <p:cNvPr id="12" name="Text 9"/>
          <p:cNvSpPr/>
          <p:nvPr/>
        </p:nvSpPr>
        <p:spPr>
          <a:xfrm>
            <a:off x="7589520" y="3675888"/>
            <a:ext cx="3977640" cy="320040"/>
          </a:xfrm>
          <a:prstGeom prst="rect">
            <a:avLst/>
          </a:prstGeom>
          <a:noFill/>
          <a:ln/>
        </p:spPr>
        <p:txBody>
          <a:bodyPr wrap="square" rtlCol="0" anchor="ctr"/>
          <a:lstStyle/>
          <a:p>
            <a:pPr indent="0" marL="0">
              <a:buNone/>
            </a:pPr>
            <a:r>
              <a:rPr lang="en-US" sz="1200" b="1" dirty="0">
                <a:solidFill>
                  <a:srgbClr val="1D1A14"/>
                </a:solidFill>
                <a:latin typeface="Calibri" pitchFamily="34" charset="0"/>
                <a:ea typeface="Calibri" pitchFamily="34" charset="-122"/>
                <a:cs typeface="Calibri" pitchFamily="34" charset="-120"/>
              </a:rPr>
              <a:t>Avis critique sur la faisabilité</a:t>
            </a:r>
            <a:endParaRPr lang="en-US" sz="1200" dirty="0"/>
          </a:p>
        </p:txBody>
      </p:sp>
      <p:sp>
        <p:nvSpPr>
          <p:cNvPr id="13" name="Text 10"/>
          <p:cNvSpPr/>
          <p:nvPr/>
        </p:nvSpPr>
        <p:spPr>
          <a:xfrm>
            <a:off x="7589520" y="4005072"/>
            <a:ext cx="3977640" cy="457200"/>
          </a:xfrm>
          <a:prstGeom prst="rect">
            <a:avLst/>
          </a:prstGeom>
          <a:noFill/>
          <a:ln/>
        </p:spPr>
        <p:txBody>
          <a:bodyPr wrap="square" rtlCol="0" anchor="ctr"/>
          <a:lstStyle/>
          <a:p>
            <a:pPr indent="0" marL="0">
              <a:buNone/>
            </a:pPr>
            <a:r>
              <a:rPr lang="en-US" sz="1030" dirty="0">
                <a:solidFill>
                  <a:srgbClr val="1D1A14"/>
                </a:solidFill>
                <a:latin typeface="Calibri" pitchFamily="34" charset="0"/>
                <a:ea typeface="Calibri" pitchFamily="34" charset="-122"/>
                <a:cs typeface="Calibri" pitchFamily="34" charset="-120"/>
              </a:rPr>
              <a:t>Projet </a:t>
            </a:r>
            <a:pPr indent="0" marL="0">
              <a:buNone/>
            </a:pPr>
            <a:r>
              <a:rPr lang="en-US" sz="1030" b="1" dirty="0">
                <a:solidFill>
                  <a:srgbClr val="2E7D32"/>
                </a:solidFill>
                <a:latin typeface="Calibri" pitchFamily="34" charset="0"/>
                <a:ea typeface="Calibri" pitchFamily="34" charset="-122"/>
                <a:cs typeface="Calibri" pitchFamily="34" charset="-120"/>
              </a:rPr>
              <a:t>faisable</a:t>
            </a:r>
            <a:pPr indent="0" marL="0">
              <a:buNone/>
            </a:pPr>
            <a:r>
              <a:rPr lang="en-US" sz="1030" dirty="0">
                <a:solidFill>
                  <a:srgbClr val="1D1A14"/>
                </a:solidFill>
                <a:latin typeface="Calibri" pitchFamily="34" charset="0"/>
                <a:ea typeface="Calibri" pitchFamily="34" charset="-122"/>
                <a:cs typeface="Calibri" pitchFamily="34" charset="-120"/>
              </a:rPr>
              <a:t> dans les contraintes, à condition de :</a:t>
            </a:r>
            <a:endParaRPr lang="en-US" sz="1030" dirty="0"/>
          </a:p>
        </p:txBody>
      </p:sp>
      <p:sp>
        <p:nvSpPr>
          <p:cNvPr id="14" name="Text 11"/>
          <p:cNvSpPr/>
          <p:nvPr/>
        </p:nvSpPr>
        <p:spPr>
          <a:xfrm>
            <a:off x="7589520" y="4434840"/>
            <a:ext cx="3977640" cy="1691640"/>
          </a:xfrm>
          <a:prstGeom prst="rect">
            <a:avLst/>
          </a:prstGeom>
          <a:noFill/>
          <a:ln/>
        </p:spPr>
        <p:txBody>
          <a:bodyPr wrap="square" rtlCol="0" anchor="t"/>
          <a:lstStyle/>
          <a:p>
            <a:pPr marL="342900" indent="-342900">
              <a:lnSpc>
                <a:spcPct val="128000"/>
              </a:lnSpc>
              <a:spcAft>
                <a:spcPts val="600"/>
              </a:spcAft>
              <a:buSzPct val="100000"/>
              <a:buChar char="✦"/>
            </a:pPr>
            <a:r>
              <a:rPr lang="en-US" sz="980" dirty="0">
                <a:solidFill>
                  <a:srgbClr val="1D1A14"/>
                </a:solidFill>
                <a:latin typeface="Calibri" pitchFamily="34" charset="0"/>
                <a:ea typeface="Calibri" pitchFamily="34" charset="-122"/>
                <a:cs typeface="Calibri" pitchFamily="34" charset="-120"/>
              </a:rPr>
              <a:t>① mettre en cache les données de l'API du jeu</a:t>
            </a:r>
            <a:endParaRPr lang="en-US" sz="980" dirty="0"/>
          </a:p>
          <a:p>
            <a:pPr marL="342900" indent="-342900">
              <a:lnSpc>
                <a:spcPct val="128000"/>
              </a:lnSpc>
              <a:spcAft>
                <a:spcPts val="600"/>
              </a:spcAft>
              <a:buSzPct val="100000"/>
              <a:buChar char="✦"/>
            </a:pPr>
            <a:r>
              <a:rPr lang="en-US" sz="980" dirty="0">
                <a:solidFill>
                  <a:srgbClr val="1D1A14"/>
                </a:solidFill>
                <a:latin typeface="Calibri" pitchFamily="34" charset="0"/>
                <a:ea typeface="Calibri" pitchFamily="34" charset="-122"/>
                <a:cs typeface="Calibri" pitchFamily="34" charset="-120"/>
              </a:rPr>
              <a:t>② limiter le périmètre v1 aux fonctions à plus forte valeur</a:t>
            </a:r>
            <a:endParaRPr lang="en-US" sz="980" dirty="0"/>
          </a:p>
          <a:p>
            <a:pPr marL="342900" indent="-342900">
              <a:lnSpc>
                <a:spcPct val="128000"/>
              </a:lnSpc>
              <a:spcAft>
                <a:spcPts val="600"/>
              </a:spcAft>
              <a:buSzPct val="100000"/>
              <a:buChar char="✦"/>
            </a:pPr>
            <a:r>
              <a:rPr lang="en-US" sz="980" dirty="0">
                <a:solidFill>
                  <a:srgbClr val="1D1A14"/>
                </a:solidFill>
                <a:latin typeface="Calibri" pitchFamily="34" charset="0"/>
                <a:ea typeface="Calibri" pitchFamily="34" charset="-122"/>
                <a:cs typeface="Calibri" pitchFamily="34" charset="-120"/>
              </a:rPr>
              <a:t>③ automatiser tests et déploiement dès le départ</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7</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6</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CARTOGRAPHIE DES RISQUES</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400" b="1" dirty="0">
                <a:solidFill>
                  <a:srgbClr val="E8C766"/>
                </a:solidFill>
                <a:latin typeface="Cambria" pitchFamily="34" charset="0"/>
                <a:ea typeface="Cambria" pitchFamily="34" charset="-122"/>
                <a:cs typeface="Cambria" pitchFamily="34" charset="-120"/>
              </a:rPr>
              <a:t>Risques techniques et fonctionnels, priorisés</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4846320"/>
        </p:xfrm>
        <a:graphic>
          <a:graphicData uri="http://schemas.openxmlformats.org/drawingml/2006/table">
            <a:tbl>
              <a:tblPr/>
              <a:tblGrid>
                <a:gridCol w="502920"/>
                <a:gridCol w="2834640"/>
                <a:gridCol w="1005840"/>
                <a:gridCol w="914400"/>
                <a:gridCol w="1051560"/>
                <a:gridCol w="4965192"/>
              </a:tblGrid>
              <a:tr h="692331">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Risque</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Prob.</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Criticité</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Mesures décidées au cadrage</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r>
              <a:tr h="692331">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R1</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Indisponibilité / changement de l'API du jeu</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Moyenne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Fort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B23A3A"/>
                          </a:solidFill>
                          <a:latin typeface="Calibri" pitchFamily="34" charset="0"/>
                          <a:ea typeface="Calibri" pitchFamily="34" charset="-122"/>
                          <a:cs typeface="Calibri" pitchFamily="34" charset="-120"/>
                        </a:rPr>
                        <a:t>Élevée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Cache local, dégradation gracieuse, supervision de l'API dans la sonde de santé</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692331">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R2</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Compromission de comptes / attaque web</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Moyenne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Fort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B23A3A"/>
                          </a:solidFill>
                          <a:latin typeface="Calibri" pitchFamily="34" charset="0"/>
                          <a:ea typeface="Calibri" pitchFamily="34" charset="-122"/>
                          <a:cs typeface="Calibri" pitchFamily="34" charset="-120"/>
                        </a:rPr>
                        <a:t>Élevée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Revue OWASP Top 10 systématique, jetons courts, ORM exclusivement, rate limiting</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692331">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R3</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Perte de données (VPS unique)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Faible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Fort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Moyenne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Sauvegardes régulières, migrations versionnées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692331">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R4</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Interruption de service (déploiement, panne)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Moyenne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Moyen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Moyenne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Déploiement automatisé et testé, supervision avec alerte ≤ 5 min, retour arrière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692331">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R5</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Dégradation des performances (appels API en cascade)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Moyenne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Moyen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Moyenne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Cache, pagination, indicateur temps de réponse &lt; 1 s supervisé</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692331">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R6</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Bus factor = 1 (développeur unique)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Faible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Fort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Moyenne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Documentation systématique, historique Git conventionnel, architecture standard</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8</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100" b="1" dirty="0">
                <a:solidFill>
                  <a:srgbClr val="1A1611"/>
                </a:solidFill>
                <a:latin typeface="Calibri" pitchFamily="34" charset="0"/>
                <a:ea typeface="Calibri" pitchFamily="34" charset="-122"/>
                <a:cs typeface="Calibri" pitchFamily="34" charset="-120"/>
              </a:rPr>
              <a:t>7-8</a:t>
            </a:r>
            <a:endParaRPr lang="en-US" sz="11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RÉFÉRENTIEL D'ÉVALUATION &amp; INDICATEURS DE CONTRÔLE</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100" b="1" dirty="0">
                <a:solidFill>
                  <a:srgbClr val="E8C766"/>
                </a:solidFill>
                <a:latin typeface="Cambria" pitchFamily="34" charset="0"/>
                <a:ea typeface="Cambria" pitchFamily="34" charset="-122"/>
                <a:cs typeface="Cambria" pitchFamily="34" charset="-120"/>
              </a:rPr>
              <a:t>Évaluer les risques, suivre les incidents, contrôler</a:t>
            </a:r>
            <a:endParaRPr lang="en-US" sz="2100" dirty="0"/>
          </a:p>
        </p:txBody>
      </p:sp>
      <p:sp>
        <p:nvSpPr>
          <p:cNvPr id="8" name="Text 6"/>
          <p:cNvSpPr/>
          <p:nvPr/>
        </p:nvSpPr>
        <p:spPr>
          <a:xfrm>
            <a:off x="457200" y="1371600"/>
            <a:ext cx="5394960" cy="320040"/>
          </a:xfrm>
          <a:prstGeom prst="rect">
            <a:avLst/>
          </a:prstGeom>
          <a:noFill/>
          <a:ln/>
        </p:spPr>
        <p:txBody>
          <a:bodyPr wrap="square" rtlCol="0" anchor="ctr"/>
          <a:lstStyle/>
          <a:p>
            <a:pPr indent="0" marL="0">
              <a:buNone/>
            </a:pPr>
            <a:r>
              <a:rPr lang="en-US" sz="1350" b="1" dirty="0">
                <a:solidFill>
                  <a:srgbClr val="E8C766"/>
                </a:solidFill>
                <a:latin typeface="Calibri" pitchFamily="34" charset="0"/>
                <a:ea typeface="Calibri" pitchFamily="34" charset="-122"/>
                <a:cs typeface="Calibri" pitchFamily="34" charset="-120"/>
              </a:rPr>
              <a:t>Référentiel d'évaluation des risques</a:t>
            </a:r>
            <a:endParaRPr lang="en-US" sz="1350" dirty="0"/>
          </a:p>
        </p:txBody>
      </p:sp>
      <p:sp>
        <p:nvSpPr>
          <p:cNvPr id="9" name="Text 7"/>
          <p:cNvSpPr/>
          <p:nvPr/>
        </p:nvSpPr>
        <p:spPr>
          <a:xfrm>
            <a:off x="457200" y="1755648"/>
            <a:ext cx="5394960" cy="1554480"/>
          </a:xfrm>
          <a:prstGeom prst="rect">
            <a:avLst/>
          </a:prstGeom>
          <a:noFill/>
          <a:ln/>
        </p:spPr>
        <p:txBody>
          <a:bodyPr wrap="square" rtlCol="0" anchor="t"/>
          <a:lstStyle/>
          <a:p>
            <a:pPr marL="342900" indent="-342900">
              <a:lnSpc>
                <a:spcPct val="128000"/>
              </a:lnSpc>
              <a:spcAft>
                <a:spcPts val="1400"/>
              </a:spcAft>
              <a:buSzPct val="100000"/>
              <a:buChar char="✦"/>
            </a:pPr>
            <a:r>
              <a:rPr lang="en-US" sz="1250" dirty="0">
                <a:solidFill>
                  <a:srgbClr val="EDE6D6"/>
                </a:solidFill>
                <a:latin typeface="Calibri" pitchFamily="34" charset="0"/>
                <a:ea typeface="Calibri" pitchFamily="34" charset="-122"/>
                <a:cs typeface="Calibri" pitchFamily="34" charset="-120"/>
              </a:rPr>
              <a:t>Criticité = probabilité × impact (échelles 1–3), réévaluée à chaque jalon</a:t>
            </a:r>
            <a:endParaRPr lang="en-US" sz="1250" dirty="0"/>
          </a:p>
          <a:p>
            <a:pPr marL="342900" indent="-342900">
              <a:lnSpc>
                <a:spcPct val="128000"/>
              </a:lnSpc>
              <a:spcAft>
                <a:spcPts val="1400"/>
              </a:spcAft>
              <a:buSzPct val="100000"/>
              <a:buChar char="✦"/>
            </a:pPr>
            <a:r>
              <a:rPr lang="en-US" sz="1250" dirty="0">
                <a:solidFill>
                  <a:srgbClr val="EDE6D6"/>
                </a:solidFill>
                <a:latin typeface="Calibri" pitchFamily="34" charset="0"/>
                <a:ea typeface="Calibri" pitchFamily="34" charset="-122"/>
                <a:cs typeface="Calibri" pitchFamily="34" charset="-120"/>
              </a:rPr>
              <a:t>Seuils : criticité ≥ 6 → mesure préventive obligatoire avant mise en production ; 3–4 → mesure planifiée ; &lt; 3 → surveillance</a:t>
            </a:r>
            <a:endParaRPr lang="en-US" sz="1250" dirty="0"/>
          </a:p>
        </p:txBody>
      </p:sp>
      <p:sp>
        <p:nvSpPr>
          <p:cNvPr id="10" name="Text 8"/>
          <p:cNvSpPr/>
          <p:nvPr/>
        </p:nvSpPr>
        <p:spPr>
          <a:xfrm>
            <a:off x="457200" y="3429000"/>
            <a:ext cx="5394960" cy="320040"/>
          </a:xfrm>
          <a:prstGeom prst="rect">
            <a:avLst/>
          </a:prstGeom>
          <a:noFill/>
          <a:ln/>
        </p:spPr>
        <p:txBody>
          <a:bodyPr wrap="square" rtlCol="0" anchor="ctr"/>
          <a:lstStyle/>
          <a:p>
            <a:pPr indent="0" marL="0">
              <a:buNone/>
            </a:pPr>
            <a:r>
              <a:rPr lang="en-US" sz="1350" b="1" dirty="0">
                <a:solidFill>
                  <a:srgbClr val="E8C766"/>
                </a:solidFill>
                <a:latin typeface="Calibri" pitchFamily="34" charset="0"/>
                <a:ea typeface="Calibri" pitchFamily="34" charset="-122"/>
                <a:cs typeface="Calibri" pitchFamily="34" charset="-120"/>
              </a:rPr>
              <a:t>Suivi des incidents (appliqué en blocs 2 et 4)</a:t>
            </a:r>
            <a:endParaRPr lang="en-US" sz="1350" dirty="0"/>
          </a:p>
        </p:txBody>
      </p:sp>
      <p:sp>
        <p:nvSpPr>
          <p:cNvPr id="11" name="Text 9"/>
          <p:cNvSpPr/>
          <p:nvPr/>
        </p:nvSpPr>
        <p:spPr>
          <a:xfrm>
            <a:off x="457200" y="3822192"/>
            <a:ext cx="5394960" cy="2103120"/>
          </a:xfrm>
          <a:prstGeom prst="rect">
            <a:avLst/>
          </a:prstGeom>
          <a:noFill/>
          <a:ln/>
        </p:spPr>
        <p:txBody>
          <a:bodyPr wrap="square" rtlCol="0" anchor="t"/>
          <a:lstStyle/>
          <a:p>
            <a:pPr marL="342900" indent="-342900">
              <a:lnSpc>
                <a:spcPct val="128000"/>
              </a:lnSpc>
              <a:spcAft>
                <a:spcPts val="1400"/>
              </a:spcAft>
              <a:buSzPct val="100000"/>
              <a:buChar char="✦"/>
            </a:pPr>
            <a:r>
              <a:rPr lang="en-US" sz="1250" dirty="0">
                <a:solidFill>
                  <a:srgbClr val="EDE6D6"/>
                </a:solidFill>
                <a:latin typeface="Calibri" pitchFamily="34" charset="0"/>
                <a:ea typeface="Calibri" pitchFamily="34" charset="-122"/>
                <a:cs typeface="Calibri" pitchFamily="34" charset="-120"/>
              </a:rPr>
              <a:t>Registre unique des anomalies : fiche normalisée 11 champs (reproduction obligatoire), qualification gravité / priorité</a:t>
            </a:r>
            <a:endParaRPr lang="en-US" sz="1250" dirty="0"/>
          </a:p>
          <a:p>
            <a:pPr marL="342900" indent="-342900">
              <a:lnSpc>
                <a:spcPct val="128000"/>
              </a:lnSpc>
              <a:spcAft>
                <a:spcPts val="1400"/>
              </a:spcAft>
              <a:buSzPct val="100000"/>
              <a:buChar char="✦"/>
            </a:pPr>
            <a:r>
              <a:rPr lang="en-US" sz="1250" dirty="0">
                <a:solidFill>
                  <a:srgbClr val="EDE6D6"/>
                </a:solidFill>
                <a:latin typeface="Calibri" pitchFamily="34" charset="0"/>
                <a:ea typeface="Calibri" pitchFamily="34" charset="-122"/>
                <a:cs typeface="Calibri" pitchFamily="34" charset="-120"/>
              </a:rPr>
              <a:t>Cycle : consignation → qualification → correctif → re-test → clôture tracée</a:t>
            </a:r>
            <a:endParaRPr lang="en-US" sz="1250" dirty="0"/>
          </a:p>
          <a:p>
            <a:pPr marL="342900" indent="-342900">
              <a:lnSpc>
                <a:spcPct val="128000"/>
              </a:lnSpc>
              <a:spcAft>
                <a:spcPts val="1400"/>
              </a:spcAft>
              <a:buSzPct val="100000"/>
              <a:buChar char="✦"/>
            </a:pPr>
            <a:r>
              <a:rPr lang="en-US" sz="1250" dirty="0">
                <a:solidFill>
                  <a:srgbClr val="EDE6D6"/>
                </a:solidFill>
                <a:latin typeface="Calibri" pitchFamily="34" charset="0"/>
                <a:ea typeface="Calibri" pitchFamily="34" charset="-122"/>
                <a:cs typeface="Calibri" pitchFamily="34" charset="-120"/>
              </a:rPr>
              <a:t>Preuve d'usage réel : 17 anomalies consignées et traitées (BUG-001 → 016 + OBS-01)</a:t>
            </a:r>
            <a:endParaRPr lang="en-US" sz="1250" dirty="0"/>
          </a:p>
        </p:txBody>
      </p:sp>
      <p:sp>
        <p:nvSpPr>
          <p:cNvPr id="12" name="Text 10"/>
          <p:cNvSpPr/>
          <p:nvPr/>
        </p:nvSpPr>
        <p:spPr>
          <a:xfrm>
            <a:off x="6309360" y="1371600"/>
            <a:ext cx="5422392" cy="320040"/>
          </a:xfrm>
          <a:prstGeom prst="rect">
            <a:avLst/>
          </a:prstGeom>
          <a:noFill/>
          <a:ln/>
        </p:spPr>
        <p:txBody>
          <a:bodyPr wrap="square" rtlCol="0" anchor="ctr"/>
          <a:lstStyle/>
          <a:p>
            <a:pPr indent="0" marL="0">
              <a:buNone/>
            </a:pPr>
            <a:r>
              <a:rPr lang="en-US" sz="1300" b="1" dirty="0">
                <a:solidFill>
                  <a:srgbClr val="E8C766"/>
                </a:solidFill>
                <a:latin typeface="Calibri" pitchFamily="34" charset="0"/>
                <a:ea typeface="Calibri" pitchFamily="34" charset="-122"/>
                <a:cs typeface="Calibri" pitchFamily="34" charset="-120"/>
              </a:rPr>
              <a:t>Indicateurs de contrôle définis au cadrage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09360" y="1737360"/>
          <a:ext cx="5422392" cy="2743200"/>
        </p:xfrm>
        <a:graphic>
          <a:graphicData uri="http://schemas.openxmlformats.org/drawingml/2006/table">
            <a:tbl>
              <a:tblPr/>
              <a:tblGrid>
                <a:gridCol w="2011680"/>
                <a:gridCol w="1673352"/>
                <a:gridCol w="1737360"/>
              </a:tblGrid>
              <a:tr h="391886">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Indicateur</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Cible</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Contrôle</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r>
              <a:tr h="391886">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Disponibilité du service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 99 %</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Sonde externe 5 min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391886">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Temps de réponse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&lt; 1 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Supervision continue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391886">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Détection d'incident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 5 min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Alerte e-mail automatique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391886">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Erreurs serveur (5xx)</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&lt; 1 %</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Journal Monolog dédié « incident »</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391886">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Vulnérabilités critiques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0</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Audit dépendances hebdo (Dependabot)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391886">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Régressions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0 livraison si tests rouges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177 tests bloquants en CI</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bl>
          </a:graphicData>
        </a:graphic>
      </p:graphicFrame>
      <p:sp>
        <p:nvSpPr>
          <p:cNvPr id="14" name="Shape 11"/>
          <p:cNvSpPr/>
          <p:nvPr/>
        </p:nvSpPr>
        <p:spPr>
          <a:xfrm>
            <a:off x="457200" y="5806440"/>
            <a:ext cx="11274552" cy="600000"/>
          </a:xfrm>
          <a:prstGeom prst="roundRect">
            <a:avLst>
              <a:gd name="adj" fmla="val 8235"/>
            </a:avLst>
          </a:prstGeom>
          <a:solidFill>
            <a:srgbClr val="2A2313"/>
          </a:solidFill>
          <a:ln/>
        </p:spPr>
      </p:sp>
      <p:sp>
        <p:nvSpPr>
          <p:cNvPr id="15" name="Text 12"/>
          <p:cNvSpPr/>
          <p:nvPr/>
        </p:nvSpPr>
        <p:spPr>
          <a:xfrm>
            <a:off x="685800" y="5836440"/>
            <a:ext cx="10881360" cy="540000"/>
          </a:xfrm>
          <a:prstGeom prst="rect">
            <a:avLst/>
          </a:prstGeom>
          <a:noFill/>
          <a:ln/>
        </p:spPr>
        <p:txBody>
          <a:bodyPr wrap="square" rtlCol="0" anchor="t"/>
          <a:lstStyle/>
          <a:p>
            <a:pPr indent="0" marL="0">
              <a:buNone/>
            </a:pPr>
            <a:r>
              <a:rPr lang="en-US" sz="1050" i="1" dirty="0">
                <a:solidFill>
                  <a:srgbClr val="C9A227"/>
                </a:solidFill>
                <a:latin typeface="Calibri" pitchFamily="34" charset="0"/>
                <a:ea typeface="Calibri" pitchFamily="34" charset="-122"/>
                <a:cs typeface="Calibri" pitchFamily="34" charset="-120"/>
              </a:rPr>
              <a:t>Ces indicateurs sont aujourd'hui mesurés en continu en production : UptimeRobot (99,95 % sur 7 j, latence moyenne 635 ms) + sonde cron interne + alertes Brevo.</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9</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100" b="1" dirty="0">
                <a:solidFill>
                  <a:srgbClr val="1A1611"/>
                </a:solidFill>
                <a:latin typeface="Calibri" pitchFamily="34" charset="0"/>
                <a:ea typeface="Calibri" pitchFamily="34" charset="-122"/>
                <a:cs typeface="Calibri" pitchFamily="34" charset="-120"/>
              </a:rPr>
              <a:t>9-10</a:t>
            </a:r>
            <a:endParaRPr lang="en-US" sz="11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VEILLE TECHNOLOGIQUE</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400" b="1" dirty="0">
                <a:solidFill>
                  <a:srgbClr val="E8C766"/>
                </a:solidFill>
                <a:latin typeface="Cambria" pitchFamily="34" charset="0"/>
                <a:ea typeface="Cambria" pitchFamily="34" charset="-122"/>
                <a:cs typeface="Cambria" pitchFamily="34" charset="-120"/>
              </a:rPr>
              <a:t>Méthodologie de veille, sources et outils</a:t>
            </a:r>
            <a:endParaRPr lang="en-US" sz="2400" dirty="0"/>
          </a:p>
        </p:txBody>
      </p:sp>
      <p:sp>
        <p:nvSpPr>
          <p:cNvPr id="8" name="Text 6"/>
          <p:cNvSpPr/>
          <p:nvPr/>
        </p:nvSpPr>
        <p:spPr>
          <a:xfrm>
            <a:off x="457200" y="1371600"/>
            <a:ext cx="5394960" cy="320040"/>
          </a:xfrm>
          <a:prstGeom prst="rect">
            <a:avLst/>
          </a:prstGeom>
          <a:noFill/>
          <a:ln/>
        </p:spPr>
        <p:txBody>
          <a:bodyPr wrap="square" rtlCol="0" anchor="ctr"/>
          <a:lstStyle/>
          <a:p>
            <a:pPr indent="0" marL="0">
              <a:buNone/>
            </a:pPr>
            <a:r>
              <a:rPr lang="en-US" sz="1350" b="1" dirty="0">
                <a:solidFill>
                  <a:srgbClr val="E8C766"/>
                </a:solidFill>
                <a:latin typeface="Calibri" pitchFamily="34" charset="0"/>
                <a:ea typeface="Calibri" pitchFamily="34" charset="-122"/>
                <a:cs typeface="Calibri" pitchFamily="34" charset="-120"/>
              </a:rPr>
              <a:t>Méthodologie de recherche</a:t>
            </a:r>
            <a:endParaRPr lang="en-US" sz="1350" dirty="0"/>
          </a:p>
        </p:txBody>
      </p:sp>
      <p:sp>
        <p:nvSpPr>
          <p:cNvPr id="9" name="Text 7"/>
          <p:cNvSpPr/>
          <p:nvPr/>
        </p:nvSpPr>
        <p:spPr>
          <a:xfrm>
            <a:off x="457200" y="1755648"/>
            <a:ext cx="5394960" cy="2011680"/>
          </a:xfrm>
          <a:prstGeom prst="rect">
            <a:avLst/>
          </a:prstGeom>
          <a:noFill/>
          <a:ln/>
        </p:spPr>
        <p:txBody>
          <a:bodyPr wrap="square" rtlCol="0" anchor="t"/>
          <a:lstStyle/>
          <a:p>
            <a:pPr marL="342900" indent="-342900">
              <a:lnSpc>
                <a:spcPct val="128000"/>
              </a:lnSpc>
              <a:spcAft>
                <a:spcPts val="1400"/>
              </a:spcAft>
              <a:buSzPct val="100000"/>
              <a:buChar char="✦"/>
            </a:pPr>
            <a:r>
              <a:rPr lang="en-US" sz="1250" dirty="0">
                <a:solidFill>
                  <a:srgbClr val="EDE6D6"/>
                </a:solidFill>
                <a:latin typeface="Calibri" pitchFamily="34" charset="0"/>
                <a:ea typeface="Calibri" pitchFamily="34" charset="-122"/>
                <a:cs typeface="Calibri" pitchFamily="34" charset="-120"/>
              </a:rPr>
              <a:t>Veille passive automatisée (quotidienne) : alertes de sécurité et de versions poussées vers moi</a:t>
            </a:r>
            <a:endParaRPr lang="en-US" sz="1250" dirty="0"/>
          </a:p>
          <a:p>
            <a:pPr marL="342900" indent="-342900">
              <a:lnSpc>
                <a:spcPct val="128000"/>
              </a:lnSpc>
              <a:spcAft>
                <a:spcPts val="1400"/>
              </a:spcAft>
              <a:buSzPct val="100000"/>
              <a:buChar char="✦"/>
            </a:pPr>
            <a:r>
              <a:rPr lang="en-US" sz="1250" dirty="0">
                <a:solidFill>
                  <a:srgbClr val="EDE6D6"/>
                </a:solidFill>
                <a:latin typeface="Calibri" pitchFamily="34" charset="0"/>
                <a:ea typeface="Calibri" pitchFamily="34" charset="-122"/>
                <a:cs typeface="Calibri" pitchFamily="34" charset="-120"/>
              </a:rPr>
              <a:t>Veille active ciblée (hebdomadaire) : blogs et notes de versions des technologies du projet</a:t>
            </a:r>
            <a:endParaRPr lang="en-US" sz="1250" dirty="0"/>
          </a:p>
          <a:p>
            <a:pPr marL="342900" indent="-342900">
              <a:lnSpc>
                <a:spcPct val="128000"/>
              </a:lnSpc>
              <a:spcAft>
                <a:spcPts val="1400"/>
              </a:spcAft>
              <a:buSzPct val="100000"/>
              <a:buChar char="✦"/>
            </a:pPr>
            <a:r>
              <a:rPr lang="en-US" sz="1250" dirty="0">
                <a:solidFill>
                  <a:srgbClr val="EDE6D6"/>
                </a:solidFill>
                <a:latin typeface="Calibri" pitchFamily="34" charset="0"/>
                <a:ea typeface="Calibri" pitchFamily="34" charset="-122"/>
                <a:cs typeface="Calibri" pitchFamily="34" charset="-120"/>
              </a:rPr>
              <a:t>Veille exploratoire (mensuelle + événements) : conférences en ligne, meetups, retours d'expérience</a:t>
            </a:r>
            <a:endParaRPr lang="en-US" sz="1250" dirty="0"/>
          </a:p>
        </p:txBody>
      </p:sp>
      <p:sp>
        <p:nvSpPr>
          <p:cNvPr id="10" name="Text 8"/>
          <p:cNvSpPr/>
          <p:nvPr/>
        </p:nvSpPr>
        <p:spPr>
          <a:xfrm>
            <a:off x="457200" y="3977640"/>
            <a:ext cx="5394960" cy="320040"/>
          </a:xfrm>
          <a:prstGeom prst="rect">
            <a:avLst/>
          </a:prstGeom>
          <a:noFill/>
          <a:ln/>
        </p:spPr>
        <p:txBody>
          <a:bodyPr wrap="square" rtlCol="0" anchor="ctr"/>
          <a:lstStyle/>
          <a:p>
            <a:pPr indent="0" marL="0">
              <a:buNone/>
            </a:pPr>
            <a:r>
              <a:rPr lang="en-US" sz="1350" b="1" dirty="0">
                <a:solidFill>
                  <a:srgbClr val="E8C766"/>
                </a:solidFill>
                <a:latin typeface="Calibri" pitchFamily="34" charset="0"/>
                <a:ea typeface="Calibri" pitchFamily="34" charset="-122"/>
                <a:cs typeface="Calibri" pitchFamily="34" charset="-120"/>
              </a:rPr>
              <a:t>Principales sources consultées</a:t>
            </a:r>
            <a:endParaRPr lang="en-US" sz="1350" dirty="0"/>
          </a:p>
        </p:txBody>
      </p:sp>
      <p:sp>
        <p:nvSpPr>
          <p:cNvPr id="11" name="Text 9"/>
          <p:cNvSpPr/>
          <p:nvPr/>
        </p:nvSpPr>
        <p:spPr>
          <a:xfrm>
            <a:off x="457200" y="4370832"/>
            <a:ext cx="5394960" cy="1645920"/>
          </a:xfrm>
          <a:prstGeom prst="rect">
            <a:avLst/>
          </a:prstGeom>
          <a:noFill/>
          <a:ln/>
        </p:spPr>
        <p:txBody>
          <a:bodyPr wrap="square" rtlCol="0" anchor="t"/>
          <a:lstStyle/>
          <a:p>
            <a:pPr marL="342900" indent="-342900">
              <a:lnSpc>
                <a:spcPct val="128000"/>
              </a:lnSpc>
              <a:spcAft>
                <a:spcPts val="1400"/>
              </a:spcAft>
              <a:buSzPct val="100000"/>
              <a:buChar char="✦"/>
            </a:pPr>
            <a:r>
              <a:rPr lang="en-US" sz="1250" dirty="0">
                <a:solidFill>
                  <a:srgbClr val="EDE6D6"/>
                </a:solidFill>
                <a:latin typeface="Calibri" pitchFamily="34" charset="0"/>
                <a:ea typeface="Calibri" pitchFamily="34" charset="-122"/>
                <a:cs typeface="Calibri" pitchFamily="34" charset="-120"/>
              </a:rPr>
              <a:t>Blogs et notes de versions officiels Symfony / React ; SymfonyCasts</a:t>
            </a:r>
            <a:endParaRPr lang="en-US" sz="1250" dirty="0"/>
          </a:p>
          <a:p>
            <a:pPr marL="342900" indent="-342900">
              <a:lnSpc>
                <a:spcPct val="128000"/>
              </a:lnSpc>
              <a:spcAft>
                <a:spcPts val="1400"/>
              </a:spcAft>
              <a:buSzPct val="100000"/>
              <a:buChar char="✦"/>
            </a:pPr>
            <a:r>
              <a:rPr lang="en-US" sz="1250" dirty="0">
                <a:solidFill>
                  <a:srgbClr val="EDE6D6"/>
                </a:solidFill>
                <a:latin typeface="Calibri" pitchFamily="34" charset="0"/>
                <a:ea typeface="Calibri" pitchFamily="34" charset="-122"/>
                <a:cs typeface="Calibri" pitchFamily="34" charset="-120"/>
              </a:rPr>
              <a:t>Bulletins sécurité : OWASP, advisories GitHub, CVE</a:t>
            </a:r>
            <a:endParaRPr lang="en-US" sz="1250" dirty="0"/>
          </a:p>
          <a:p>
            <a:pPr marL="342900" indent="-342900">
              <a:lnSpc>
                <a:spcPct val="128000"/>
              </a:lnSpc>
              <a:spcAft>
                <a:spcPts val="1400"/>
              </a:spcAft>
              <a:buSzPct val="100000"/>
              <a:buChar char="✦"/>
            </a:pPr>
            <a:r>
              <a:rPr lang="en-US" sz="1250" dirty="0">
                <a:solidFill>
                  <a:srgbClr val="EDE6D6"/>
                </a:solidFill>
                <a:latin typeface="Calibri" pitchFamily="34" charset="0"/>
                <a:ea typeface="Calibri" pitchFamily="34" charset="-122"/>
                <a:cs typeface="Calibri" pitchFamily="34" charset="-120"/>
              </a:rPr>
              <a:t>Communautés : forum développeurs Albion Online (API), dépôts GitHub communautaires</a:t>
            </a:r>
            <a:endParaRPr lang="en-US" sz="1250" dirty="0"/>
          </a:p>
        </p:txBody>
      </p:sp>
      <p:sp>
        <p:nvSpPr>
          <p:cNvPr id="12" name="Text 10"/>
          <p:cNvSpPr/>
          <p:nvPr/>
        </p:nvSpPr>
        <p:spPr>
          <a:xfrm>
            <a:off x="6309360" y="1371600"/>
            <a:ext cx="5422392" cy="320040"/>
          </a:xfrm>
          <a:prstGeom prst="rect">
            <a:avLst/>
          </a:prstGeom>
          <a:noFill/>
          <a:ln/>
        </p:spPr>
        <p:txBody>
          <a:bodyPr wrap="square" rtlCol="0" anchor="ctr"/>
          <a:lstStyle/>
          <a:p>
            <a:pPr indent="0" marL="0">
              <a:buNone/>
            </a:pPr>
            <a:r>
              <a:rPr lang="en-US" sz="1300" b="1" dirty="0">
                <a:solidFill>
                  <a:srgbClr val="E8C766"/>
                </a:solidFill>
                <a:latin typeface="Calibri" pitchFamily="34" charset="0"/>
                <a:ea typeface="Calibri" pitchFamily="34" charset="-122"/>
                <a:cs typeface="Calibri" pitchFamily="34" charset="-120"/>
              </a:rPr>
              <a:t>Outils de veille et bénéfices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309360" y="1737360"/>
          <a:ext cx="5422392" cy="1920240"/>
        </p:xfrm>
        <a:graphic>
          <a:graphicData uri="http://schemas.openxmlformats.org/drawingml/2006/table">
            <a:tbl>
              <a:tblPr/>
              <a:tblGrid>
                <a:gridCol w="2194560"/>
                <a:gridCol w="3227832"/>
              </a:tblGrid>
              <a:tr h="384048">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Outil</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Bénéfice attendu</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r>
              <a:tr h="384048">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Dependabot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Vulnérabilités et mises à jour détectées sans effort — réaction en heures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384048">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Flux RSS / newsletters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Panorama hebdomadaire à coût fixe (30 min)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384048">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GitHub Watch sur dépôts clés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Anticiper les changements de l'API du jeu et des libs critiques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384048">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Conférences (SymfonyLive…)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Signaux faibles et retours d'expérience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bl>
          </a:graphicData>
        </a:graphic>
      </p:graphicFrame>
      <p:sp>
        <p:nvSpPr>
          <p:cNvPr id="14" name="Shape 11"/>
          <p:cNvSpPr/>
          <p:nvPr/>
        </p:nvSpPr>
        <p:spPr>
          <a:xfrm>
            <a:off x="6309360" y="3931920"/>
            <a:ext cx="5422392" cy="1737360"/>
          </a:xfrm>
          <a:prstGeom prst="roundRect">
            <a:avLst>
              <a:gd name="adj" fmla="val 3684"/>
            </a:avLst>
          </a:prstGeom>
          <a:solidFill>
            <a:srgbClr val="F1E9D2"/>
          </a:solidFill>
          <a:ln/>
          <a:effectLst>
            <a:outerShdw sx="100000" sy="100000" kx="0" ky="0" algn="bl" rotWithShape="0" blurRad="76200" dist="38100" dir="5400000">
              <a:srgbClr val="000000">
                <a:alpha val="35000"/>
              </a:srgbClr>
            </a:outerShdw>
          </a:effectLst>
        </p:spPr>
      </p:sp>
      <p:sp>
        <p:nvSpPr>
          <p:cNvPr id="15" name="Text 12"/>
          <p:cNvSpPr/>
          <p:nvPr/>
        </p:nvSpPr>
        <p:spPr>
          <a:xfrm>
            <a:off x="6537960" y="4041648"/>
            <a:ext cx="4965192" cy="274320"/>
          </a:xfrm>
          <a:prstGeom prst="rect">
            <a:avLst/>
          </a:prstGeom>
          <a:noFill/>
          <a:ln/>
        </p:spPr>
        <p:txBody>
          <a:bodyPr wrap="square" rtlCol="0" anchor="ctr"/>
          <a:lstStyle/>
          <a:p>
            <a:pPr indent="0" marL="0">
              <a:buNone/>
            </a:pPr>
            <a:r>
              <a:rPr lang="en-US" sz="1150" b="1" dirty="0">
                <a:solidFill>
                  <a:srgbClr val="1D1A14"/>
                </a:solidFill>
                <a:latin typeface="Calibri" pitchFamily="34" charset="0"/>
                <a:ea typeface="Calibri" pitchFamily="34" charset="-122"/>
                <a:cs typeface="Calibri" pitchFamily="34" charset="-120"/>
              </a:rPr>
              <a:t>Preuve d'efficacité</a:t>
            </a:r>
            <a:endParaRPr lang="en-US" sz="1150" dirty="0"/>
          </a:p>
        </p:txBody>
      </p:sp>
      <p:sp>
        <p:nvSpPr>
          <p:cNvPr id="16" name="Text 13"/>
          <p:cNvSpPr/>
          <p:nvPr/>
        </p:nvSpPr>
        <p:spPr>
          <a:xfrm>
            <a:off x="6537960" y="4315968"/>
            <a:ext cx="4965192" cy="1234440"/>
          </a:xfrm>
          <a:prstGeom prst="rect">
            <a:avLst/>
          </a:prstGeom>
          <a:noFill/>
          <a:ln/>
        </p:spPr>
        <p:txBody>
          <a:bodyPr wrap="square" rtlCol="0" anchor="ctr"/>
          <a:lstStyle/>
          <a:p>
            <a:pPr indent="0" marL="0">
              <a:lnSpc>
                <a:spcPct val="125000"/>
              </a:lnSpc>
              <a:buNone/>
            </a:pPr>
            <a:r>
              <a:rPr lang="en-US" sz="1000" dirty="0">
                <a:solidFill>
                  <a:srgbClr val="1D1A14"/>
                </a:solidFill>
                <a:latin typeface="Calibri" pitchFamily="34" charset="0"/>
                <a:ea typeface="Calibri" pitchFamily="34" charset="-122"/>
                <a:cs typeface="Calibri" pitchFamily="34" charset="-120"/>
              </a:rPr>
              <a:t>La veille a déclenché la migration Symfony 7.2 (fin de vie) → 7.4 LTS, avec correction de 36 advisories dont une CVE élevée, avant la mise en production et validée par les 177 tests automatisés.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10</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11</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ÉTUDE COMPARATIVE DES SOLUTIONS TECHNIQUES — C1.3.2 ÉLIMINATOIRE</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000" b="1" dirty="0">
                <a:solidFill>
                  <a:srgbClr val="E8C766"/>
                </a:solidFill>
                <a:latin typeface="Cambria" pitchFamily="34" charset="0"/>
                <a:ea typeface="Cambria" pitchFamily="34" charset="-122"/>
                <a:cs typeface="Cambria" pitchFamily="34" charset="-120"/>
              </a:rPr>
              <a:t>Comparatif multi-critères et choix d'architecture</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4114800"/>
        </p:xfrm>
        <a:graphic>
          <a:graphicData uri="http://schemas.openxmlformats.org/drawingml/2006/table">
            <a:tbl>
              <a:tblPr/>
              <a:tblGrid>
                <a:gridCol w="1417320"/>
                <a:gridCol w="2423160"/>
                <a:gridCol w="2423160"/>
                <a:gridCol w="2331720"/>
                <a:gridCol w="1810512"/>
                <a:gridCol w="1783080"/>
              </a:tblGrid>
              <a:tr h="822960">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Brique</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Options étudiées</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Sécurité</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Écosystème &amp; maintenabilité</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Impact env. / système</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Choix</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r>
              <a:tr h="822960">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Back-end</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Symfony vs Laravel vs Node/Express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Composant sécurité mature, advisories suivies, ORM anti-injection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LTS 4 ans, structure imposée, compétence existante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PHP-FPM sobre sur VPS mutualisé</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7A5A08"/>
                          </a:solidFill>
                          <a:latin typeface="Calibri" pitchFamily="34" charset="0"/>
                          <a:ea typeface="Calibri" pitchFamily="34" charset="-122"/>
                          <a:cs typeface="Calibri" pitchFamily="34" charset="-120"/>
                        </a:rPr>
                        <a:t>Symfony 7.4 LTS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822960">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Front-end</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React vs Vue vs Angular</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Échappement XSS par défaut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1er écosystème (MUI, i18next), viabilité long terme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Build statique servi par Nginx (cache)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7A5A08"/>
                          </a:solidFill>
                          <a:latin typeface="Calibri" pitchFamily="34" charset="0"/>
                          <a:ea typeface="Calibri" pitchFamily="34" charset="-122"/>
                          <a:cs typeface="Calibri" pitchFamily="34" charset="-120"/>
                        </a:rPr>
                        <a:t>React 19 + MUI</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822960">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Authentification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JWT vs sessions serveur</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Sans état, jetons courts, cookies httpOnly (anti-XSS)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Adapté à une API consommée par un front séparé</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Pas de stockage session serveur</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7A5A08"/>
                          </a:solidFill>
                          <a:latin typeface="Calibri" pitchFamily="34" charset="0"/>
                          <a:ea typeface="Calibri" pitchFamily="34" charset="-122"/>
                          <a:cs typeface="Calibri" pitchFamily="34" charset="-120"/>
                        </a:rPr>
                        <a:t>JWT httpOnly</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822960">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Base de données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PostgreSQL vs MySQL vs MongoDB</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Robustesse, droits fins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Données relationnelles — Doctrine natif</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Déjà installé sur le VPS (0 ressource ajoutée)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7A5A08"/>
                          </a:solidFill>
                          <a:latin typeface="Calibri" pitchFamily="34" charset="0"/>
                          <a:ea typeface="Calibri" pitchFamily="34" charset="-122"/>
                          <a:cs typeface="Calibri" pitchFamily="34" charset="-120"/>
                        </a:rPr>
                        <a:t>PostgreSQL 16</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bl>
          </a:graphicData>
        </a:graphic>
      </p:graphicFrame>
      <p:sp>
        <p:nvSpPr>
          <p:cNvPr id="9" name="Shape 6"/>
          <p:cNvSpPr/>
          <p:nvPr/>
        </p:nvSpPr>
        <p:spPr>
          <a:xfrm>
            <a:off x="457200" y="5577840"/>
            <a:ext cx="11274552" cy="830000"/>
          </a:xfrm>
          <a:prstGeom prst="roundRect">
            <a:avLst>
              <a:gd name="adj" fmla="val 7000"/>
            </a:avLst>
          </a:prstGeom>
          <a:solidFill>
            <a:srgbClr val="2A2313"/>
          </a:solidFill>
          <a:ln/>
        </p:spPr>
      </p:sp>
      <p:sp>
        <p:nvSpPr>
          <p:cNvPr id="10" name="Text 7"/>
          <p:cNvSpPr/>
          <p:nvPr/>
        </p:nvSpPr>
        <p:spPr>
          <a:xfrm>
            <a:off x="685800" y="5607840"/>
            <a:ext cx="10881360" cy="770000"/>
          </a:xfrm>
          <a:prstGeom prst="rect">
            <a:avLst/>
          </a:prstGeom>
          <a:noFill/>
          <a:ln/>
        </p:spPr>
        <p:txBody>
          <a:bodyPr wrap="square" rtlCol="0" anchor="ctr"/>
          <a:lstStyle/>
          <a:p>
            <a:pPr indent="0" marL="0">
              <a:buNone/>
            </a:pPr>
            <a:r>
              <a:rPr lang="en-US" sz="1050" i="1" dirty="0">
                <a:solidFill>
                  <a:srgbClr val="C9A227"/>
                </a:solidFill>
                <a:latin typeface="Calibri" pitchFamily="34" charset="0"/>
                <a:ea typeface="Calibri" pitchFamily="34" charset="-122"/>
                <a:cs typeface="Calibri" pitchFamily="34" charset="-120"/>
              </a:rPr>
              <a:t>Ressources matérielles/techniques découlant du choix : VPS existant (Nginx + PHP-FPM + PostgreSQL), Docker en développement, GitHub pour sources + CI/CD — aucune acquisition nécessaire.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11</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12</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DIAGRAMME DE FONCTIONNALITÉS</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400" b="1" dirty="0">
                <a:solidFill>
                  <a:srgbClr val="E8C766"/>
                </a:solidFill>
                <a:latin typeface="Cambria" pitchFamily="34" charset="0"/>
                <a:ea typeface="Cambria" pitchFamily="34" charset="-122"/>
                <a:cs typeface="Cambria" pitchFamily="34" charset="-120"/>
              </a:rPr>
              <a:t>Fonctions recensées et hiérarchisées (MoSCoW)</a:t>
            </a:r>
            <a:endParaRPr lang="en-US" sz="2400" dirty="0"/>
          </a:p>
        </p:txBody>
      </p:sp>
      <p:sp>
        <p:nvSpPr>
          <p:cNvPr id="8" name="Shape 6"/>
          <p:cNvSpPr/>
          <p:nvPr/>
        </p:nvSpPr>
        <p:spPr>
          <a:xfrm>
            <a:off x="457200" y="1371600"/>
            <a:ext cx="5623560" cy="4572000"/>
          </a:xfrm>
          <a:prstGeom prst="roundRect">
            <a:avLst>
              <a:gd name="adj" fmla="val 1400"/>
            </a:avLst>
          </a:prstGeom>
          <a:solidFill>
            <a:srgbClr val="0F0C08"/>
          </a:solidFill>
          <a:ln/>
          <a:effectLst>
            <a:outerShdw sx="100000" sy="100000" kx="0" ky="0" algn="bl" rotWithShape="0" blurRad="76200" dist="38100" dir="5400000">
              <a:srgbClr val="000000">
                <a:alpha val="35000"/>
              </a:srgbClr>
            </a:outerShdw>
          </a:effectLst>
        </p:spPr>
      </p:sp>
      <p:sp>
        <p:nvSpPr>
          <p:cNvPr id="9" name="Text 7"/>
          <p:cNvSpPr/>
          <p:nvPr/>
        </p:nvSpPr>
        <p:spPr>
          <a:xfrm>
            <a:off x="640080" y="1481328"/>
            <a:ext cx="5349240" cy="4389120"/>
          </a:xfrm>
          <a:prstGeom prst="rect">
            <a:avLst/>
          </a:prstGeom>
          <a:noFill/>
          <a:ln/>
        </p:spPr>
        <p:txBody>
          <a:bodyPr wrap="square" rtlCol="0" anchor="t"/>
          <a:lstStyle/>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ALBION HELPER</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F1 Compte &amp; accès            [MUST]</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F1.1 Inscription / connexion</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F1.2 Profil utilisateur</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F1.3 Administration (rôles)</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F2 Recherche &amp; consultation  [MUST]</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F2.1 Joueurs + stats PvP</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F2.2 Guildes &amp; alliances</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F2.3 Batailles</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F3 Carte &amp; itinéraires       [MUST]</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F3.1 Carte interactive des zones</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F3.2 Itinéraires partagés (lien)</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F4 Préparation de jeu        [SHOULD]</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F4.1 Compositions d'équipe</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F4.2 Calculateur de craft</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(12 066 items, prix marché)</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F5 Confort d'usage           [SHOULD]</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F5.1 Multi-langue (20 langues)</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F5.2 Multi-serveur (3)</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F5.3 Thème sombre · tutoriel</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F6 Ouverture              [COULD → backlog]</a:t>
            </a:r>
            <a:endParaRPr lang="en-US" sz="960" dirty="0"/>
          </a:p>
          <a:p>
            <a:pPr indent="0" marL="0">
              <a:lnSpc>
                <a:spcPct val="112000"/>
              </a:lnSpc>
              <a:buNone/>
            </a:pPr>
            <a:r>
              <a:rPr lang="en-US" sz="960" dirty="0">
                <a:solidFill>
                  <a:srgbClr val="E8C766"/>
                </a:solidFill>
                <a:latin typeface="Courier New" pitchFamily="34" charset="0"/>
                <a:ea typeface="Courier New" pitchFamily="34" charset="-122"/>
                <a:cs typeface="Courier New" pitchFamily="34" charset="-120"/>
              </a:rPr>
              <a:t>    └── F6.1 API publique, appli mobile</a:t>
            </a:r>
            <a:endParaRPr lang="en-US" sz="960" dirty="0"/>
          </a:p>
        </p:txBody>
      </p:sp>
      <p:sp>
        <p:nvSpPr>
          <p:cNvPr id="10" name="Text 8"/>
          <p:cNvSpPr/>
          <p:nvPr/>
        </p:nvSpPr>
        <p:spPr>
          <a:xfrm>
            <a:off x="6309360" y="1417320"/>
            <a:ext cx="5422392" cy="320040"/>
          </a:xfrm>
          <a:prstGeom prst="rect">
            <a:avLst/>
          </a:prstGeom>
          <a:noFill/>
          <a:ln/>
        </p:spPr>
        <p:txBody>
          <a:bodyPr wrap="square" rtlCol="0" anchor="ctr"/>
          <a:lstStyle/>
          <a:p>
            <a:pPr indent="0" marL="0">
              <a:buNone/>
            </a:pPr>
            <a:r>
              <a:rPr lang="en-US" sz="1300" b="1" dirty="0">
                <a:solidFill>
                  <a:srgbClr val="E8C766"/>
                </a:solidFill>
                <a:latin typeface="Calibri" pitchFamily="34" charset="0"/>
                <a:ea typeface="Calibri" pitchFamily="34" charset="-122"/>
                <a:cs typeface="Calibri" pitchFamily="34" charset="-120"/>
              </a:rPr>
              <a:t>Méthode d'analyse fonctionnelle</a:t>
            </a:r>
            <a:endParaRPr lang="en-US" sz="1300" dirty="0"/>
          </a:p>
        </p:txBody>
      </p:sp>
      <p:sp>
        <p:nvSpPr>
          <p:cNvPr id="11" name="Text 9"/>
          <p:cNvSpPr/>
          <p:nvPr/>
        </p:nvSpPr>
        <p:spPr>
          <a:xfrm>
            <a:off x="6309360" y="1783080"/>
            <a:ext cx="5422392" cy="3200400"/>
          </a:xfrm>
          <a:prstGeom prst="rect">
            <a:avLst/>
          </a:prstGeom>
          <a:noFill/>
          <a:ln/>
        </p:spPr>
        <p:txBody>
          <a:bodyPr wrap="square" rtlCol="0" anchor="t"/>
          <a:lstStyle/>
          <a:p>
            <a:pPr marL="342900" indent="-342900">
              <a:lnSpc>
                <a:spcPct val="128000"/>
              </a:lnSpc>
              <a:spcAft>
                <a:spcPts val="600"/>
              </a:spcAft>
              <a:buSzPct val="100000"/>
              <a:buChar char="✦"/>
            </a:pPr>
            <a:r>
              <a:rPr lang="en-US" sz="1100" dirty="0">
                <a:solidFill>
                  <a:srgbClr val="EDE6D6"/>
                </a:solidFill>
                <a:latin typeface="Calibri" pitchFamily="34" charset="0"/>
                <a:ea typeface="Calibri" pitchFamily="34" charset="-122"/>
                <a:cs typeface="Calibri" pitchFamily="34" charset="-120"/>
              </a:rPr>
              <a:t>Recensement par entretiens d'usage avec les joueurs + état des lieux des outils tiers (audit)</a:t>
            </a:r>
            <a:endParaRPr lang="en-US" sz="1100" dirty="0"/>
          </a:p>
          <a:p>
            <a:pPr marL="342900" indent="-342900">
              <a:lnSpc>
                <a:spcPct val="128000"/>
              </a:lnSpc>
              <a:spcAft>
                <a:spcPts val="600"/>
              </a:spcAft>
              <a:buSzPct val="100000"/>
              <a:buChar char="✦"/>
            </a:pPr>
            <a:r>
              <a:rPr lang="en-US" sz="1100" dirty="0">
                <a:solidFill>
                  <a:srgbClr val="EDE6D6"/>
                </a:solidFill>
                <a:latin typeface="Calibri" pitchFamily="34" charset="0"/>
                <a:ea typeface="Calibri" pitchFamily="34" charset="-122"/>
                <a:cs typeface="Calibri" pitchFamily="34" charset="-120"/>
              </a:rPr>
              <a:t>Hiérarchisation MoSCoW : Must = remplace les outils tiers ; Should = différenciateurs ; Could = après v1</a:t>
            </a:r>
            <a:endParaRPr lang="en-US" sz="1100" dirty="0"/>
          </a:p>
          <a:p>
            <a:pPr marL="342900" indent="-342900">
              <a:lnSpc>
                <a:spcPct val="128000"/>
              </a:lnSpc>
              <a:spcAft>
                <a:spcPts val="600"/>
              </a:spcAft>
              <a:buSzPct val="100000"/>
              <a:buChar char="✦"/>
            </a:pPr>
            <a:r>
              <a:rPr lang="en-US" sz="1100" dirty="0">
                <a:solidFill>
                  <a:srgbClr val="EDE6D6"/>
                </a:solidFill>
                <a:latin typeface="Calibri" pitchFamily="34" charset="0"/>
                <a:ea typeface="Calibri" pitchFamily="34" charset="-122"/>
                <a:cs typeface="Calibri" pitchFamily="34" charset="-120"/>
              </a:rPr>
              <a:t>UX prise en compte dès le cadrage : réponse rapide en session, tutoriel de prise en main, thème sombre (usage nocturne), langue native, partage sans compte pour le destinataire</a:t>
            </a:r>
            <a:endParaRPr lang="en-US" sz="1100" dirty="0"/>
          </a:p>
        </p:txBody>
      </p:sp>
      <p:sp>
        <p:nvSpPr>
          <p:cNvPr id="12" name="Shape 10"/>
          <p:cNvSpPr/>
          <p:nvPr/>
        </p:nvSpPr>
        <p:spPr>
          <a:xfrm>
            <a:off x="6309360" y="5074920"/>
            <a:ext cx="5422392" cy="868680"/>
          </a:xfrm>
          <a:prstGeom prst="roundRect">
            <a:avLst>
              <a:gd name="adj" fmla="val 7368"/>
            </a:avLst>
          </a:prstGeom>
          <a:solidFill>
            <a:srgbClr val="F1E9D2"/>
          </a:solidFill>
          <a:ln/>
          <a:effectLst>
            <a:outerShdw sx="100000" sy="100000" kx="0" ky="0" algn="bl" rotWithShape="0" blurRad="76200" dist="38100" dir="5400000">
              <a:srgbClr val="000000">
                <a:alpha val="35000"/>
              </a:srgbClr>
            </a:outerShdw>
          </a:effectLst>
        </p:spPr>
      </p:sp>
      <p:sp>
        <p:nvSpPr>
          <p:cNvPr id="13" name="Text 11"/>
          <p:cNvSpPr/>
          <p:nvPr/>
        </p:nvSpPr>
        <p:spPr>
          <a:xfrm>
            <a:off x="6492240" y="5166360"/>
            <a:ext cx="5056632" cy="713232"/>
          </a:xfrm>
          <a:prstGeom prst="rect">
            <a:avLst/>
          </a:prstGeom>
          <a:noFill/>
          <a:ln/>
        </p:spPr>
        <p:txBody>
          <a:bodyPr wrap="square" rtlCol="0" anchor="ctr"/>
          <a:lstStyle/>
          <a:p>
            <a:pPr indent="0" marL="0">
              <a:lnSpc>
                <a:spcPct val="120000"/>
              </a:lnSpc>
              <a:buNone/>
            </a:pPr>
            <a:r>
              <a:rPr lang="en-US" sz="1000" dirty="0">
                <a:solidFill>
                  <a:srgbClr val="1D1A14"/>
                </a:solidFill>
                <a:latin typeface="Calibri" pitchFamily="34" charset="0"/>
                <a:ea typeface="Calibri" pitchFamily="34" charset="-122"/>
                <a:cs typeface="Calibri" pitchFamily="34" charset="-120"/>
              </a:rPr>
              <a:t>Ce découpage F1→F5 est devenu le backlog Kanban du projet — chaque fonction terminale correspond à un lot livré et recetté (29 scénarios de recette, 100 % PASS).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12</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13</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ESTIMATION DE LA CHARGE — C1.4.1 ÉLIMINATOIRE</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300" b="1" dirty="0">
                <a:solidFill>
                  <a:srgbClr val="E8C766"/>
                </a:solidFill>
                <a:latin typeface="Cambria" pitchFamily="34" charset="0"/>
                <a:ea typeface="Cambria" pitchFamily="34" charset="-122"/>
                <a:cs typeface="Cambria" pitchFamily="34" charset="-120"/>
              </a:rPr>
              <a:t>Charge exprimée en jours-homme</a:t>
            </a:r>
            <a:endParaRPr lang="en-US" sz="2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623560" cy="4754880"/>
        </p:xfrm>
        <a:graphic>
          <a:graphicData uri="http://schemas.openxmlformats.org/drawingml/2006/table">
            <a:tbl>
              <a:tblPr/>
              <a:tblGrid>
                <a:gridCol w="1691640"/>
                <a:gridCol w="2834640"/>
                <a:gridCol w="1097280"/>
              </a:tblGrid>
              <a:tr h="475488">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Lot</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Contenu</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Charge</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r>
              <a:tr h="475488">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Cadrage &amp; socle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Étude, maquettes, environnements, CI</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10 j-h</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475488">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F1 Compte &amp; accès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Auth JWT, profils, admin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12 j-h</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475488">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F2 Recherche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Joueurs, guildes, batailles, intégration API jeu</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15 j-h</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475488">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F3 Carte &amp; itinéraires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Carte, zones, partage public</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12 j-h</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475488">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F4 Préparation</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Compositions, craft + prix</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12 j-h</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475488">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F5 Confort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i18n, multi-serveur, thème, tutoriel</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8 j-h</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475488">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Qualité &amp; sécurité</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Harnais de tests, revue OWASP, audits, recette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10 j-h</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475488">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Documentation &amp; MCO</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Manuels, supervision, correctifs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6 j-h</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475488">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Total</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 réserve pour aléas 10 %</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7A5A08"/>
                          </a:solidFill>
                          <a:latin typeface="Calibri" pitchFamily="34" charset="0"/>
                          <a:ea typeface="Calibri" pitchFamily="34" charset="-122"/>
                          <a:cs typeface="Calibri" pitchFamily="34" charset="-120"/>
                        </a:rPr>
                        <a:t>85 → ~94 j-h</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bl>
          </a:graphicData>
        </a:graphic>
      </p:graphicFrame>
      <p:sp>
        <p:nvSpPr>
          <p:cNvPr id="9" name="Text 6"/>
          <p:cNvSpPr/>
          <p:nvPr/>
        </p:nvSpPr>
        <p:spPr>
          <a:xfrm>
            <a:off x="6309360" y="1280160"/>
            <a:ext cx="5422392" cy="320040"/>
          </a:xfrm>
          <a:prstGeom prst="rect">
            <a:avLst/>
          </a:prstGeom>
          <a:noFill/>
          <a:ln/>
        </p:spPr>
        <p:txBody>
          <a:bodyPr wrap="square" rtlCol="0" anchor="ctr"/>
          <a:lstStyle/>
          <a:p>
            <a:pPr indent="0" marL="0">
              <a:buNone/>
            </a:pPr>
            <a:r>
              <a:rPr lang="en-US" sz="1250" b="1" dirty="0">
                <a:solidFill>
                  <a:srgbClr val="E8C766"/>
                </a:solidFill>
                <a:latin typeface="Calibri" pitchFamily="34" charset="0"/>
                <a:ea typeface="Calibri" pitchFamily="34" charset="-122"/>
                <a:cs typeface="Calibri" pitchFamily="34" charset="-120"/>
              </a:rPr>
              <a:t>Méthode d'estimation</a:t>
            </a:r>
            <a:endParaRPr lang="en-US" sz="1250" dirty="0"/>
          </a:p>
        </p:txBody>
      </p:sp>
      <p:sp>
        <p:nvSpPr>
          <p:cNvPr id="10" name="Text 7"/>
          <p:cNvSpPr/>
          <p:nvPr/>
        </p:nvSpPr>
        <p:spPr>
          <a:xfrm>
            <a:off x="6309360" y="1627632"/>
            <a:ext cx="5422392" cy="1508760"/>
          </a:xfrm>
          <a:prstGeom prst="rect">
            <a:avLst/>
          </a:prstGeom>
          <a:noFill/>
          <a:ln/>
        </p:spPr>
        <p:txBody>
          <a:bodyPr wrap="square" rtlCol="0" anchor="t"/>
          <a:lstStyle/>
          <a:p>
            <a:pPr marL="342900" indent="-342900">
              <a:lnSpc>
                <a:spcPct val="128000"/>
              </a:lnSpc>
              <a:spcAft>
                <a:spcPts val="600"/>
              </a:spcAft>
              <a:buSzPct val="100000"/>
              <a:buChar char="✦"/>
            </a:pPr>
            <a:r>
              <a:rPr lang="en-US" sz="1030" dirty="0">
                <a:solidFill>
                  <a:srgbClr val="EDE6D6"/>
                </a:solidFill>
                <a:latin typeface="Calibri" pitchFamily="34" charset="0"/>
                <a:ea typeface="Calibri" pitchFamily="34" charset="-122"/>
                <a:cs typeface="Calibri" pitchFamily="34" charset="-120"/>
              </a:rPr>
              <a:t>Estimation par analogie lot par lot, affinée par découpage en tâches ≤ 2 jours</a:t>
            </a:r>
            <a:endParaRPr lang="en-US" sz="1030" dirty="0"/>
          </a:p>
          <a:p>
            <a:pPr marL="342900" indent="-342900">
              <a:lnSpc>
                <a:spcPct val="128000"/>
              </a:lnSpc>
              <a:spcAft>
                <a:spcPts val="600"/>
              </a:spcAft>
              <a:buSzPct val="100000"/>
              <a:buChar char="✦"/>
            </a:pPr>
            <a:r>
              <a:rPr lang="en-US" sz="1030" dirty="0">
                <a:solidFill>
                  <a:srgbClr val="EDE6D6"/>
                </a:solidFill>
                <a:latin typeface="Calibri" pitchFamily="34" charset="0"/>
                <a:ea typeface="Calibri" pitchFamily="34" charset="-122"/>
                <a:cs typeface="Calibri" pitchFamily="34" charset="-120"/>
              </a:rPr>
              <a:t>Réserve pour aléas de 10 %, consommée notamment par la campagne sécurité</a:t>
            </a:r>
            <a:endParaRPr lang="en-US" sz="1030" dirty="0"/>
          </a:p>
          <a:p>
            <a:pPr marL="342900" indent="-342900">
              <a:lnSpc>
                <a:spcPct val="128000"/>
              </a:lnSpc>
              <a:spcAft>
                <a:spcPts val="600"/>
              </a:spcAft>
              <a:buSzPct val="100000"/>
              <a:buChar char="✦"/>
            </a:pPr>
            <a:r>
              <a:rPr lang="en-US" sz="1030" dirty="0">
                <a:solidFill>
                  <a:srgbClr val="EDE6D6"/>
                </a:solidFill>
                <a:latin typeface="Calibri" pitchFamily="34" charset="0"/>
                <a:ea typeface="Calibri" pitchFamily="34" charset="-122"/>
                <a:cs typeface="Calibri" pitchFamily="34" charset="-120"/>
              </a:rPr>
              <a:t>Charge étalée sur ~18 mois à temps partiel (formation)</a:t>
            </a:r>
            <a:endParaRPr lang="en-US" sz="1030" dirty="0"/>
          </a:p>
        </p:txBody>
      </p:sp>
      <p:sp>
        <p:nvSpPr>
          <p:cNvPr id="11" name="Text 8"/>
          <p:cNvSpPr/>
          <p:nvPr/>
        </p:nvSpPr>
        <p:spPr>
          <a:xfrm>
            <a:off x="6309360" y="3246120"/>
            <a:ext cx="5422392" cy="320040"/>
          </a:xfrm>
          <a:prstGeom prst="rect">
            <a:avLst/>
          </a:prstGeom>
          <a:noFill/>
          <a:ln/>
        </p:spPr>
        <p:txBody>
          <a:bodyPr wrap="square" rtlCol="0" anchor="ctr"/>
          <a:lstStyle/>
          <a:p>
            <a:pPr indent="0" marL="0">
              <a:buNone/>
            </a:pPr>
            <a:r>
              <a:rPr lang="en-US" sz="1250" b="1" dirty="0">
                <a:solidFill>
                  <a:srgbClr val="E8C766"/>
                </a:solidFill>
                <a:latin typeface="Calibri" pitchFamily="34" charset="0"/>
                <a:ea typeface="Calibri" pitchFamily="34" charset="-122"/>
                <a:cs typeface="Calibri" pitchFamily="34" charset="-120"/>
              </a:rPr>
              <a:t>Estimation des coûts &amp; budget prévisionnel</a:t>
            </a:r>
            <a:endParaRPr lang="en-US" sz="125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309360" y="3611880"/>
          <a:ext cx="5422392" cy="2103120"/>
        </p:xfrm>
        <a:graphic>
          <a:graphicData uri="http://schemas.openxmlformats.org/drawingml/2006/table">
            <a:tbl>
              <a:tblPr/>
              <a:tblGrid>
                <a:gridCol w="3566160"/>
                <a:gridCol w="1856232"/>
              </a:tblGrid>
              <a:tr h="420624">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Poste</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Montant</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r>
              <a:tr h="420624">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Développement : 94 j-h × 400 € (TJM)</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37 600 €</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420624">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Infrastructure (VPS + domaine, 2 ans)</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270 €</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420624">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Licences &amp; outillage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0 € (open source)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420624">
                <a:tc>
                  <a:txBody>
                    <a:bodyPr/>
                    <a:lstStyle/>
                    <a:p>
                      <a:pPr indent="0" marL="0">
                        <a:buNone/>
                      </a:pPr>
                      <a:r>
                        <a:rPr lang="en-US" sz="930" b="1" dirty="0">
                          <a:solidFill>
                            <a:srgbClr val="1D1A14"/>
                          </a:solidFill>
                          <a:latin typeface="Calibri" pitchFamily="34" charset="0"/>
                          <a:ea typeface="Calibri" pitchFamily="34" charset="-122"/>
                          <a:cs typeface="Calibri" pitchFamily="34" charset="-120"/>
                        </a:rPr>
                        <a:t>Budget prévisionnel total</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b="1" dirty="0">
                          <a:solidFill>
                            <a:srgbClr val="7A5A08"/>
                          </a:solidFill>
                          <a:latin typeface="Calibri" pitchFamily="34" charset="0"/>
                          <a:ea typeface="Calibri" pitchFamily="34" charset="-122"/>
                          <a:cs typeface="Calibri" pitchFamily="34" charset="-120"/>
                        </a:rPr>
                        <a:t>≈ 38 k€</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13</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14</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ARCHITECTURE LOGICIELLE PROPOSÉE</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100" b="1" dirty="0">
                <a:solidFill>
                  <a:srgbClr val="E8C766"/>
                </a:solidFill>
                <a:latin typeface="Cambria" pitchFamily="34" charset="0"/>
                <a:ea typeface="Cambria" pitchFamily="34" charset="-122"/>
                <a:cs typeface="Cambria" pitchFamily="34" charset="-120"/>
              </a:rPr>
              <a:t>Schéma d'architecture (modèle C4 — niveau conteneurs)</a:t>
            </a:r>
            <a:endParaRPr lang="en-US" sz="2100" dirty="0"/>
          </a:p>
        </p:txBody>
      </p:sp>
      <p:sp>
        <p:nvSpPr>
          <p:cNvPr id="8" name="Shape 6"/>
          <p:cNvSpPr/>
          <p:nvPr/>
        </p:nvSpPr>
        <p:spPr>
          <a:xfrm>
            <a:off x="457200" y="1417320"/>
            <a:ext cx="2286000" cy="1051560"/>
          </a:xfrm>
          <a:prstGeom prst="roundRect">
            <a:avLst>
              <a:gd name="adj" fmla="val 6087"/>
            </a:avLst>
          </a:prstGeom>
          <a:solidFill>
            <a:srgbClr val="F1E9D2"/>
          </a:solidFill>
          <a:ln/>
        </p:spPr>
      </p:sp>
      <p:sp>
        <p:nvSpPr>
          <p:cNvPr id="9" name="Text 7"/>
          <p:cNvSpPr/>
          <p:nvPr/>
        </p:nvSpPr>
        <p:spPr>
          <a:xfrm>
            <a:off x="548640" y="1490472"/>
            <a:ext cx="2103120" cy="365760"/>
          </a:xfrm>
          <a:prstGeom prst="rect">
            <a:avLst/>
          </a:prstGeom>
          <a:noFill/>
          <a:ln/>
        </p:spPr>
        <p:txBody>
          <a:bodyPr wrap="square" rtlCol="0" anchor="ctr"/>
          <a:lstStyle/>
          <a:p>
            <a:pPr algn="ctr" indent="0" marL="0">
              <a:buNone/>
            </a:pPr>
            <a:r>
              <a:rPr lang="en-US" sz="1050" b="1" dirty="0">
                <a:solidFill>
                  <a:srgbClr val="1D1A14"/>
                </a:solidFill>
                <a:latin typeface="Calibri" pitchFamily="34" charset="0"/>
                <a:ea typeface="Calibri" pitchFamily="34" charset="-122"/>
                <a:cs typeface="Calibri" pitchFamily="34" charset="-120"/>
              </a:rPr>
              <a:t>Joueur</a:t>
            </a:r>
            <a:endParaRPr lang="en-US" sz="1050" dirty="0"/>
          </a:p>
        </p:txBody>
      </p:sp>
      <p:sp>
        <p:nvSpPr>
          <p:cNvPr id="10" name="Text 8"/>
          <p:cNvSpPr/>
          <p:nvPr/>
        </p:nvSpPr>
        <p:spPr>
          <a:xfrm>
            <a:off x="548640" y="1856232"/>
            <a:ext cx="2103120" cy="548640"/>
          </a:xfrm>
          <a:prstGeom prst="rect">
            <a:avLst/>
          </a:prstGeom>
          <a:noFill/>
          <a:ln/>
        </p:spPr>
        <p:txBody>
          <a:bodyPr wrap="square" rtlCol="0" anchor="ctr"/>
          <a:lstStyle/>
          <a:p>
            <a:pPr algn="ctr" indent="0" marL="0">
              <a:lnSpc>
                <a:spcPct val="110000"/>
              </a:lnSpc>
              <a:buNone/>
            </a:pPr>
            <a:r>
              <a:rPr lang="en-US" sz="800" dirty="0">
                <a:solidFill>
                  <a:srgbClr val="6B6357"/>
                </a:solidFill>
                <a:latin typeface="Calibri" pitchFamily="34" charset="0"/>
                <a:ea typeface="Calibri" pitchFamily="34" charset="-122"/>
                <a:cs typeface="Calibri" pitchFamily="34" charset="-120"/>
              </a:rPr>
              <a:t>navigateur web</a:t>
            </a:r>
            <a:endParaRPr lang="en-US" sz="800" dirty="0"/>
          </a:p>
        </p:txBody>
      </p:sp>
      <p:sp>
        <p:nvSpPr>
          <p:cNvPr id="11" name="Text 9"/>
          <p:cNvSpPr/>
          <p:nvPr/>
        </p:nvSpPr>
        <p:spPr>
          <a:xfrm>
            <a:off x="2743200" y="1783080"/>
            <a:ext cx="548640" cy="274320"/>
          </a:xfrm>
          <a:prstGeom prst="rect">
            <a:avLst/>
          </a:prstGeom>
          <a:noFill/>
          <a:ln/>
        </p:spPr>
        <p:txBody>
          <a:bodyPr wrap="square" rtlCol="0" anchor="ctr"/>
          <a:lstStyle/>
          <a:p>
            <a:pPr algn="ctr" indent="0" marL="0">
              <a:buNone/>
            </a:pPr>
            <a:r>
              <a:rPr lang="en-US" sz="900" b="1" dirty="0">
                <a:solidFill>
                  <a:srgbClr val="C9A227"/>
                </a:solidFill>
                <a:latin typeface="Calibri" pitchFamily="34" charset="0"/>
                <a:ea typeface="Calibri" pitchFamily="34" charset="-122"/>
                <a:cs typeface="Calibri" pitchFamily="34" charset="-120"/>
              </a:rPr>
              <a:t>→ HTTPS</a:t>
            </a:r>
            <a:endParaRPr lang="en-US" sz="900" dirty="0"/>
          </a:p>
        </p:txBody>
      </p:sp>
      <p:sp>
        <p:nvSpPr>
          <p:cNvPr id="12" name="Shape 10"/>
          <p:cNvSpPr/>
          <p:nvPr/>
        </p:nvSpPr>
        <p:spPr>
          <a:xfrm>
            <a:off x="3291840" y="1417320"/>
            <a:ext cx="2286000" cy="1051560"/>
          </a:xfrm>
          <a:prstGeom prst="roundRect">
            <a:avLst>
              <a:gd name="adj" fmla="val 6087"/>
            </a:avLst>
          </a:prstGeom>
          <a:solidFill>
            <a:srgbClr val="F1E9D2"/>
          </a:solidFill>
          <a:ln/>
        </p:spPr>
      </p:sp>
      <p:sp>
        <p:nvSpPr>
          <p:cNvPr id="13" name="Text 11"/>
          <p:cNvSpPr/>
          <p:nvPr/>
        </p:nvSpPr>
        <p:spPr>
          <a:xfrm>
            <a:off x="3383280" y="1490472"/>
            <a:ext cx="2103120" cy="365760"/>
          </a:xfrm>
          <a:prstGeom prst="rect">
            <a:avLst/>
          </a:prstGeom>
          <a:noFill/>
          <a:ln/>
        </p:spPr>
        <p:txBody>
          <a:bodyPr wrap="square" rtlCol="0" anchor="ctr"/>
          <a:lstStyle/>
          <a:p>
            <a:pPr algn="ctr" indent="0" marL="0">
              <a:buNone/>
            </a:pPr>
            <a:r>
              <a:rPr lang="en-US" sz="1050" b="1" dirty="0">
                <a:solidFill>
                  <a:srgbClr val="1D1A14"/>
                </a:solidFill>
                <a:latin typeface="Calibri" pitchFamily="34" charset="0"/>
                <a:ea typeface="Calibri" pitchFamily="34" charset="-122"/>
                <a:cs typeface="Calibri" pitchFamily="34" charset="-120"/>
              </a:rPr>
              <a:t>Front React 19</a:t>
            </a:r>
            <a:endParaRPr lang="en-US" sz="1050" dirty="0"/>
          </a:p>
        </p:txBody>
      </p:sp>
      <p:sp>
        <p:nvSpPr>
          <p:cNvPr id="14" name="Text 12"/>
          <p:cNvSpPr/>
          <p:nvPr/>
        </p:nvSpPr>
        <p:spPr>
          <a:xfrm>
            <a:off x="3383280" y="1856232"/>
            <a:ext cx="2103120" cy="548640"/>
          </a:xfrm>
          <a:prstGeom prst="rect">
            <a:avLst/>
          </a:prstGeom>
          <a:noFill/>
          <a:ln/>
        </p:spPr>
        <p:txBody>
          <a:bodyPr wrap="square" rtlCol="0" anchor="ctr"/>
          <a:lstStyle/>
          <a:p>
            <a:pPr algn="ctr" indent="0" marL="0">
              <a:lnSpc>
                <a:spcPct val="110000"/>
              </a:lnSpc>
              <a:buNone/>
            </a:pPr>
            <a:r>
              <a:rPr lang="en-US" sz="800" dirty="0">
                <a:solidFill>
                  <a:srgbClr val="6B6357"/>
                </a:solidFill>
                <a:latin typeface="Calibri" pitchFamily="34" charset="0"/>
                <a:ea typeface="Calibri" pitchFamily="34" charset="-122"/>
                <a:cs typeface="Calibri" pitchFamily="34" charset="-120"/>
              </a:rPr>
              <a:t>build statique Nginx · MUI · i18n</a:t>
            </a:r>
            <a:endParaRPr lang="en-US" sz="800" dirty="0"/>
          </a:p>
        </p:txBody>
      </p:sp>
      <p:sp>
        <p:nvSpPr>
          <p:cNvPr id="15" name="Text 13"/>
          <p:cNvSpPr/>
          <p:nvPr/>
        </p:nvSpPr>
        <p:spPr>
          <a:xfrm>
            <a:off x="5486400" y="1783080"/>
            <a:ext cx="640080" cy="274320"/>
          </a:xfrm>
          <a:prstGeom prst="rect">
            <a:avLst/>
          </a:prstGeom>
          <a:noFill/>
          <a:ln/>
        </p:spPr>
        <p:txBody>
          <a:bodyPr wrap="square" lIns="0" rIns="0" rtlCol="0" anchor="ctr"/>
          <a:lstStyle/>
          <a:p>
            <a:pPr algn="ctr" indent="0" marL="0">
              <a:buNone/>
            </a:pPr>
            <a:r>
              <a:rPr lang="en-US" sz="850" b="1" dirty="0">
                <a:solidFill>
                  <a:srgbClr val="C9A227"/>
                </a:solidFill>
                <a:latin typeface="Calibri" pitchFamily="34" charset="0"/>
                <a:ea typeface="Calibri" pitchFamily="34" charset="-122"/>
                <a:cs typeface="Calibri" pitchFamily="34" charset="-120"/>
              </a:rPr>
              <a:t>→ JSON/JWT</a:t>
            </a:r>
            <a:endParaRPr lang="en-US" sz="900" dirty="0"/>
          </a:p>
        </p:txBody>
      </p:sp>
      <p:sp>
        <p:nvSpPr>
          <p:cNvPr id="16" name="Shape 14"/>
          <p:cNvSpPr/>
          <p:nvPr/>
        </p:nvSpPr>
        <p:spPr>
          <a:xfrm>
            <a:off x="6126480" y="1417320"/>
            <a:ext cx="2286000" cy="1051560"/>
          </a:xfrm>
          <a:prstGeom prst="roundRect">
            <a:avLst>
              <a:gd name="adj" fmla="val 6087"/>
            </a:avLst>
          </a:prstGeom>
          <a:solidFill>
            <a:srgbClr val="F1E9D2"/>
          </a:solidFill>
          <a:ln/>
        </p:spPr>
      </p:sp>
      <p:sp>
        <p:nvSpPr>
          <p:cNvPr id="17" name="Text 15"/>
          <p:cNvSpPr/>
          <p:nvPr/>
        </p:nvSpPr>
        <p:spPr>
          <a:xfrm>
            <a:off x="6217920" y="1490472"/>
            <a:ext cx="2103120" cy="365760"/>
          </a:xfrm>
          <a:prstGeom prst="rect">
            <a:avLst/>
          </a:prstGeom>
          <a:noFill/>
          <a:ln/>
        </p:spPr>
        <p:txBody>
          <a:bodyPr wrap="square" rtlCol="0" anchor="ctr"/>
          <a:lstStyle/>
          <a:p>
            <a:pPr algn="ctr" indent="0" marL="0">
              <a:buNone/>
            </a:pPr>
            <a:r>
              <a:rPr lang="en-US" sz="1050" b="1" dirty="0">
                <a:solidFill>
                  <a:srgbClr val="1D1A14"/>
                </a:solidFill>
                <a:latin typeface="Calibri" pitchFamily="34" charset="0"/>
                <a:ea typeface="Calibri" pitchFamily="34" charset="-122"/>
                <a:cs typeface="Calibri" pitchFamily="34" charset="-120"/>
              </a:rPr>
              <a:t>API REST Symfony 7.4</a:t>
            </a:r>
            <a:endParaRPr lang="en-US" sz="1050" dirty="0"/>
          </a:p>
        </p:txBody>
      </p:sp>
      <p:sp>
        <p:nvSpPr>
          <p:cNvPr id="18" name="Text 16"/>
          <p:cNvSpPr/>
          <p:nvPr/>
        </p:nvSpPr>
        <p:spPr>
          <a:xfrm>
            <a:off x="6217920" y="1856232"/>
            <a:ext cx="2103120" cy="548640"/>
          </a:xfrm>
          <a:prstGeom prst="rect">
            <a:avLst/>
          </a:prstGeom>
          <a:noFill/>
          <a:ln/>
        </p:spPr>
        <p:txBody>
          <a:bodyPr wrap="square" rtlCol="0" anchor="ctr"/>
          <a:lstStyle/>
          <a:p>
            <a:pPr algn="ctr" indent="0" marL="0">
              <a:lnSpc>
                <a:spcPct val="110000"/>
              </a:lnSpc>
              <a:buNone/>
            </a:pPr>
            <a:r>
              <a:rPr lang="en-US" sz="800" dirty="0">
                <a:solidFill>
                  <a:srgbClr val="6B6357"/>
                </a:solidFill>
                <a:latin typeface="Calibri" pitchFamily="34" charset="0"/>
                <a:ea typeface="Calibri" pitchFamily="34" charset="-122"/>
                <a:cs typeface="Calibri" pitchFamily="34" charset="-120"/>
              </a:rPr>
              <a:t>Contrôleur → Service → Repository → Entité</a:t>
            </a:r>
            <a:endParaRPr lang="en-US" sz="800" dirty="0"/>
          </a:p>
        </p:txBody>
      </p:sp>
      <p:sp>
        <p:nvSpPr>
          <p:cNvPr id="19" name="Text 17"/>
          <p:cNvSpPr/>
          <p:nvPr/>
        </p:nvSpPr>
        <p:spPr>
          <a:xfrm>
            <a:off x="8412480" y="1783080"/>
            <a:ext cx="548640" cy="274320"/>
          </a:xfrm>
          <a:prstGeom prst="rect">
            <a:avLst/>
          </a:prstGeom>
          <a:noFill/>
          <a:ln/>
        </p:spPr>
        <p:txBody>
          <a:bodyPr wrap="square" rtlCol="0" anchor="ctr"/>
          <a:lstStyle/>
          <a:p>
            <a:pPr algn="ctr" indent="0" marL="0">
              <a:buNone/>
            </a:pPr>
            <a:r>
              <a:rPr lang="en-US" sz="900" b="1" dirty="0">
                <a:solidFill>
                  <a:srgbClr val="C9A227"/>
                </a:solidFill>
                <a:latin typeface="Calibri" pitchFamily="34" charset="0"/>
                <a:ea typeface="Calibri" pitchFamily="34" charset="-122"/>
                <a:cs typeface="Calibri" pitchFamily="34" charset="-120"/>
              </a:rPr>
              <a:t>→</a:t>
            </a:r>
            <a:endParaRPr lang="en-US" sz="900" dirty="0"/>
          </a:p>
        </p:txBody>
      </p:sp>
      <p:sp>
        <p:nvSpPr>
          <p:cNvPr id="20" name="Shape 18"/>
          <p:cNvSpPr/>
          <p:nvPr/>
        </p:nvSpPr>
        <p:spPr>
          <a:xfrm>
            <a:off x="8961120" y="1417320"/>
            <a:ext cx="2286000" cy="1051560"/>
          </a:xfrm>
          <a:prstGeom prst="roundRect">
            <a:avLst>
              <a:gd name="adj" fmla="val 6087"/>
            </a:avLst>
          </a:prstGeom>
          <a:solidFill>
            <a:srgbClr val="F1E9D2"/>
          </a:solidFill>
          <a:ln/>
        </p:spPr>
      </p:sp>
      <p:sp>
        <p:nvSpPr>
          <p:cNvPr id="21" name="Text 19"/>
          <p:cNvSpPr/>
          <p:nvPr/>
        </p:nvSpPr>
        <p:spPr>
          <a:xfrm>
            <a:off x="9052560" y="1490472"/>
            <a:ext cx="2103120" cy="365760"/>
          </a:xfrm>
          <a:prstGeom prst="rect">
            <a:avLst/>
          </a:prstGeom>
          <a:noFill/>
          <a:ln/>
        </p:spPr>
        <p:txBody>
          <a:bodyPr wrap="square" rtlCol="0" anchor="ctr"/>
          <a:lstStyle/>
          <a:p>
            <a:pPr algn="ctr" indent="0" marL="0">
              <a:buNone/>
            </a:pPr>
            <a:r>
              <a:rPr lang="en-US" sz="1050" b="1" dirty="0">
                <a:solidFill>
                  <a:srgbClr val="1D1A14"/>
                </a:solidFill>
                <a:latin typeface="Calibri" pitchFamily="34" charset="0"/>
                <a:ea typeface="Calibri" pitchFamily="34" charset="-122"/>
                <a:cs typeface="Calibri" pitchFamily="34" charset="-120"/>
              </a:rPr>
              <a:t>PostgreSQL 16</a:t>
            </a:r>
            <a:endParaRPr lang="en-US" sz="1050" dirty="0"/>
          </a:p>
        </p:txBody>
      </p:sp>
      <p:sp>
        <p:nvSpPr>
          <p:cNvPr id="22" name="Text 20"/>
          <p:cNvSpPr/>
          <p:nvPr/>
        </p:nvSpPr>
        <p:spPr>
          <a:xfrm>
            <a:off x="9052560" y="1856232"/>
            <a:ext cx="2103120" cy="548640"/>
          </a:xfrm>
          <a:prstGeom prst="rect">
            <a:avLst/>
          </a:prstGeom>
          <a:noFill/>
          <a:ln/>
        </p:spPr>
        <p:txBody>
          <a:bodyPr wrap="square" rtlCol="0" anchor="ctr"/>
          <a:lstStyle/>
          <a:p>
            <a:pPr algn="ctr" indent="0" marL="0">
              <a:lnSpc>
                <a:spcPct val="110000"/>
              </a:lnSpc>
              <a:buNone/>
            </a:pPr>
            <a:r>
              <a:rPr lang="en-US" sz="800" dirty="0">
                <a:solidFill>
                  <a:srgbClr val="6B6357"/>
                </a:solidFill>
                <a:latin typeface="Calibri" pitchFamily="34" charset="0"/>
                <a:ea typeface="Calibri" pitchFamily="34" charset="-122"/>
                <a:cs typeface="Calibri" pitchFamily="34" charset="-120"/>
              </a:rPr>
              <a:t>utilisateurs, routes, compos, cache marché</a:t>
            </a:r>
            <a:endParaRPr lang="en-US" sz="800" dirty="0"/>
          </a:p>
        </p:txBody>
      </p:sp>
      <p:sp>
        <p:nvSpPr>
          <p:cNvPr id="23" name="Shape 21"/>
          <p:cNvSpPr/>
          <p:nvPr/>
        </p:nvSpPr>
        <p:spPr>
          <a:xfrm>
            <a:off x="457200" y="2971800"/>
            <a:ext cx="4206240" cy="960120"/>
          </a:xfrm>
          <a:prstGeom prst="roundRect">
            <a:avLst>
              <a:gd name="adj" fmla="val 6667"/>
            </a:avLst>
          </a:prstGeom>
          <a:solidFill>
            <a:srgbClr val="F1E9D2"/>
          </a:solidFill>
          <a:ln/>
        </p:spPr>
      </p:sp>
      <p:sp>
        <p:nvSpPr>
          <p:cNvPr id="24" name="Text 22"/>
          <p:cNvSpPr/>
          <p:nvPr/>
        </p:nvSpPr>
        <p:spPr>
          <a:xfrm>
            <a:off x="548640" y="3044952"/>
            <a:ext cx="4023360" cy="365760"/>
          </a:xfrm>
          <a:prstGeom prst="rect">
            <a:avLst/>
          </a:prstGeom>
          <a:noFill/>
          <a:ln/>
        </p:spPr>
        <p:txBody>
          <a:bodyPr wrap="square" rtlCol="0" anchor="ctr"/>
          <a:lstStyle/>
          <a:p>
            <a:pPr algn="ctr" indent="0" marL="0">
              <a:buNone/>
            </a:pPr>
            <a:r>
              <a:rPr lang="en-US" sz="1050" b="1" dirty="0">
                <a:solidFill>
                  <a:srgbClr val="1D1A14"/>
                </a:solidFill>
                <a:latin typeface="Calibri" pitchFamily="34" charset="0"/>
                <a:ea typeface="Calibri" pitchFamily="34" charset="-122"/>
                <a:cs typeface="Calibri" pitchFamily="34" charset="-120"/>
              </a:rPr>
              <a:t>API publique Albion Online</a:t>
            </a:r>
            <a:endParaRPr lang="en-US" sz="1050" dirty="0"/>
          </a:p>
        </p:txBody>
      </p:sp>
      <p:sp>
        <p:nvSpPr>
          <p:cNvPr id="25" name="Text 23"/>
          <p:cNvSpPr/>
          <p:nvPr/>
        </p:nvSpPr>
        <p:spPr>
          <a:xfrm>
            <a:off x="548640" y="3410712"/>
            <a:ext cx="4023360" cy="457200"/>
          </a:xfrm>
          <a:prstGeom prst="rect">
            <a:avLst/>
          </a:prstGeom>
          <a:noFill/>
          <a:ln/>
        </p:spPr>
        <p:txBody>
          <a:bodyPr wrap="square" rtlCol="0" anchor="ctr"/>
          <a:lstStyle/>
          <a:p>
            <a:pPr algn="ctr" indent="0" marL="0">
              <a:lnSpc>
                <a:spcPct val="110000"/>
              </a:lnSpc>
              <a:buNone/>
            </a:pPr>
            <a:r>
              <a:rPr lang="en-US" sz="800" dirty="0">
                <a:solidFill>
                  <a:srgbClr val="6B6357"/>
                </a:solidFill>
                <a:latin typeface="Calibri" pitchFamily="34" charset="0"/>
                <a:ea typeface="Calibri" pitchFamily="34" charset="-122"/>
                <a:cs typeface="Calibri" pitchFamily="34" charset="-120"/>
              </a:rPr>
              <a:t>joueurs, guildes, batailles, prix — consommée avec cache local</a:t>
            </a:r>
            <a:endParaRPr lang="en-US" sz="800" dirty="0"/>
          </a:p>
        </p:txBody>
      </p:sp>
      <p:sp>
        <p:nvSpPr>
          <p:cNvPr id="26" name="Text 24"/>
          <p:cNvSpPr/>
          <p:nvPr/>
        </p:nvSpPr>
        <p:spPr>
          <a:xfrm>
            <a:off x="4800600" y="3291840"/>
            <a:ext cx="2743200" cy="457200"/>
          </a:xfrm>
          <a:prstGeom prst="rect">
            <a:avLst/>
          </a:prstGeom>
          <a:noFill/>
          <a:ln/>
        </p:spPr>
        <p:txBody>
          <a:bodyPr wrap="square" rtlCol="0" anchor="ctr"/>
          <a:lstStyle/>
          <a:p>
            <a:pPr algn="ctr" indent="0" marL="0">
              <a:buNone/>
            </a:pPr>
            <a:r>
              <a:rPr lang="en-US" sz="850" b="1" dirty="0">
                <a:solidFill>
                  <a:srgbClr val="C9A227"/>
                </a:solidFill>
                <a:latin typeface="Calibri" pitchFamily="34" charset="0"/>
                <a:ea typeface="Calibri" pitchFamily="34" charset="-122"/>
                <a:cs typeface="Calibri" pitchFamily="34" charset="-120"/>
              </a:rPr>
              <a:t>← appels sortants contrôlés (anti-SSRF, cache)</a:t>
            </a:r>
            <a:endParaRPr lang="en-US" sz="850" dirty="0"/>
          </a:p>
        </p:txBody>
      </p:sp>
      <p:sp>
        <p:nvSpPr>
          <p:cNvPr id="27" name="Shape 25"/>
          <p:cNvSpPr/>
          <p:nvPr/>
        </p:nvSpPr>
        <p:spPr>
          <a:xfrm>
            <a:off x="7680960" y="2971800"/>
            <a:ext cx="4023360" cy="960120"/>
          </a:xfrm>
          <a:prstGeom prst="roundRect">
            <a:avLst>
              <a:gd name="adj" fmla="val 6667"/>
            </a:avLst>
          </a:prstGeom>
          <a:solidFill>
            <a:srgbClr val="F1E9D2"/>
          </a:solidFill>
          <a:ln/>
        </p:spPr>
      </p:sp>
      <p:sp>
        <p:nvSpPr>
          <p:cNvPr id="28" name="Text 26"/>
          <p:cNvSpPr/>
          <p:nvPr/>
        </p:nvSpPr>
        <p:spPr>
          <a:xfrm>
            <a:off x="7772400" y="3044952"/>
            <a:ext cx="3840480" cy="365760"/>
          </a:xfrm>
          <a:prstGeom prst="rect">
            <a:avLst/>
          </a:prstGeom>
          <a:noFill/>
          <a:ln/>
        </p:spPr>
        <p:txBody>
          <a:bodyPr wrap="square" rtlCol="0" anchor="ctr"/>
          <a:lstStyle/>
          <a:p>
            <a:pPr algn="ctr" indent="0" marL="0">
              <a:buNone/>
            </a:pPr>
            <a:r>
              <a:rPr lang="en-US" sz="1050" b="1" dirty="0">
                <a:solidFill>
                  <a:srgbClr val="1D1A14"/>
                </a:solidFill>
                <a:latin typeface="Calibri" pitchFamily="34" charset="0"/>
                <a:ea typeface="Calibri" pitchFamily="34" charset="-122"/>
                <a:cs typeface="Calibri" pitchFamily="34" charset="-120"/>
              </a:rPr>
              <a:t>Supervision</a:t>
            </a:r>
            <a:endParaRPr lang="en-US" sz="1050" dirty="0"/>
          </a:p>
        </p:txBody>
      </p:sp>
      <p:sp>
        <p:nvSpPr>
          <p:cNvPr id="29" name="Text 27"/>
          <p:cNvSpPr/>
          <p:nvPr/>
        </p:nvSpPr>
        <p:spPr>
          <a:xfrm>
            <a:off x="7772400" y="3410712"/>
            <a:ext cx="3840480" cy="457200"/>
          </a:xfrm>
          <a:prstGeom prst="rect">
            <a:avLst/>
          </a:prstGeom>
          <a:noFill/>
          <a:ln/>
        </p:spPr>
        <p:txBody>
          <a:bodyPr wrap="square" rtlCol="0" anchor="ctr"/>
          <a:lstStyle/>
          <a:p>
            <a:pPr algn="ctr" indent="0" marL="0">
              <a:lnSpc>
                <a:spcPct val="110000"/>
              </a:lnSpc>
              <a:buNone/>
            </a:pPr>
            <a:r>
              <a:rPr lang="en-US" sz="800" dirty="0">
                <a:solidFill>
                  <a:srgbClr val="6B6357"/>
                </a:solidFill>
                <a:latin typeface="Calibri" pitchFamily="34" charset="0"/>
                <a:ea typeface="Calibri" pitchFamily="34" charset="-122"/>
                <a:cs typeface="Calibri" pitchFamily="34" charset="-120"/>
              </a:rPr>
              <a:t>sonde externe (UptimeRobot) + sonde cron interne → alertes e-mail</a:t>
            </a:r>
            <a:endParaRPr lang="en-US" sz="800" dirty="0"/>
          </a:p>
        </p:txBody>
      </p:sp>
      <p:sp>
        <p:nvSpPr>
          <p:cNvPr id="30" name="Text 28"/>
          <p:cNvSpPr/>
          <p:nvPr/>
        </p:nvSpPr>
        <p:spPr>
          <a:xfrm>
            <a:off x="457200" y="3977640"/>
            <a:ext cx="5394960" cy="320040"/>
          </a:xfrm>
          <a:prstGeom prst="rect">
            <a:avLst/>
          </a:prstGeom>
          <a:noFill/>
          <a:ln/>
        </p:spPr>
        <p:txBody>
          <a:bodyPr wrap="square" rtlCol="0" anchor="ctr"/>
          <a:lstStyle/>
          <a:p>
            <a:pPr indent="0" marL="0">
              <a:buNone/>
            </a:pPr>
            <a:r>
              <a:rPr lang="en-US" sz="1250" b="1" dirty="0">
                <a:solidFill>
                  <a:srgbClr val="E8C766"/>
                </a:solidFill>
                <a:latin typeface="Calibri" pitchFamily="34" charset="0"/>
                <a:ea typeface="Calibri" pitchFamily="34" charset="-122"/>
                <a:cs typeface="Calibri" pitchFamily="34" charset="-120"/>
              </a:rPr>
              <a:t>Justification de la modélisation</a:t>
            </a:r>
            <a:endParaRPr lang="en-US" sz="1250" dirty="0"/>
          </a:p>
        </p:txBody>
      </p:sp>
      <p:sp>
        <p:nvSpPr>
          <p:cNvPr id="31" name="Text 29"/>
          <p:cNvSpPr/>
          <p:nvPr/>
        </p:nvSpPr>
        <p:spPr>
          <a:xfrm>
            <a:off x="457200" y="4343400"/>
            <a:ext cx="5394960" cy="1005840"/>
          </a:xfrm>
          <a:prstGeom prst="rect">
            <a:avLst/>
          </a:prstGeom>
          <a:noFill/>
          <a:ln/>
        </p:spPr>
        <p:txBody>
          <a:bodyPr wrap="square" rtlCol="0" anchor="ctr"/>
          <a:lstStyle/>
          <a:p>
            <a:pPr indent="0" marL="0">
              <a:lnSpc>
                <a:spcPct val="125000"/>
              </a:lnSpc>
              <a:buNone/>
            </a:pPr>
            <a:r>
              <a:rPr lang="en-US" sz="1050" dirty="0">
                <a:solidFill>
                  <a:srgbClr val="EDE6D6"/>
                </a:solidFill>
                <a:latin typeface="Calibri" pitchFamily="34" charset="0"/>
                <a:ea typeface="Calibri" pitchFamily="34" charset="-122"/>
                <a:cs typeface="Calibri" pitchFamily="34" charset="-120"/>
              </a:rPr>
              <a:t>C4 retenu (vs UML complet) : lisible par le commanditaire non technicien au niveau contexte, précis pour l'équipe au niveau conteneurs/composants — adapté à un cadrage à double audience.</a:t>
            </a:r>
            <a:endParaRPr lang="en-US" sz="1050" dirty="0"/>
          </a:p>
        </p:txBody>
      </p:sp>
      <p:sp>
        <p:nvSpPr>
          <p:cNvPr id="32" name="Text 30"/>
          <p:cNvSpPr/>
          <p:nvPr/>
        </p:nvSpPr>
        <p:spPr>
          <a:xfrm>
            <a:off x="6309360" y="3977640"/>
            <a:ext cx="5422392" cy="320040"/>
          </a:xfrm>
          <a:prstGeom prst="rect">
            <a:avLst/>
          </a:prstGeom>
          <a:noFill/>
          <a:ln/>
        </p:spPr>
        <p:txBody>
          <a:bodyPr wrap="square" rtlCol="0" anchor="ctr"/>
          <a:lstStyle/>
          <a:p>
            <a:pPr indent="0" marL="0">
              <a:buNone/>
            </a:pPr>
            <a:r>
              <a:rPr lang="en-US" sz="1250" b="1" dirty="0">
                <a:solidFill>
                  <a:srgbClr val="E8C766"/>
                </a:solidFill>
                <a:latin typeface="Calibri" pitchFamily="34" charset="0"/>
                <a:ea typeface="Calibri" pitchFamily="34" charset="-122"/>
                <a:cs typeface="Calibri" pitchFamily="34" charset="-120"/>
              </a:rPr>
              <a:t>Propriétés visées</a:t>
            </a:r>
            <a:endParaRPr lang="en-US" sz="1250" dirty="0"/>
          </a:p>
        </p:txBody>
      </p:sp>
      <p:sp>
        <p:nvSpPr>
          <p:cNvPr id="33" name="Text 31"/>
          <p:cNvSpPr/>
          <p:nvPr/>
        </p:nvSpPr>
        <p:spPr>
          <a:xfrm>
            <a:off x="6309360" y="4343400"/>
            <a:ext cx="5422392" cy="1828800"/>
          </a:xfrm>
          <a:prstGeom prst="rect">
            <a:avLst/>
          </a:prstGeom>
          <a:noFill/>
          <a:ln/>
        </p:spPr>
        <p:txBody>
          <a:bodyPr wrap="square" rtlCol="0" anchor="t"/>
          <a:lstStyle/>
          <a:p>
            <a:pPr marL="342900" indent="-342900">
              <a:lnSpc>
                <a:spcPct val="128000"/>
              </a:lnSpc>
              <a:spcAft>
                <a:spcPts val="600"/>
              </a:spcAft>
              <a:buSzPct val="100000"/>
              <a:buChar char="✦"/>
            </a:pPr>
            <a:r>
              <a:rPr lang="en-US" sz="980" dirty="0">
                <a:solidFill>
                  <a:srgbClr val="EDE6D6"/>
                </a:solidFill>
                <a:latin typeface="Calibri" pitchFamily="34" charset="0"/>
                <a:ea typeface="Calibri" pitchFamily="34" charset="-122"/>
                <a:cs typeface="Calibri" pitchFamily="34" charset="-120"/>
              </a:rPr>
              <a:t>Maintenable : couches strictes, conventions du framework</a:t>
            </a:r>
            <a:endParaRPr lang="en-US" sz="980" dirty="0"/>
          </a:p>
          <a:p>
            <a:pPr marL="342900" indent="-342900">
              <a:lnSpc>
                <a:spcPct val="128000"/>
              </a:lnSpc>
              <a:spcAft>
                <a:spcPts val="600"/>
              </a:spcAft>
              <a:buSzPct val="100000"/>
              <a:buChar char="✦"/>
            </a:pPr>
            <a:r>
              <a:rPr lang="en-US" sz="980" dirty="0">
                <a:solidFill>
                  <a:srgbClr val="EDE6D6"/>
                </a:solidFill>
                <a:latin typeface="Calibri" pitchFamily="34" charset="0"/>
                <a:ea typeface="Calibri" pitchFamily="34" charset="-122"/>
                <a:cs typeface="Calibri" pitchFamily="34" charset="-120"/>
              </a:rPr>
              <a:t>Sécurisée : API sans état, JWT httpOnly, ORM, appels sortants verrouillés</a:t>
            </a:r>
            <a:endParaRPr lang="en-US" sz="980" dirty="0"/>
          </a:p>
          <a:p>
            <a:pPr marL="342900" indent="-342900">
              <a:lnSpc>
                <a:spcPct val="128000"/>
              </a:lnSpc>
              <a:spcAft>
                <a:spcPts val="600"/>
              </a:spcAft>
              <a:buSzPct val="100000"/>
              <a:buChar char="✦"/>
            </a:pPr>
            <a:r>
              <a:rPr lang="en-US" sz="980" dirty="0">
                <a:solidFill>
                  <a:srgbClr val="EDE6D6"/>
                </a:solidFill>
                <a:latin typeface="Calibri" pitchFamily="34" charset="0"/>
                <a:ea typeface="Calibri" pitchFamily="34" charset="-122"/>
                <a:cs typeface="Calibri" pitchFamily="34" charset="-120"/>
              </a:rPr>
              <a:t>Extensible : nouvelles fonctions sans refonte (prouvé : multi-serveur en 2 semaines)</a:t>
            </a:r>
            <a:endParaRPr lang="en-US" sz="980" dirty="0"/>
          </a:p>
          <a:p>
            <a:pPr marL="342900" indent="-342900">
              <a:lnSpc>
                <a:spcPct val="128000"/>
              </a:lnSpc>
              <a:spcAft>
                <a:spcPts val="600"/>
              </a:spcAft>
              <a:buSzPct val="100000"/>
              <a:buChar char="✦"/>
            </a:pPr>
            <a:r>
              <a:rPr lang="en-US" sz="980" dirty="0">
                <a:solidFill>
                  <a:srgbClr val="EDE6D6"/>
                </a:solidFill>
                <a:latin typeface="Calibri" pitchFamily="34" charset="0"/>
                <a:ea typeface="Calibri" pitchFamily="34" charset="-122"/>
                <a:cs typeface="Calibri" pitchFamily="34" charset="-120"/>
              </a:rPr>
              <a:t>Sobre : cache des données du jeu, build statique, un seul VPS</a:t>
            </a:r>
            <a:endParaRPr lang="en-US" sz="9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14</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15</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PRÉCONISATIONS AU CLIENT — C1.6 ÉLIMINATOIRE</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300" b="1" dirty="0">
                <a:solidFill>
                  <a:srgbClr val="E8C766"/>
                </a:solidFill>
                <a:latin typeface="Cambria" pitchFamily="34" charset="0"/>
                <a:ea typeface="Cambria" pitchFamily="34" charset="-122"/>
                <a:cs typeface="Cambria" pitchFamily="34" charset="-120"/>
              </a:rPr>
              <a:t>Axes de solutions préconisés — l'argumentaire</a:t>
            </a:r>
            <a:endParaRPr lang="en-US" sz="2300" dirty="0"/>
          </a:p>
        </p:txBody>
      </p:sp>
      <p:sp>
        <p:nvSpPr>
          <p:cNvPr id="8" name="Shape 6"/>
          <p:cNvSpPr/>
          <p:nvPr/>
        </p:nvSpPr>
        <p:spPr>
          <a:xfrm>
            <a:off x="457200" y="1371600"/>
            <a:ext cx="5623560" cy="4846320"/>
          </a:xfrm>
          <a:prstGeom prst="roundRect">
            <a:avLst>
              <a:gd name="adj" fmla="val 1321"/>
            </a:avLst>
          </a:prstGeom>
          <a:solidFill>
            <a:srgbClr val="F1E9D2"/>
          </a:solidFill>
          <a:ln/>
          <a:effectLst>
            <a:outerShdw sx="100000" sy="100000" kx="0" ky="0" algn="bl" rotWithShape="0" blurRad="76200" dist="38100" dir="5400000">
              <a:srgbClr val="000000">
                <a:alpha val="35000"/>
              </a:srgbClr>
            </a:outerShdw>
          </a:effectLst>
        </p:spPr>
      </p:sp>
      <p:sp>
        <p:nvSpPr>
          <p:cNvPr id="9" name="Text 7"/>
          <p:cNvSpPr/>
          <p:nvPr/>
        </p:nvSpPr>
        <p:spPr>
          <a:xfrm>
            <a:off x="685800" y="1508760"/>
            <a:ext cx="5212080" cy="320040"/>
          </a:xfrm>
          <a:prstGeom prst="rect">
            <a:avLst/>
          </a:prstGeom>
          <a:noFill/>
          <a:ln/>
        </p:spPr>
        <p:txBody>
          <a:bodyPr wrap="square" rtlCol="0" anchor="ctr"/>
          <a:lstStyle/>
          <a:p>
            <a:pPr indent="0" marL="0">
              <a:buNone/>
            </a:pPr>
            <a:r>
              <a:rPr lang="en-US" sz="1250" b="1" dirty="0">
                <a:solidFill>
                  <a:srgbClr val="1D1A14"/>
                </a:solidFill>
                <a:latin typeface="Calibri" pitchFamily="34" charset="0"/>
                <a:ea typeface="Calibri" pitchFamily="34" charset="-122"/>
                <a:cs typeface="Calibri" pitchFamily="34" charset="-120"/>
              </a:rPr>
              <a:t>Ce que je préconise (discours commanditaire)</a:t>
            </a:r>
            <a:endParaRPr lang="en-US" sz="1250" dirty="0"/>
          </a:p>
        </p:txBody>
      </p:sp>
      <p:sp>
        <p:nvSpPr>
          <p:cNvPr id="10" name="Text 8"/>
          <p:cNvSpPr/>
          <p:nvPr/>
        </p:nvSpPr>
        <p:spPr>
          <a:xfrm>
            <a:off x="685800" y="1874520"/>
            <a:ext cx="5212080" cy="4206240"/>
          </a:xfrm>
          <a:prstGeom prst="rect">
            <a:avLst/>
          </a:prstGeom>
          <a:noFill/>
          <a:ln/>
        </p:spPr>
        <p:txBody>
          <a:bodyPr wrap="square" rtlCol="0" anchor="t"/>
          <a:lstStyle/>
          <a:p>
            <a:pPr indent="0" marL="0">
              <a:lnSpc>
                <a:spcPct val="122000"/>
              </a:lnSpc>
              <a:buNone/>
            </a:pPr>
            <a:r>
              <a:rPr lang="en-US" sz="1030" dirty="0">
                <a:solidFill>
                  <a:srgbClr val="1D1A14"/>
                </a:solidFill>
                <a:latin typeface="Calibri" pitchFamily="34" charset="0"/>
                <a:ea typeface="Calibri" pitchFamily="34" charset="-122"/>
                <a:cs typeface="Calibri" pitchFamily="34" charset="-120"/>
              </a:rPr>
              <a:t>« Je vous recommande une </a:t>
            </a:r>
            <a:pPr indent="0" marL="0">
              <a:lnSpc>
                <a:spcPct val="122000"/>
              </a:lnSpc>
              <a:buNone/>
            </a:pPr>
            <a:r>
              <a:rPr lang="en-US" sz="1030" b="1" dirty="0">
                <a:solidFill>
                  <a:srgbClr val="1D1A14"/>
                </a:solidFill>
                <a:latin typeface="Calibri" pitchFamily="34" charset="0"/>
                <a:ea typeface="Calibri" pitchFamily="34" charset="-122"/>
                <a:cs typeface="Calibri" pitchFamily="34" charset="-120"/>
              </a:rPr>
              <a:t>application web sur mesure</a:t>
            </a:r>
            <a:pPr indent="0" marL="0">
              <a:lnSpc>
                <a:spcPct val="122000"/>
              </a:lnSpc>
              <a:buNone/>
            </a:pPr>
            <a:r>
              <a:rPr lang="en-US" sz="1030" dirty="0">
                <a:solidFill>
                  <a:srgbClr val="1D1A14"/>
                </a:solidFill>
                <a:latin typeface="Calibri" pitchFamily="34" charset="0"/>
                <a:ea typeface="Calibri" pitchFamily="34" charset="-122"/>
                <a:cs typeface="Calibri" pitchFamily="34" charset="-120"/>
              </a:rPr>
              <a:t>, accessible sans installation depuis n'importe quel navigateur, construite en trois temps :</a:t>
            </a:r>
            <a:pPr indent="0" marL="0">
              <a:lnSpc>
                <a:spcPct val="122000"/>
              </a:lnSpc>
              <a:buNone/>
            </a:pPr>
            <a:endParaRPr lang="en-US" sz="1030" dirty="0"/>
          </a:p>
          <a:p>
            <a:pPr indent="0" marL="0">
              <a:lnSpc>
                <a:spcPct val="122000"/>
              </a:lnSpc>
              <a:buNone/>
            </a:pPr>
            <a:r>
              <a:rPr lang="en-US" sz="1030" b="1" dirty="0">
                <a:solidFill>
                  <a:srgbClr val="1D1A14"/>
                </a:solidFill>
                <a:latin typeface="Calibri" pitchFamily="34" charset="0"/>
                <a:ea typeface="Calibri" pitchFamily="34" charset="-122"/>
                <a:cs typeface="Calibri" pitchFamily="34" charset="-120"/>
              </a:rPr>
              <a:t>① D'abord l'essentiel</a:t>
            </a:r>
            <a:endParaRPr lang="en-US" sz="1030" dirty="0"/>
          </a:p>
          <a:p>
            <a:pPr indent="0" marL="0">
              <a:lnSpc>
                <a:spcPct val="122000"/>
              </a:lnSpc>
              <a:buNone/>
            </a:pPr>
            <a:r>
              <a:rPr lang="en-US" sz="1030" dirty="0">
                <a:solidFill>
                  <a:srgbClr val="1D1A14"/>
                </a:solidFill>
                <a:latin typeface="Calibri" pitchFamily="34" charset="0"/>
                <a:ea typeface="Calibri" pitchFamily="34" charset="-122"/>
                <a:cs typeface="Calibri" pitchFamily="34" charset="-120"/>
              </a:rPr>
              <a:t>Retrouver en un seul endroit, dans votre langue, ce que vous cherchez aujourd'hui sur quatre sites : joueurs, guildes, batailles, carte.</a:t>
            </a:r>
            <a:endParaRPr lang="en-US" sz="1030" dirty="0"/>
          </a:p>
          <a:p>
            <a:pPr indent="0" marL="0">
              <a:lnSpc>
                <a:spcPct val="122000"/>
              </a:lnSpc>
              <a:buNone/>
            </a:pPr>
            <a:endParaRPr lang="en-US" sz="1030" dirty="0"/>
          </a:p>
          <a:p>
            <a:pPr indent="0" marL="0">
              <a:lnSpc>
                <a:spcPct val="122000"/>
              </a:lnSpc>
              <a:buNone/>
            </a:pPr>
            <a:r>
              <a:rPr lang="en-US" sz="1030" b="1" dirty="0">
                <a:solidFill>
                  <a:srgbClr val="1D1A14"/>
                </a:solidFill>
                <a:latin typeface="Calibri" pitchFamily="34" charset="0"/>
                <a:ea typeface="Calibri" pitchFamily="34" charset="-122"/>
                <a:cs typeface="Calibri" pitchFamily="34" charset="-120"/>
              </a:rPr>
              <a:t>② Ensuite ce qui n'existe nulle part</a:t>
            </a:r>
            <a:endParaRPr lang="en-US" sz="1030" dirty="0"/>
          </a:p>
          <a:p>
            <a:pPr indent="0" marL="0">
              <a:lnSpc>
                <a:spcPct val="122000"/>
              </a:lnSpc>
              <a:buNone/>
            </a:pPr>
            <a:r>
              <a:rPr lang="en-US" sz="1030" dirty="0">
                <a:solidFill>
                  <a:srgbClr val="1D1A14"/>
                </a:solidFill>
                <a:latin typeface="Calibri" pitchFamily="34" charset="0"/>
                <a:ea typeface="Calibri" pitchFamily="34" charset="-122"/>
                <a:cs typeface="Calibri" pitchFamily="34" charset="-120"/>
              </a:rPr>
              <a:t>Partager un itinéraire ou une composition d'équipe par un simple lien, même à un joueur sans compte.</a:t>
            </a:r>
            <a:endParaRPr lang="en-US" sz="1030" dirty="0"/>
          </a:p>
          <a:p>
            <a:pPr indent="0" marL="0">
              <a:lnSpc>
                <a:spcPct val="122000"/>
              </a:lnSpc>
              <a:buNone/>
            </a:pPr>
            <a:endParaRPr lang="en-US" sz="1030" dirty="0"/>
          </a:p>
          <a:p>
            <a:pPr indent="0" marL="0">
              <a:lnSpc>
                <a:spcPct val="122000"/>
              </a:lnSpc>
              <a:buNone/>
            </a:pPr>
            <a:r>
              <a:rPr lang="en-US" sz="1030" b="1" dirty="0">
                <a:solidFill>
                  <a:srgbClr val="1D1A14"/>
                </a:solidFill>
                <a:latin typeface="Calibri" pitchFamily="34" charset="0"/>
                <a:ea typeface="Calibri" pitchFamily="34" charset="-122"/>
                <a:cs typeface="Calibri" pitchFamily="34" charset="-120"/>
              </a:rPr>
              <a:t>③ Enfin l'autonomie</a:t>
            </a:r>
            <a:endParaRPr lang="en-US" sz="1030" dirty="0"/>
          </a:p>
          <a:p>
            <a:pPr indent="0" marL="0">
              <a:lnSpc>
                <a:spcPct val="122000"/>
              </a:lnSpc>
              <a:buNone/>
            </a:pPr>
            <a:r>
              <a:rPr lang="en-US" sz="1030" dirty="0">
                <a:solidFill>
                  <a:srgbClr val="1D1A14"/>
                </a:solidFill>
                <a:latin typeface="Calibri" pitchFamily="34" charset="0"/>
                <a:ea typeface="Calibri" pitchFamily="34" charset="-122"/>
                <a:cs typeface="Calibri" pitchFamily="34" charset="-120"/>
              </a:rPr>
              <a:t>Un espace d'administration pour gérer vous-mêmes les membres et les langues, sans dépendre d'un développeur. »</a:t>
            </a:r>
            <a:endParaRPr lang="en-US" sz="1030" dirty="0"/>
          </a:p>
        </p:txBody>
      </p:sp>
      <p:sp>
        <p:nvSpPr>
          <p:cNvPr id="11" name="Text 9"/>
          <p:cNvSpPr/>
          <p:nvPr/>
        </p:nvSpPr>
        <p:spPr>
          <a:xfrm>
            <a:off x="6309360" y="1371600"/>
            <a:ext cx="5422392" cy="320040"/>
          </a:xfrm>
          <a:prstGeom prst="rect">
            <a:avLst/>
          </a:prstGeom>
          <a:noFill/>
          <a:ln/>
        </p:spPr>
        <p:txBody>
          <a:bodyPr wrap="square" rtlCol="0" anchor="ctr"/>
          <a:lstStyle/>
          <a:p>
            <a:pPr indent="0" marL="0">
              <a:buNone/>
            </a:pPr>
            <a:r>
              <a:rPr lang="en-US" sz="1250" b="1" dirty="0">
                <a:solidFill>
                  <a:srgbClr val="E8C766"/>
                </a:solidFill>
                <a:latin typeface="Calibri" pitchFamily="34" charset="0"/>
                <a:ea typeface="Calibri" pitchFamily="34" charset="-122"/>
                <a:cs typeface="Calibri" pitchFamily="34" charset="-120"/>
              </a:rPr>
              <a:t>Objections anticipées et réponses</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309360" y="1737360"/>
          <a:ext cx="5422392" cy="4480560"/>
        </p:xfrm>
        <a:graphic>
          <a:graphicData uri="http://schemas.openxmlformats.org/drawingml/2006/table">
            <a:tbl>
              <a:tblPr/>
              <a:tblGrid>
                <a:gridCol w="2103120"/>
                <a:gridCol w="3319272"/>
              </a:tblGrid>
              <a:tr h="896112">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Objection</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c>
                  <a:txBody>
                    <a:bodyPr/>
                    <a:lstStyle/>
                    <a:p>
                      <a:pPr indent="0" marL="0">
                        <a:buNone/>
                      </a:pPr>
                      <a:r>
                        <a:rPr lang="en-US" sz="1000" b="1" dirty="0">
                          <a:solidFill>
                            <a:srgbClr val="1D1A14"/>
                          </a:solidFill>
                          <a:latin typeface="Calibri" pitchFamily="34" charset="0"/>
                          <a:ea typeface="Calibri" pitchFamily="34" charset="-122"/>
                          <a:cs typeface="Calibri" pitchFamily="34" charset="-120"/>
                        </a:rPr>
                        <a:t>Réponse</a:t>
                      </a:r>
                      <a:endParaRPr lang="en-US" sz="100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E9DFC4"/>
                    </a:solidFill>
                  </a:tcPr>
                </a:tc>
              </a:tr>
              <a:tr h="896112">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 Et si le site du jeu coupe ses données ? »</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Les données sont mises en réserve chez nous : l'outil continue d'afficher les dernières informations connues et vous prévient</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896112">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 Combien ça coûte à faire vivre ? »</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~135 €/an d'hébergement — le reste est automatisé (mises à jour surveillées, alertes en cas de panne)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896112">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 Nos comptes sont-ils en sécurité ? »</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Revue OWASP à chaque livraison, mots de passe chiffrés, jetons en cookies httpOnly, accès admin cloisonné</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r h="896112">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 Pourquoi pas une appli mobile ? »</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c>
                  <a:txBody>
                    <a:bodyPr/>
                    <a:lstStyle/>
                    <a:p>
                      <a:pPr indent="0" marL="0">
                        <a:buNone/>
                      </a:pPr>
                      <a:r>
                        <a:rPr lang="en-US" sz="930" dirty="0">
                          <a:solidFill>
                            <a:srgbClr val="1D1A14"/>
                          </a:solidFill>
                          <a:latin typeface="Calibri" pitchFamily="34" charset="0"/>
                          <a:ea typeface="Calibri" pitchFamily="34" charset="-122"/>
                          <a:cs typeface="Calibri" pitchFamily="34" charset="-120"/>
                        </a:rPr>
                        <a:t>Le site s'adapte déjà au mobile ; une appli native reste possible plus tard, toutes les données passent par une interface réutilisable</a:t>
                      </a:r>
                      <a:endParaRPr lang="en-US" sz="930" dirty="0">
                        <a:latin typeface="Calibri" charset="0"/>
                        <a:ea typeface="Calibri" charset="0"/>
                        <a:cs typeface="Calibri" charset="0"/>
                      </a:endParaRPr>
                    </a:p>
                  </a:txBody>
                  <a:tcPr marL="91440" marR="91440" marT="45720" marB="45720" anchor="t">
                    <a:lnL w="9525" cap="flat" cmpd="sng" algn="ctr">
                      <a:solidFill>
                        <a:srgbClr val="D8CDA8"/>
                      </a:solidFill>
                      <a:prstDash val="solid"/>
                      <a:round/>
                      <a:headEnd type="none" w="med" len="med"/>
                      <a:tailEnd type="none" w="med" len="med"/>
                    </a:lnL>
                    <a:lnR w="9525" cap="flat" cmpd="sng" algn="ctr">
                      <a:solidFill>
                        <a:srgbClr val="D8CDA8"/>
                      </a:solidFill>
                      <a:prstDash val="solid"/>
                      <a:round/>
                      <a:headEnd type="none" w="med" len="med"/>
                      <a:tailEnd type="none" w="med" len="med"/>
                    </a:lnR>
                    <a:lnT w="9525" cap="flat" cmpd="sng" algn="ctr">
                      <a:solidFill>
                        <a:srgbClr val="D8CDA8"/>
                      </a:solidFill>
                      <a:prstDash val="solid"/>
                      <a:round/>
                      <a:headEnd type="none" w="med" len="med"/>
                      <a:tailEnd type="none" w="med" len="med"/>
                    </a:lnT>
                    <a:lnB w="9525" cap="flat" cmpd="sng" algn="ctr">
                      <a:solidFill>
                        <a:srgbClr val="D8CDA8"/>
                      </a:solidFill>
                      <a:prstDash val="solid"/>
                      <a:round/>
                      <a:headEnd type="none" w="med" len="med"/>
                      <a:tailEnd type="none" w="med" len="med"/>
                    </a:lnB>
                    <a:solidFill>
                      <a:srgbClr val="F1E9D2"/>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15</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9326880" y="4846320"/>
            <a:ext cx="4572000" cy="4572000"/>
          </a:xfrm>
          <a:prstGeom prst="ellipse">
            <a:avLst/>
          </a:prstGeom>
          <a:solidFill>
            <a:srgbClr val="241F17"/>
          </a:solidFill>
          <a:ln/>
        </p:spPr>
      </p:sp>
      <p:sp>
        <p:nvSpPr>
          <p:cNvPr id="5" name="Shape 3"/>
          <p:cNvSpPr/>
          <p:nvPr/>
        </p:nvSpPr>
        <p:spPr>
          <a:xfrm>
            <a:off x="457200" y="384048"/>
            <a:ext cx="502920" cy="502920"/>
          </a:xfrm>
          <a:prstGeom prst="ellipse">
            <a:avLst/>
          </a:prstGeom>
          <a:solidFill>
            <a:srgbClr val="C9A227"/>
          </a:solidFill>
          <a:ln/>
        </p:spPr>
      </p:sp>
      <p:sp>
        <p:nvSpPr>
          <p:cNvPr id="6" name="Text 4"/>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CONCLUSION</a:t>
            </a:r>
            <a:endParaRPr lang="en-US" sz="1100" dirty="0"/>
          </a:p>
        </p:txBody>
      </p:sp>
      <p:sp>
        <p:nvSpPr>
          <p:cNvPr id="8" name="Text 6"/>
          <p:cNvSpPr/>
          <p:nvPr/>
        </p:nvSpPr>
        <p:spPr>
          <a:xfrm>
            <a:off x="1097280" y="603504"/>
            <a:ext cx="10637215" cy="530352"/>
          </a:xfrm>
          <a:prstGeom prst="rect">
            <a:avLst/>
          </a:prstGeom>
          <a:noFill/>
          <a:ln/>
        </p:spPr>
        <p:txBody>
          <a:bodyPr wrap="square" rtlCol="0" anchor="ctr"/>
          <a:lstStyle/>
          <a:p>
            <a:pPr indent="0" marL="0">
              <a:buNone/>
            </a:pPr>
            <a:r>
              <a:rPr lang="en-US" sz="2700" b="1" dirty="0">
                <a:solidFill>
                  <a:srgbClr val="E8C766"/>
                </a:solidFill>
                <a:latin typeface="Cambria" pitchFamily="34" charset="0"/>
                <a:ea typeface="Cambria" pitchFamily="34" charset="-122"/>
                <a:cs typeface="Cambria" pitchFamily="34" charset="-120"/>
              </a:rPr>
              <a:t>Un cadrage qui s'est vérifié dans les faits</a:t>
            </a:r>
            <a:endParaRPr lang="en-US" sz="2700" dirty="0"/>
          </a:p>
        </p:txBody>
      </p:sp>
      <p:sp>
        <p:nvSpPr>
          <p:cNvPr id="9" name="Text 7"/>
          <p:cNvSpPr/>
          <p:nvPr/>
        </p:nvSpPr>
        <p:spPr>
          <a:xfrm>
            <a:off x="640080" y="1508760"/>
            <a:ext cx="10881360" cy="2468880"/>
          </a:xfrm>
          <a:prstGeom prst="rect">
            <a:avLst/>
          </a:prstGeom>
          <a:noFill/>
          <a:ln/>
        </p:spPr>
        <p:txBody>
          <a:bodyPr wrap="square" rtlCol="0" anchor="t"/>
          <a:lstStyle/>
          <a:p>
            <a:pPr marL="342900" indent="-342900">
              <a:lnSpc>
                <a:spcPct val="140000"/>
              </a:lnSpc>
              <a:spcAft>
                <a:spcPts val="1200"/>
              </a:spcAft>
              <a:buSzPct val="100000"/>
              <a:buChar char="✦"/>
            </a:pPr>
            <a:r>
              <a:rPr lang="en-US" sz="1400" dirty="0">
                <a:solidFill>
                  <a:srgbClr val="EDE6D6"/>
                </a:solidFill>
                <a:latin typeface="Calibri" pitchFamily="34" charset="0"/>
                <a:ea typeface="Calibri" pitchFamily="34" charset="-122"/>
                <a:cs typeface="Calibri" pitchFamily="34" charset="-120"/>
              </a:rPr>
              <a:t>Le périmètre Must/Should cadré a été intégralement livré (29 scénarios de recette, 100 % PASS) — le cadrage était réaliste</a:t>
            </a:r>
            <a:endParaRPr lang="en-US" sz="1400" dirty="0"/>
          </a:p>
          <a:p>
            <a:pPr marL="342900" indent="-342900">
              <a:lnSpc>
                <a:spcPct val="140000"/>
              </a:lnSpc>
              <a:spcAft>
                <a:spcPts val="1200"/>
              </a:spcAft>
              <a:buSzPct val="100000"/>
              <a:buChar char="✦"/>
            </a:pPr>
            <a:r>
              <a:rPr lang="en-US" sz="1400" dirty="0">
                <a:solidFill>
                  <a:srgbClr val="EDE6D6"/>
                </a:solidFill>
                <a:latin typeface="Calibri" pitchFamily="34" charset="0"/>
                <a:ea typeface="Calibri" pitchFamily="34" charset="-122"/>
                <a:cs typeface="Calibri" pitchFamily="34" charset="-120"/>
              </a:rPr>
              <a:t>Les risques identifiés au cadrage se sont produits (prix manquants sur l'API, vulnérabilités de dépendances, un incident réel de supervision) et les mesures prévues les ont absorbés</a:t>
            </a:r>
            <a:endParaRPr lang="en-US" sz="1400" dirty="0"/>
          </a:p>
          <a:p>
            <a:pPr marL="342900" indent="-342900">
              <a:lnSpc>
                <a:spcPct val="140000"/>
              </a:lnSpc>
              <a:spcAft>
                <a:spcPts val="1200"/>
              </a:spcAft>
              <a:buSzPct val="100000"/>
              <a:buChar char="✦"/>
            </a:pPr>
            <a:r>
              <a:rPr lang="en-US" sz="1400" dirty="0">
                <a:solidFill>
                  <a:srgbClr val="EDE6D6"/>
                </a:solidFill>
                <a:latin typeface="Calibri" pitchFamily="34" charset="0"/>
                <a:ea typeface="Calibri" pitchFamily="34" charset="-122"/>
                <a:cs typeface="Calibri" pitchFamily="34" charset="-120"/>
              </a:rPr>
              <a:t>Le budget est tenu : charge cohérente avec les 85→94 j-h estimés, 135 €/an d'infrastructure</a:t>
            </a:r>
            <a:endParaRPr lang="en-US" sz="1400" dirty="0"/>
          </a:p>
          <a:p>
            <a:pPr marL="342900" indent="-342900">
              <a:lnSpc>
                <a:spcPct val="140000"/>
              </a:lnSpc>
              <a:spcAft>
                <a:spcPts val="1200"/>
              </a:spcAft>
              <a:buSzPct val="100000"/>
              <a:buChar char="✦"/>
            </a:pPr>
            <a:r>
              <a:rPr lang="en-US" sz="1400" dirty="0">
                <a:solidFill>
                  <a:srgbClr val="EDE6D6"/>
                </a:solidFill>
                <a:latin typeface="Calibri" pitchFamily="34" charset="0"/>
                <a:ea typeface="Calibri" pitchFamily="34" charset="-122"/>
                <a:cs typeface="Calibri" pitchFamily="34" charset="-120"/>
              </a:rPr>
              <a:t>L'architecture a prouvé son extensibilité : multi-serveur et 20 langues ajoutés sans refonte</a:t>
            </a:r>
            <a:endParaRPr lang="en-US" sz="1400" dirty="0"/>
          </a:p>
        </p:txBody>
      </p:sp>
      <p:sp>
        <p:nvSpPr>
          <p:cNvPr id="10" name="Shape 8"/>
          <p:cNvSpPr/>
          <p:nvPr/>
        </p:nvSpPr>
        <p:spPr>
          <a:xfrm>
            <a:off x="640080" y="4114800"/>
            <a:ext cx="10881360" cy="1234440"/>
          </a:xfrm>
          <a:prstGeom prst="roundRect">
            <a:avLst>
              <a:gd name="adj" fmla="val 5185"/>
            </a:avLst>
          </a:prstGeom>
          <a:solidFill>
            <a:srgbClr val="F1E9D2"/>
          </a:solidFill>
          <a:ln/>
          <a:effectLst>
            <a:outerShdw sx="100000" sy="100000" kx="0" ky="0" algn="bl" rotWithShape="0" blurRad="76200" dist="38100" dir="5400000">
              <a:srgbClr val="000000">
                <a:alpha val="35000"/>
              </a:srgbClr>
            </a:outerShdw>
          </a:effectLst>
        </p:spPr>
      </p:sp>
      <p:sp>
        <p:nvSpPr>
          <p:cNvPr id="11" name="Text 9"/>
          <p:cNvSpPr/>
          <p:nvPr/>
        </p:nvSpPr>
        <p:spPr>
          <a:xfrm>
            <a:off x="868680" y="4251960"/>
            <a:ext cx="10424160" cy="960120"/>
          </a:xfrm>
          <a:prstGeom prst="rect">
            <a:avLst/>
          </a:prstGeom>
          <a:noFill/>
          <a:ln/>
        </p:spPr>
        <p:txBody>
          <a:bodyPr wrap="square" rtlCol="0" anchor="ctr"/>
          <a:lstStyle/>
          <a:p>
            <a:pPr indent="0" marL="0">
              <a:lnSpc>
                <a:spcPct val="130000"/>
              </a:lnSpc>
              <a:buNone/>
            </a:pPr>
            <a:r>
              <a:rPr lang="en-US" sz="1250" dirty="0">
                <a:solidFill>
                  <a:srgbClr val="1D1A14"/>
                </a:solidFill>
                <a:latin typeface="Calibri" pitchFamily="34" charset="0"/>
                <a:ea typeface="Calibri" pitchFamily="34" charset="-122"/>
                <a:cs typeface="Calibri" pitchFamily="34" charset="-120"/>
              </a:rPr>
              <a:t>Le produit est aujourd'hui en production live (oportaler.perfweb.net), supervisé 24 h/24 (UptimeRobot + sonde interne), 177 tests bloquants en CI, version v3.3.1. Chaque décision du cadrage se retrouve dans l'application présentée aux blocs 2, 3 et 4.</a:t>
            </a:r>
            <a:endParaRPr lang="en-US" sz="1250" dirty="0"/>
          </a:p>
        </p:txBody>
      </p:sp>
      <p:sp>
        <p:nvSpPr>
          <p:cNvPr id="12" name="Text 10"/>
          <p:cNvSpPr/>
          <p:nvPr/>
        </p:nvSpPr>
        <p:spPr>
          <a:xfrm>
            <a:off x="640080" y="5623560"/>
            <a:ext cx="10881360" cy="457200"/>
          </a:xfrm>
          <a:prstGeom prst="rect">
            <a:avLst/>
          </a:prstGeom>
          <a:noFill/>
          <a:ln/>
        </p:spPr>
        <p:txBody>
          <a:bodyPr wrap="square" rtlCol="0" anchor="ctr"/>
          <a:lstStyle/>
          <a:p>
            <a:pPr indent="0" marL="0">
              <a:buNone/>
            </a:pPr>
            <a:r>
              <a:rPr lang="en-US" sz="1500" i="1" dirty="0">
                <a:solidFill>
                  <a:srgbClr val="C9A227"/>
                </a:solidFill>
                <a:latin typeface="Cambria" pitchFamily="34" charset="0"/>
                <a:ea typeface="Cambria" pitchFamily="34" charset="-122"/>
                <a:cs typeface="Cambria" pitchFamily="34" charset="-120"/>
              </a:rPr>
              <a:t>Merci — place aux questions (10 minutes).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611"/>
        </a:solidFill>
      </p:bgPr>
    </p:bg>
    <p:spTree>
      <p:nvGrpSpPr>
        <p:cNvPr id="1" name=""/>
        <p:cNvGrpSpPr/>
        <p:nvPr/>
      </p:nvGrpSpPr>
      <p:grpSpPr>
        <a:xfrm>
          <a:off x="0" y="0"/>
          <a:ext cx="0" cy="0"/>
          <a:chOff x="0" y="0"/>
          <a:chExt cx="0" cy="0"/>
        </a:xfrm>
      </p:grpSpPr>
      <p:sp>
        <p:nvSpPr>
          <p:cNvPr id="2" name="Text 0"/>
          <p:cNvSpPr/>
          <p:nvPr/>
        </p:nvSpPr>
        <p:spPr>
          <a:xfrm>
            <a:off x="11551615" y="6473952"/>
            <a:ext cx="365760" cy="274320"/>
          </a:xfrm>
          <a:prstGeom prst="rect">
            <a:avLst/>
          </a:prstGeom>
          <a:noFill/>
          <a:ln/>
        </p:spPr>
        <p:txBody>
          <a:bodyPr wrap="square" rtlCol="0" anchor="ctr"/>
          <a:lstStyle/>
          <a:p>
            <a:pPr algn="r" indent="0" marL="0">
              <a:buNone/>
            </a:pPr>
            <a:r>
              <a:rPr lang="en-US" sz="900" dirty="0">
                <a:solidFill>
                  <a:srgbClr val="8A8065"/>
                </a:solidFill>
                <a:latin typeface="Calibri" pitchFamily="34" charset="0"/>
                <a:ea typeface="Calibri" pitchFamily="34" charset="-122"/>
                <a:cs typeface="Calibri" pitchFamily="34" charset="-120"/>
              </a:rPr>
              <a:t>16</a:t>
            </a:r>
            <a:endParaRPr lang="en-US" sz="900" dirty="0"/>
          </a:p>
        </p:txBody>
      </p:sp>
      <p:sp>
        <p:nvSpPr>
          <p:cNvPr id="3" name="Text 1"/>
          <p:cNvSpPr/>
          <p:nvPr/>
        </p:nvSpPr>
        <p:spPr>
          <a:xfrm>
            <a:off x="457200" y="6473952"/>
            <a:ext cx="3657600" cy="274320"/>
          </a:xfrm>
          <a:prstGeom prst="rect">
            <a:avLst/>
          </a:prstGeom>
          <a:noFill/>
          <a:ln/>
        </p:spPr>
        <p:txBody>
          <a:bodyPr wrap="square" rtlCol="0" anchor="ctr"/>
          <a:lstStyle/>
          <a:p>
            <a:pPr indent="0" marL="0">
              <a:buNone/>
            </a:pPr>
            <a:r>
              <a:rPr lang="en-US" sz="900" dirty="0">
                <a:solidFill>
                  <a:srgbClr val="8A8065"/>
                </a:solidFill>
                <a:latin typeface="Calibri" pitchFamily="34" charset="0"/>
                <a:ea typeface="Calibri" pitchFamily="34" charset="-122"/>
                <a:cs typeface="Calibri" pitchFamily="34" charset="-120"/>
              </a:rPr>
              <a:t>Albion Helper — Bloc 1 — RNCP39583</a:t>
            </a:r>
            <a:endParaRPr lang="en-US" sz="900" dirty="0"/>
          </a:p>
        </p:txBody>
      </p:sp>
      <p:sp>
        <p:nvSpPr>
          <p:cNvPr id="4" name="Shape 2"/>
          <p:cNvSpPr/>
          <p:nvPr/>
        </p:nvSpPr>
        <p:spPr>
          <a:xfrm>
            <a:off x="457200" y="384048"/>
            <a:ext cx="502920" cy="502920"/>
          </a:xfrm>
          <a:prstGeom prst="ellipse">
            <a:avLst/>
          </a:prstGeom>
          <a:solidFill>
            <a:srgbClr val="C9A227"/>
          </a:solidFill>
          <a:ln/>
        </p:spPr>
      </p:sp>
      <p:sp>
        <p:nvSpPr>
          <p:cNvPr id="5" name="Text 3"/>
          <p:cNvSpPr/>
          <p:nvPr/>
        </p:nvSpPr>
        <p:spPr>
          <a:xfrm>
            <a:off x="384048" y="384048"/>
            <a:ext cx="649224" cy="502920"/>
          </a:xfrm>
          <a:prstGeom prst="rect">
            <a:avLst/>
          </a:prstGeom>
          <a:noFill/>
          <a:ln/>
        </p:spPr>
        <p:txBody>
          <a:bodyPr wrap="none" rtlCol="0" anchor="ctr"/>
          <a:lstStyle/>
          <a:p>
            <a:pPr algn="ctr" indent="0" marL="0">
              <a:buNone/>
            </a:pPr>
            <a:r>
              <a:rPr lang="en-US" sz="1400" b="1" dirty="0">
                <a:solidFill>
                  <a:srgbClr val="1A1611"/>
                </a:solidFill>
                <a:latin typeface="Calibri" pitchFamily="34" charset="0"/>
                <a:ea typeface="Calibri" pitchFamily="34" charset="-122"/>
                <a:cs typeface="Calibri" pitchFamily="34" charset="-120"/>
              </a:rPr>
              <a:t>i</a:t>
            </a:r>
            <a:endParaRPr lang="en-US" sz="1400" dirty="0"/>
          </a:p>
        </p:txBody>
      </p:sp>
      <p:sp>
        <p:nvSpPr>
          <p:cNvPr id="6" name="Text 4"/>
          <p:cNvSpPr/>
          <p:nvPr/>
        </p:nvSpPr>
        <p:spPr>
          <a:xfrm>
            <a:off x="1097280" y="365760"/>
            <a:ext cx="1063721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ANNEXE (NOTES CANDIDAT — NON PROJETÉE)</a:t>
            </a:r>
            <a:endParaRPr lang="en-US" sz="1100" dirty="0"/>
          </a:p>
        </p:txBody>
      </p:sp>
      <p:sp>
        <p:nvSpPr>
          <p:cNvPr id="7" name="Text 5"/>
          <p:cNvSpPr/>
          <p:nvPr/>
        </p:nvSpPr>
        <p:spPr>
          <a:xfrm>
            <a:off x="1097280" y="603504"/>
            <a:ext cx="10637215" cy="530352"/>
          </a:xfrm>
          <a:prstGeom prst="rect">
            <a:avLst/>
          </a:prstGeom>
          <a:noFill/>
          <a:ln/>
        </p:spPr>
        <p:txBody>
          <a:bodyPr wrap="square" rtlCol="0" anchor="ctr"/>
          <a:lstStyle/>
          <a:p>
            <a:pPr indent="0" marL="0">
              <a:buNone/>
            </a:pPr>
            <a:r>
              <a:rPr lang="en-US" sz="2400" b="1" dirty="0">
                <a:solidFill>
                  <a:srgbClr val="E8C766"/>
                </a:solidFill>
                <a:latin typeface="Cambria" pitchFamily="34" charset="0"/>
                <a:ea typeface="Cambria" pitchFamily="34" charset="-122"/>
                <a:cs typeface="Cambria" pitchFamily="34" charset="-120"/>
              </a:rPr>
              <a:t>Préparation de l'oral Bloc 1</a:t>
            </a:r>
            <a:endParaRPr lang="en-US" sz="2400" dirty="0"/>
          </a:p>
        </p:txBody>
      </p:sp>
      <p:sp>
        <p:nvSpPr>
          <p:cNvPr id="8" name="Shape 6"/>
          <p:cNvSpPr/>
          <p:nvPr/>
        </p:nvSpPr>
        <p:spPr>
          <a:xfrm>
            <a:off x="457200" y="1417320"/>
            <a:ext cx="11274552" cy="4846320"/>
          </a:xfrm>
          <a:prstGeom prst="roundRect">
            <a:avLst>
              <a:gd name="adj" fmla="val 1321"/>
            </a:avLst>
          </a:prstGeom>
          <a:solidFill>
            <a:srgbClr val="E9DFC4"/>
          </a:solidFill>
          <a:ln/>
          <a:effectLst>
            <a:outerShdw sx="100000" sy="100000" kx="0" ky="0" algn="bl" rotWithShape="0" blurRad="76200" dist="38100" dir="5400000">
              <a:srgbClr val="000000">
                <a:alpha val="35000"/>
              </a:srgbClr>
            </a:outerShdw>
          </a:effectLst>
        </p:spPr>
      </p:sp>
      <p:sp>
        <p:nvSpPr>
          <p:cNvPr id="9" name="Text 7"/>
          <p:cNvSpPr/>
          <p:nvPr/>
        </p:nvSpPr>
        <p:spPr>
          <a:xfrm>
            <a:off x="685800" y="1572768"/>
            <a:ext cx="10789920" cy="320040"/>
          </a:xfrm>
          <a:prstGeom prst="rect">
            <a:avLst/>
          </a:prstGeom>
          <a:noFill/>
          <a:ln/>
        </p:spPr>
        <p:txBody>
          <a:bodyPr wrap="square" rtlCol="0" anchor="ctr"/>
          <a:lstStyle/>
          <a:p>
            <a:pPr indent="0" marL="0">
              <a:buNone/>
            </a:pPr>
            <a:r>
              <a:rPr lang="en-US" sz="1250" b="1" dirty="0">
                <a:solidFill>
                  <a:srgbClr val="1D1A14"/>
                </a:solidFill>
                <a:latin typeface="Calibri" pitchFamily="34" charset="0"/>
                <a:ea typeface="Calibri" pitchFamily="34" charset="-122"/>
                <a:cs typeface="Calibri" pitchFamily="34" charset="-120"/>
              </a:rPr>
              <a:t>Timing cible (20 minutes)</a:t>
            </a:r>
            <a:endParaRPr lang="en-US" sz="1250" dirty="0"/>
          </a:p>
        </p:txBody>
      </p:sp>
      <p:sp>
        <p:nvSpPr>
          <p:cNvPr id="10" name="Text 8"/>
          <p:cNvSpPr/>
          <p:nvPr/>
        </p:nvSpPr>
        <p:spPr>
          <a:xfrm>
            <a:off x="685800" y="1920240"/>
            <a:ext cx="10789920" cy="640080"/>
          </a:xfrm>
          <a:prstGeom prst="rect">
            <a:avLst/>
          </a:prstGeom>
          <a:noFill/>
          <a:ln/>
        </p:spPr>
        <p:txBody>
          <a:bodyPr wrap="square" rtlCol="0" anchor="ctr"/>
          <a:lstStyle/>
          <a:p>
            <a:pPr indent="0" marL="0">
              <a:lnSpc>
                <a:spcPct val="125000"/>
              </a:lnSpc>
              <a:buNone/>
            </a:pPr>
            <a:r>
              <a:rPr lang="en-US" sz="1100" dirty="0">
                <a:solidFill>
                  <a:srgbClr val="1D1A14"/>
                </a:solidFill>
                <a:latin typeface="Calibri" pitchFamily="34" charset="0"/>
                <a:ea typeface="Calibri" pitchFamily="34" charset="-122"/>
                <a:cs typeface="Calibri" pitchFamily="34" charset="-120"/>
              </a:rPr>
              <a:t>Contexte 2' · parties prenantes + demande 3' · SWOT + audit + infra 4' · risques + indicateurs 3' · veille 2' · comparatif 2' · fonctionnalités + charge + budget 3' · architecture + préconisations + conclusion 3'</a:t>
            </a:r>
            <a:endParaRPr lang="en-US" sz="1100" dirty="0"/>
          </a:p>
        </p:txBody>
      </p:sp>
      <p:sp>
        <p:nvSpPr>
          <p:cNvPr id="11" name="Text 9"/>
          <p:cNvSpPr/>
          <p:nvPr/>
        </p:nvSpPr>
        <p:spPr>
          <a:xfrm>
            <a:off x="685800" y="2697480"/>
            <a:ext cx="10789920" cy="320040"/>
          </a:xfrm>
          <a:prstGeom prst="rect">
            <a:avLst/>
          </a:prstGeom>
          <a:noFill/>
          <a:ln/>
        </p:spPr>
        <p:txBody>
          <a:bodyPr wrap="square" rtlCol="0" anchor="ctr"/>
          <a:lstStyle/>
          <a:p>
            <a:pPr indent="0" marL="0">
              <a:buNone/>
            </a:pPr>
            <a:r>
              <a:rPr lang="en-US" sz="1250" b="1" dirty="0">
                <a:solidFill>
                  <a:srgbClr val="1D1A14"/>
                </a:solidFill>
                <a:latin typeface="Calibri" pitchFamily="34" charset="0"/>
                <a:ea typeface="Calibri" pitchFamily="34" charset="-122"/>
                <a:cs typeface="Calibri" pitchFamily="34" charset="-120"/>
              </a:rPr>
              <a:t>5 compétences éliminatoires à verrouiller (ne jamais les sacrifier au chronomètre)</a:t>
            </a:r>
            <a:endParaRPr lang="en-US" sz="1250" dirty="0"/>
          </a:p>
        </p:txBody>
      </p:sp>
      <p:sp>
        <p:nvSpPr>
          <p:cNvPr id="12" name="Text 10"/>
          <p:cNvSpPr/>
          <p:nvPr/>
        </p:nvSpPr>
        <p:spPr>
          <a:xfrm>
            <a:off x="685800" y="3035808"/>
            <a:ext cx="10789920" cy="1417320"/>
          </a:xfrm>
          <a:prstGeom prst="rect">
            <a:avLst/>
          </a:prstGeom>
          <a:noFill/>
          <a:ln/>
        </p:spPr>
        <p:txBody>
          <a:bodyPr wrap="square" rtlCol="0" anchor="t"/>
          <a:lstStyle/>
          <a:p>
            <a:pPr marL="342900" indent="-342900">
              <a:lnSpc>
                <a:spcPct val="128000"/>
              </a:lnSpc>
              <a:spcAft>
                <a:spcPts val="600"/>
              </a:spcAft>
              <a:buSzPct val="100000"/>
              <a:buChar char="✦"/>
            </a:pPr>
            <a:r>
              <a:rPr lang="en-US" sz="1050" dirty="0">
                <a:solidFill>
                  <a:srgbClr val="1D1A14"/>
                </a:solidFill>
                <a:latin typeface="Calibri" pitchFamily="34" charset="0"/>
                <a:ea typeface="Calibri" pitchFamily="34" charset="-122"/>
                <a:cs typeface="Calibri" pitchFamily="34" charset="-120"/>
              </a:rPr>
              <a:t>C1.1.1 — Cartographie des acteurs (slide 3)</a:t>
            </a:r>
            <a:endParaRPr lang="en-US" sz="1050" dirty="0"/>
          </a:p>
          <a:p>
            <a:pPr marL="342900" indent="-342900">
              <a:lnSpc>
                <a:spcPct val="128000"/>
              </a:lnSpc>
              <a:spcAft>
                <a:spcPts val="600"/>
              </a:spcAft>
              <a:buSzPct val="100000"/>
              <a:buChar char="✦"/>
            </a:pPr>
            <a:r>
              <a:rPr lang="en-US" sz="1050" dirty="0">
                <a:solidFill>
                  <a:srgbClr val="1D1A14"/>
                </a:solidFill>
                <a:latin typeface="Calibri" pitchFamily="34" charset="0"/>
                <a:ea typeface="Calibri" pitchFamily="34" charset="-122"/>
                <a:cs typeface="Calibri" pitchFamily="34" charset="-120"/>
              </a:rPr>
              <a:t>C1.2.2 — Faisabilité (slide 7)</a:t>
            </a:r>
            <a:endParaRPr lang="en-US" sz="1050" dirty="0"/>
          </a:p>
          <a:p>
            <a:pPr marL="342900" indent="-342900">
              <a:lnSpc>
                <a:spcPct val="128000"/>
              </a:lnSpc>
              <a:spcAft>
                <a:spcPts val="600"/>
              </a:spcAft>
              <a:buSzPct val="100000"/>
              <a:buChar char="✦"/>
            </a:pPr>
            <a:r>
              <a:rPr lang="en-US" sz="1050" dirty="0">
                <a:solidFill>
                  <a:srgbClr val="1D1A14"/>
                </a:solidFill>
                <a:latin typeface="Calibri" pitchFamily="34" charset="0"/>
                <a:ea typeface="Calibri" pitchFamily="34" charset="-122"/>
                <a:cs typeface="Calibri" pitchFamily="34" charset="-120"/>
              </a:rPr>
              <a:t>C1.3.2 — Étude comparative (slide 11)</a:t>
            </a:r>
            <a:endParaRPr lang="en-US" sz="1050" dirty="0"/>
          </a:p>
          <a:p>
            <a:pPr marL="342900" indent="-342900">
              <a:lnSpc>
                <a:spcPct val="128000"/>
              </a:lnSpc>
              <a:spcAft>
                <a:spcPts val="600"/>
              </a:spcAft>
              <a:buSzPct val="100000"/>
              <a:buChar char="✦"/>
            </a:pPr>
            <a:r>
              <a:rPr lang="en-US" sz="1050" dirty="0">
                <a:solidFill>
                  <a:srgbClr val="1D1A14"/>
                </a:solidFill>
                <a:latin typeface="Calibri" pitchFamily="34" charset="0"/>
                <a:ea typeface="Calibri" pitchFamily="34" charset="-122"/>
                <a:cs typeface="Calibri" pitchFamily="34" charset="-120"/>
              </a:rPr>
              <a:t>C1.4.1 — Charge (slide 13)</a:t>
            </a:r>
            <a:endParaRPr lang="en-US" sz="1050" dirty="0"/>
          </a:p>
          <a:p>
            <a:pPr marL="342900" indent="-342900">
              <a:lnSpc>
                <a:spcPct val="128000"/>
              </a:lnSpc>
              <a:spcAft>
                <a:spcPts val="600"/>
              </a:spcAft>
              <a:buSzPct val="100000"/>
              <a:buChar char="✦"/>
            </a:pPr>
            <a:r>
              <a:rPr lang="en-US" sz="1050" dirty="0">
                <a:solidFill>
                  <a:srgbClr val="1D1A14"/>
                </a:solidFill>
                <a:latin typeface="Calibri" pitchFamily="34" charset="0"/>
                <a:ea typeface="Calibri" pitchFamily="34" charset="-122"/>
                <a:cs typeface="Calibri" pitchFamily="34" charset="-120"/>
              </a:rPr>
              <a:t>C1.6 — Préconisations (slide 15)</a:t>
            </a:r>
            <a:endParaRPr lang="en-US" sz="1050" dirty="0"/>
          </a:p>
        </p:txBody>
      </p:sp>
      <p:sp>
        <p:nvSpPr>
          <p:cNvPr id="13" name="Text 11"/>
          <p:cNvSpPr/>
          <p:nvPr/>
        </p:nvSpPr>
        <p:spPr>
          <a:xfrm>
            <a:off x="685800" y="4526280"/>
            <a:ext cx="10789920" cy="274320"/>
          </a:xfrm>
          <a:prstGeom prst="rect">
            <a:avLst/>
          </a:prstGeom>
          <a:noFill/>
          <a:ln/>
        </p:spPr>
        <p:txBody>
          <a:bodyPr wrap="square" rtlCol="0" anchor="ctr"/>
          <a:lstStyle/>
          <a:p>
            <a:pPr indent="0" marL="0">
              <a:buNone/>
            </a:pPr>
            <a:r>
              <a:rPr lang="en-US" sz="1250" b="1" dirty="0">
                <a:solidFill>
                  <a:srgbClr val="1D1A14"/>
                </a:solidFill>
                <a:latin typeface="Calibri" pitchFamily="34" charset="0"/>
                <a:ea typeface="Calibri" pitchFamily="34" charset="-122"/>
                <a:cs typeface="Calibri" pitchFamily="34" charset="-120"/>
              </a:rPr>
              <a:t>Posture</a:t>
            </a:r>
            <a:endParaRPr lang="en-US" sz="1250" dirty="0"/>
          </a:p>
        </p:txBody>
      </p:sp>
      <p:sp>
        <p:nvSpPr>
          <p:cNvPr id="14" name="Text 12"/>
          <p:cNvSpPr/>
          <p:nvPr/>
        </p:nvSpPr>
        <p:spPr>
          <a:xfrm>
            <a:off x="685800" y="4828032"/>
            <a:ext cx="10789920" cy="320040"/>
          </a:xfrm>
          <a:prstGeom prst="rect">
            <a:avLst/>
          </a:prstGeom>
          <a:noFill/>
          <a:ln/>
        </p:spPr>
        <p:txBody>
          <a:bodyPr wrap="square" rtlCol="0" anchor="ctr"/>
          <a:lstStyle/>
          <a:p>
            <a:pPr indent="0" marL="0">
              <a:buNone/>
            </a:pPr>
            <a:r>
              <a:rPr lang="en-US" sz="1050" dirty="0">
                <a:solidFill>
                  <a:srgbClr val="1D1A14"/>
                </a:solidFill>
                <a:latin typeface="Calibri" pitchFamily="34" charset="0"/>
                <a:ea typeface="Calibri" pitchFamily="34" charset="-122"/>
                <a:cs typeface="Calibri" pitchFamily="34" charset="-120"/>
              </a:rPr>
              <a:t>Parler « au commanditaire » (vulgarisé) sur les slides 2, 15, 16 ; technique assumée sur 11 et 14.</a:t>
            </a:r>
            <a:endParaRPr lang="en-US" sz="1050" dirty="0"/>
          </a:p>
        </p:txBody>
      </p:sp>
      <p:sp>
        <p:nvSpPr>
          <p:cNvPr id="15" name="Text 13"/>
          <p:cNvSpPr/>
          <p:nvPr/>
        </p:nvSpPr>
        <p:spPr>
          <a:xfrm>
            <a:off x="685800" y="5212080"/>
            <a:ext cx="10789920" cy="274320"/>
          </a:xfrm>
          <a:prstGeom prst="rect">
            <a:avLst/>
          </a:prstGeom>
          <a:noFill/>
          <a:ln/>
        </p:spPr>
        <p:txBody>
          <a:bodyPr wrap="square" rtlCol="0" anchor="ctr"/>
          <a:lstStyle/>
          <a:p>
            <a:pPr indent="0" marL="0">
              <a:buNone/>
            </a:pPr>
            <a:r>
              <a:rPr lang="en-US" sz="1250" b="1" dirty="0">
                <a:solidFill>
                  <a:srgbClr val="1D1A14"/>
                </a:solidFill>
                <a:latin typeface="Calibri" pitchFamily="34" charset="0"/>
                <a:ea typeface="Calibri" pitchFamily="34" charset="-122"/>
                <a:cs typeface="Calibri" pitchFamily="34" charset="-120"/>
              </a:rPr>
              <a:t>Dépôt</a:t>
            </a:r>
            <a:endParaRPr lang="en-US" sz="1250" dirty="0"/>
          </a:p>
        </p:txBody>
      </p:sp>
      <p:sp>
        <p:nvSpPr>
          <p:cNvPr id="16" name="Text 14"/>
          <p:cNvSpPr/>
          <p:nvPr/>
        </p:nvSpPr>
        <p:spPr>
          <a:xfrm>
            <a:off x="685800" y="5504688"/>
            <a:ext cx="10789920" cy="320040"/>
          </a:xfrm>
          <a:prstGeom prst="rect">
            <a:avLst/>
          </a:prstGeom>
          <a:noFill/>
          <a:ln/>
        </p:spPr>
        <p:txBody>
          <a:bodyPr wrap="square" rtlCol="0" anchor="ctr"/>
          <a:lstStyle/>
          <a:p>
            <a:pPr indent="0" marL="0">
              <a:buNone/>
            </a:pPr>
            <a:r>
              <a:rPr lang="en-US" sz="1050" dirty="0">
                <a:solidFill>
                  <a:srgbClr val="1D1A14"/>
                </a:solidFill>
                <a:latin typeface="Calibri" pitchFamily="34" charset="0"/>
                <a:ea typeface="Calibri" pitchFamily="34" charset="-122"/>
                <a:cs typeface="Calibri" pitchFamily="34" charset="-120"/>
              </a:rPr>
              <a:t>Dépôt DigiformaCertif : ce support déposé avant l'échéance.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2026-08-14T15:55:53Z</dcterms:created>
  <dcterms:modified xsi:type="dcterms:W3CDTF">2026-08-14T15:55:53Z</dcterms:modified>
</cp:coreProperties>
</file>