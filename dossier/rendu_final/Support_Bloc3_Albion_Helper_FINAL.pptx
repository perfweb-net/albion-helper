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Pierre Saugues, je suis candidat au titre RNCP39583 « Expert en développement logiciel ». Je vous présente le bloc 3 : coordonner et piloter un projet de développement, à travers mon projet Albion Helper, une application compagnon pour le jeu Albion Online, aujourd'hui en version 3.3.1, en production. J'ai 30 minutes de présentation, dont environ 8 minutes de démonstration en direct, puis 15 minutes d'échanges avec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d'entrer dans le pilotage, une slide de contexte. Albion Helper centralise pour les joueurs et les guildes des informations dispersées : recherche de joueurs et de guildes, statistiques PvP, batailles, carte interactive multi-serveur, routes de farming partageables, compositions d'équipe, calculateur de craft, et un back-office d'administration complet, avec 20 langues administrables. Côté chiffres, le projet compte aujourd'hui 177 tests automatisés — 53 côté back, 124 côté front — tous verts et bloquants en intégration continue, 29 scénarios de recette tous passés, et un déploiement continu opérationnel et vérifié vert. Sur le plan sécurité, un point que je détaillerai : l'authentification est désormais protégée par cookie httpOnly depuis la version 3.1.0. Et la production est en ligne, supervisée, avec une disponibilité de 99,95 % sur les sept derniers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point attendu : la méthodologie. J'ai choisi Kanban plutôt que Scrum ou le cycle en V. Pourquoi ? Ma disponibilité était variable, entre formation et alternance, donc des sprints à capacité fixe auraient été artificiels. En solo, les cérémonies d'équipe comme le daily ou la rétrospective n'ont pas de sens, et Kanban n'en impose pas. Le cycle en V a été écarté parce que le périmètre dépend d'une API tierce, celle d'Albion Online, qui évolue — il fallait pouvoir re-prioriser à tout moment. J'ai retenu un flux à cinq colonnes avec une limite de travail en cours fixée à deux. Résultat concret : aucune fonctionnalité commencée n'a été abandonnée, et la re-priorisation sécurité de juin 2026 a été absorbée sans casser le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point : le planning détaillé. J'ai construit un rétroplanning en six phases, en partant des jalons non négociables — les dépôts de certification — et en remontant. Phase 1, cadrage et socle technique, en février 2025. Phase 2, les fonctionnalités cœur : authentification, joueurs, guildes, carte. Phase 3, les fonctionnalités avancées : routes, compositions, craft, administration. Phase 4, qualité, sécurité et recette, avec le jalon du bloc 2 tenu en juin 2026, et la migration vers Symfony 7.4 LTS. Phase 5, internationalisation et multi-serveur, avec les 20 langues. Phase 6, supervision et mise en production, qui couvre les jalons des blocs 4 et 3 et la version actuelle, la 3.3.1. L'outil qui porte ce planning est GitHub Projects, un tableau Kanban natif, lié aux commits et aux issues : une carte se ferme avec le code qui la réalise.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point : les ressources. Côté humain, je porte seul six casquettes — développement back, front, opérations et intégration continue, qualité, sécurité, documentation — et je mobilise deux parties prenantes : des joueurs testeurs pour la recette d'usage, et mes encadrants YNOV pour les jalons. Côté matériel et logiciel : un poste de développement, un VPS de production avec Nginx, PHP-FPM et PostgreSQL 16, et GitHub pour les sources, l'intégration continue, la veille de dépendances et le suivi de projet, en offre gratuite. Côté financier, le budget infrastructure réel tourne autour de 135 euros par an. Mais le vrai coût du projet, c'est la charge de développement : environ 85 jours-homme, plus 10 % de marge, soit 94 jours-homme, valorisés à environ 37 600 euros au tarif journalier de 400 euros. C'est cette charge que le pilotage protège en priorité.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point, l'outil de suivi et les indicateurs. Le suivi opérationnel repose sur GitHub Projects : chaque fonctionnalité ou bug devient une carte liée à ses commits. L'historique Git, écrit en Conventional Commits, constitue le journal de bord exploitable du projet. Et chaque poussée de code redéclenche l'ensemble des 177 tests avant tout déploiement. Je vous montrerai ce tableau et le dernier run d'intégration continue en direct tout à l'heure. Sur les indicateurs : 29 scénarios de recette sur 29 passés, 177 tests à 100 % de réussite, les jalons de certification tenus aux dates prévues, un déploiement continu vérifié vert, un budget infrastructure maîtrisé, zéro vulnérabilité critique ouverte, et une disponibilité de production de 99,95 % sur sept jours. C'est le cœur de la compétence C3.2.1 : piloter l'avancement avec des indicateurs clairs, de délai, de qualité et de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point, un cas d'arbitrage. En juin 2026, pendant la revue de sécurité du bloc 2, j'ai identifié que le jeton d'authentification était stocké dans le localStorage du navigateur — un point vulnérable en cas de faille XSS. L'alternative, le cookie httpOnly, est plus sûre, mais imposait de refondre l'authentification à dix jours du dépôt. J'ai comparé les deux options sur le risque, le coût et le risque planning : la refonte complète coûtait quatre à cinq jours-homme et menaçait directement le jalon du 19 juin. J'ai décidé de garder le localStorage avec des mitigations immédiates — durée de vie du jeton ramenée à une heure, rotation des jetons de rafraîchissement, en-têtes de sécurité — et d'inscrire la migration au backlog comme axe d'amélioration documenté. Le jalon a été tenu. Et voici la partie que je veux souligner : cet axe d'amélioration n'est pas resté un vœu pieux. Il a été planifié dans la phase 5 et livré en version 3.1.0 : le jeton est désormais en cookie httpOnly, avec une protection anti-CSRF, sans aucune régression, recette à 29 sur 29. C'est un bon résumé de ce qu'est piloter un projet solo : décider dans l'urgence, tracer la dette, et la refermer dans les règles au cycle suivant. C'est la compétence C3.1, planifier l'exécution du projet, illustrée par un cas concret et vérifiable.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point, l'affectation des missions. En solo, cela revient à affecter des casquettes à des créneaux horaires, et à déléguer à l'outillage tout ce qui peut l'être. J'ai construit une matrice RACI : je réalise et j'approuve le développement ; l'intégration continue est déléguée à GitHub Actions, avec moi informé par notification ; la veille de sécurité des dépendances est déléguée à Dependabot ; la recette fonctionnelle m'est réservée sur un créneau dédié, avec les joueurs testeurs consultés ; et la validation des jalons de certification appartient au jury et au campus. La règle d'hygiène que je me suis imposée : ne jamais porter deux casquettes en même temps. Les créneaux qualité sont séparés des créneaux développement, pour garder un regard critique sur mon propre code. Et cette organisation, écrite et asynchrone, est directement compatible avec des aménagements liés au handicap.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Septième point, le ou les styles managériaux. J'en ai mobilisé quatre. Directif envers moi-même sur les normes non négociables : commits conventionnels, hook de pré-commit, tests obligatoires avant fusion. Délégatif envers l'outillage : intégration continue, veille de dépendances, sondes de supervision — objectifs fixés, exécution autonome, contrôle par les alertes. Participatif avec les utilisateurs : ce sont les retours des joueurs qui ont priorisé le multi-serveur et l'internationalisation. Et persuasif dans ma posture vers le commanditaire, pour justifier mes choix — je viens de vous en donner un exemple avec l'arbitrage JWT. Je veux aussi partager une analyse critique honnête : en juin 2026, j'ai fait toute la recette en une fois, en fin de bloc, et trois anomalies sont sorties tardivement, corrigées dans l'urgence le jour même. L'analyse est claire : j'avais sous-doté ma propre casquette qualité — en équipe, cela reviendrait à négliger un collaborateur. J'ai corrigé en recettant au fil de l'eau à chaque lot, avec un créneau qualité hebdomadaire sanctuarisé.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Huitième point, les outils de communication et leurs objectifs. Git et les commits conventionnels tracent chaque évolution avec son intention pour les développeurs. Le CHANGELOG, en versionnage sémantique, communique les évolutions en langage fonctionnel pour les utilisateurs et le commanditaire. GitHub, avec ses tickets et son tableau de projet, porte la discussion asynchrone de l'équipe, avec des décisions archivées et retrouvables. L'e-mail porte la communication formelle avec le campus et le jury, et surtout les alertes de supervision en cas d'indisponibilité. Discord, enfin, est le canal de la communauté de joueurs testeurs. L'objectif transverse est que tout passe à l'écrit et à l'asynchrone : cela répartit la charge de communication, conserve un historique complet, et garantit qu'un membre d'équipe en situation de handicap auditif ait accès à cent pour cent de l'information sans aménagement supplémentaire.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Neuvième point, l'évaluation des besoins en compétences. Je me suis auto-évalué en février 2025 sur une échelle de 1, novice, à 4, autonome expert, en face des besoins du projet. L'écart le plus important concernait la sécurité applicative, niveau 1 en début de projet pour un niveau 3 requis — et je suis aujourd'hui à 3 voire 4, avec la livraison de l'authentification en cookie httpOnly comme preuve concrète. Sur l'intégration continue, je suis parti de 1 pour atteindre 3, avec un pipeline complet de tests et de déploiement continu vérifié vert. Sur la supervision, également de 1 à 3, avec UptimeRobot et une sonde interne opérationnelles. Sur l'accessibilité, je suis à 2-3, avec un score Lighthouse de 98 sur 100 en accessibilité.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Dixième point, le plan de développement des compétences qui découle de cette grille. Pour la sécurité OWASP, j'ai mené une auto-formation guidée par la documentation officielle, appliquée directement en auditant le projet faille par faille — réalisé entre juin et août 2026. Pour Symfony avancé, des cours SymfonyCasts au fil du projet. Pour l'accessibilité RGAA, une formation courte certifiante prévue sur 2026-2027, en complément des audits déjà menés. Pour l'outillage front moderne et l'exploitation avancée, des chantiers d'apprentissage par la pratique prévus en 2027. Le principe directeur : chaque formation s'adosse à un chantier réel du projet, avec un livrable vérifiable — l'exemple le plus abouti étant la migration JWT httpOnly, qui est passée de préconisation à réalisation.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Onzième point, les comptes rendus des évolutions. Je les tiens à trois niveaux. D'abord un CHANGELOG versionné pour le commanditaire, de la version 1.0, le socle, jusqu'à la 3.3.1 actuelle, en passant par la 3.1.0 qui porte justement la migration JWT httpOnly, et la 3.2.0 qui ajoute l'activation de compte et la réinitialisation de mot de passe par e-mail. Ensuite, l'historique Git conventionnel, qui est le compte rendu détaillé, ordonné et daté, pour l'équipe. Enfin, les dossiers de jalon de certification. Sur les points de validation : la recette complète, 29 scénarios sur 29 passés ; l'audit de sécurité, zéro alerte sur les dépendances ; l'audit d'accessibilité, 98 sur 100, zéro violation bloquante ; les dépôts des blocs 2 et 4 tenus à date ; et la livraison de la migration JWT httpOnly. Le seul point encore ouvert, c'est cette démonstration devant vous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Douzième point, les indicateurs de satisfaction. Le taux de réussite de la recette, parce qu'elle encode les attentes fonctionnelles du commanditaire : 29 sur 29. La disponibilité du service, parce que c'est la première cause d'insatisfaction d'un outil communautaire : 99,95 % sur sept jours, mesurée par une double supervision, UptimeRobot et une sonde interne. Le temps de réponse de l'API, pour le confort en session de jeu : environ 0,8 seconde. La qualité perçue de l'interface, avec un score Lighthouse de 98 en accessibilité et 96 en bonnes pratiques. Les anomalies signalées par les utilisateurs : 16 bugs et une observation, tous traités à 100 %, tous tracés dans un registre. Et l'adoption des nouveautés, mesurée par le journal des recherches par serveur et par langue.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Treizième point, la démonstration, avant de la réaliser en direct. Je vais dérouler un parcours utilisateur complet, sur la production réelle, à l'adresse oportaler.perfweb.net, avec des données réelles préchargées : découverte et inscription, connexion et tableau de bord, recherche de joueur, guildes et batailles, carte interactive, itinéraire partagé, composition d'équipe, calculateur de craft, puis multi-langue et administration. J'ai un plan B : un environnement local identique, prêt à basculer en cas de souci réseau. J'ai répété cette démonstration la veille, chronométrée. L'objectif, qui correspond directement à la compétence éliminatoire C3.4.2, est de démontrer que la dernière version est fonctionnelle, fiable et utilisable par un joueur non technicien, et d'obtenir votre validation en tant que commanditaire avant livraison.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avant la démonstration : tous les jalons de certification ont été tenus, malgré une re-priorisation sécurité majeure en cours de route, absorbée par le rétroplanning et le Kanban. Le projet est traçable de bout en bout : chaque évolution a sa carte, son commit typé, sa ligne de CHANGELOG et son scénario de recette. Un arbitrage a été tenu dans la durée : la migration JWT httpOnly, différée par nécessité en juin 2026, a été livrée en version 3.1.0. Des indicateurs chiffrés existent à chaque niveau : avancement, qualité, délais, coûts, risques, satisfaction. Et l'organisation solo a été pensée pour passer à l'échelle : les casquettes deviennent des rôles, les créneaux deviennent des personnes, les outils restent. Le logiciel présenté aujourd'hui est en production, déployé en continu, supervisé et maintenu. Je vous propose maintenant la démonstration, qui vise votre validation en tant que commanditaire. Merci, et je reste à votre disposition pour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Ceci est mon support de démonstration, non projeté, qui liste les dix étapes que je vais suivre sur la production, avec le discours associé à chacune, dans un vocabulaire orienté commanditaire.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17130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30B"/>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241D12"/>
          </a:solidFill>
          <a:ln/>
        </p:spPr>
      </p:sp>
      <p:sp>
        <p:nvSpPr>
          <p:cNvPr id="3" name="Shape 1"/>
          <p:cNvSpPr/>
          <p:nvPr/>
        </p:nvSpPr>
        <p:spPr>
          <a:xfrm>
            <a:off x="10332720" y="-548640"/>
            <a:ext cx="2834640" cy="2834640"/>
          </a:xfrm>
          <a:prstGeom prst="ellipse">
            <a:avLst/>
          </a:prstGeom>
          <a:ln w="19050">
            <a:solidFill>
              <a:srgbClr val="8A6D1D"/>
            </a:solidFill>
            <a:prstDash val="solid"/>
          </a:ln>
        </p:spPr>
      </p:sp>
      <p:sp>
        <p:nvSpPr>
          <p:cNvPr id="4" name="Shape 2"/>
          <p:cNvSpPr/>
          <p:nvPr/>
        </p:nvSpPr>
        <p:spPr>
          <a:xfrm>
            <a:off x="-1463040" y="4206240"/>
            <a:ext cx="3291840" cy="3291840"/>
          </a:xfrm>
          <a:prstGeom prst="ellipse">
            <a:avLst/>
          </a:prstGeom>
          <a:ln w="15875">
            <a:solidFill>
              <a:srgbClr val="8A6D1D"/>
            </a:solidFill>
            <a:prstDash val="solid"/>
          </a:ln>
        </p:spPr>
      </p:sp>
      <p:sp>
        <p:nvSpPr>
          <p:cNvPr id="5" name="Text 3"/>
          <p:cNvSpPr/>
          <p:nvPr/>
        </p:nvSpPr>
        <p:spPr>
          <a:xfrm>
            <a:off x="822960" y="1965960"/>
            <a:ext cx="9601200" cy="960120"/>
          </a:xfrm>
          <a:prstGeom prst="rect">
            <a:avLst/>
          </a:prstGeom>
          <a:noFill/>
          <a:ln/>
        </p:spPr>
        <p:txBody>
          <a:bodyPr wrap="square" lIns="0" tIns="0" rIns="0" bIns="0" rtlCol="0" anchor="ctr"/>
          <a:lstStyle/>
          <a:p>
            <a:pPr indent="0" marL="0">
              <a:buNone/>
            </a:pPr>
            <a:r>
              <a:rPr lang="en-US" sz="4600" b="1" dirty="0">
                <a:solidFill>
                  <a:srgbClr val="F0D580"/>
                </a:solidFill>
                <a:latin typeface="Cambria" pitchFamily="34" charset="0"/>
                <a:ea typeface="Cambria" pitchFamily="34" charset="-122"/>
                <a:cs typeface="Cambria" pitchFamily="34" charset="-120"/>
              </a:rPr>
              <a:t>ALBION HELPER</a:t>
            </a:r>
            <a:endParaRPr lang="en-US" sz="4600" dirty="0"/>
          </a:p>
        </p:txBody>
      </p:sp>
      <p:sp>
        <p:nvSpPr>
          <p:cNvPr id="6" name="Text 4"/>
          <p:cNvSpPr/>
          <p:nvPr/>
        </p:nvSpPr>
        <p:spPr>
          <a:xfrm>
            <a:off x="822960" y="2880360"/>
            <a:ext cx="9692640" cy="640080"/>
          </a:xfrm>
          <a:prstGeom prst="rect">
            <a:avLst/>
          </a:prstGeom>
          <a:noFill/>
          <a:ln/>
        </p:spPr>
        <p:txBody>
          <a:bodyPr wrap="square" lIns="0" tIns="0" rIns="0" bIns="0" rtlCol="0" anchor="ctr"/>
          <a:lstStyle/>
          <a:p>
            <a:pPr indent="0" marL="0">
              <a:buNone/>
            </a:pPr>
            <a:r>
              <a:rPr lang="en-US" sz="1900" dirty="0">
                <a:solidFill>
                  <a:srgbClr val="F5EFDD"/>
                </a:solidFill>
                <a:latin typeface="Calibri" pitchFamily="34" charset="0"/>
                <a:ea typeface="Calibri" pitchFamily="34" charset="-122"/>
                <a:cs typeface="Calibri" pitchFamily="34" charset="-120"/>
              </a:rPr>
              <a:t>Bloc 3 — Coordonner et piloter un projet de développement d'applications logicielles</a:t>
            </a:r>
            <a:endParaRPr lang="en-US" sz="1900" dirty="0"/>
          </a:p>
        </p:txBody>
      </p:sp>
      <p:sp>
        <p:nvSpPr>
          <p:cNvPr id="7" name="Shape 5"/>
          <p:cNvSpPr/>
          <p:nvPr/>
        </p:nvSpPr>
        <p:spPr>
          <a:xfrm>
            <a:off x="868680" y="3611880"/>
            <a:ext cx="2011680" cy="0"/>
          </a:xfrm>
          <a:prstGeom prst="line">
            <a:avLst/>
          </a:prstGeom>
          <a:noFill/>
          <a:ln w="25400">
            <a:solidFill>
              <a:srgbClr val="D4AF37"/>
            </a:solidFill>
            <a:prstDash val="solid"/>
          </a:ln>
        </p:spPr>
      </p:sp>
      <p:sp>
        <p:nvSpPr>
          <p:cNvPr id="8" name="Text 6"/>
          <p:cNvSpPr/>
          <p:nvPr/>
        </p:nvSpPr>
        <p:spPr>
          <a:xfrm>
            <a:off x="822960" y="3886200"/>
            <a:ext cx="9875520" cy="1463040"/>
          </a:xfrm>
          <a:prstGeom prst="rect">
            <a:avLst/>
          </a:prstGeom>
          <a:noFill/>
          <a:ln/>
        </p:spPr>
        <p:txBody>
          <a:bodyPr wrap="square" lIns="0" tIns="0" rIns="0" bIns="0" rtlCol="0" anchor="ctr"/>
          <a:lstStyle/>
          <a:p>
            <a:pPr indent="0" marL="0">
              <a:lnSpc>
                <a:spcPct val="135000"/>
              </a:lnSpc>
              <a:buNone/>
            </a:pPr>
            <a:r>
              <a:rPr lang="en-US" sz="1350" dirty="0">
                <a:solidFill>
                  <a:srgbClr val="B8AD92"/>
                </a:solidFill>
                <a:latin typeface="Calibri" pitchFamily="34" charset="0"/>
                <a:ea typeface="Calibri" pitchFamily="34" charset="-122"/>
                <a:cs typeface="Calibri" pitchFamily="34" charset="-120"/>
              </a:rPr>
              <a:t>Pierre Saugues — M2 Expert en développement full-stack, YNOV
</a:t>
            </a:r>
            <a:pPr indent="0" marL="0">
              <a:lnSpc>
                <a:spcPct val="135000"/>
              </a:lnSpc>
              <a:buNone/>
            </a:pPr>
            <a:r>
              <a:rPr lang="en-US" sz="1350" dirty="0">
                <a:solidFill>
                  <a:srgbClr val="B8AD92"/>
                </a:solidFill>
                <a:latin typeface="Calibri" pitchFamily="34" charset="0"/>
                <a:ea typeface="Calibri" pitchFamily="34" charset="-122"/>
                <a:cs typeface="Calibri" pitchFamily="34" charset="-120"/>
              </a:rPr>
              <a:t>Titre RNCP39583 « Expert en développement logiciel » — Épreuve orale (30 min de présentation dont ~8 min de démonstration en direct + 15 min d'échanges)
</a:t>
            </a:r>
            <a:pPr indent="0" marL="0">
              <a:lnSpc>
                <a:spcPct val="135000"/>
              </a:lnSpc>
              <a:buNone/>
            </a:pPr>
            <a:r>
              <a:rPr lang="en-US" sz="1350" b="1" dirty="0">
                <a:solidFill>
                  <a:srgbClr val="F0D580"/>
                </a:solidFill>
                <a:latin typeface="Calibri" pitchFamily="34" charset="0"/>
                <a:ea typeface="Calibri" pitchFamily="34" charset="-122"/>
                <a:cs typeface="Calibri" pitchFamily="34" charset="-120"/>
              </a:rPr>
              <a:t>Version présentée : v3.3.1 — septembre 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CONTEXTE</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Le projet en une slide</a:t>
            </a:r>
            <a:endParaRPr lang="en-US" sz="2700" dirty="0"/>
          </a:p>
        </p:txBody>
      </p:sp>
      <p:sp>
        <p:nvSpPr>
          <p:cNvPr id="6" name="Text 4"/>
          <p:cNvSpPr/>
          <p:nvPr/>
        </p:nvSpPr>
        <p:spPr>
          <a:xfrm>
            <a:off x="548640" y="1417320"/>
            <a:ext cx="6035040" cy="320040"/>
          </a:xfrm>
          <a:prstGeom prst="rect">
            <a:avLst/>
          </a:prstGeom>
          <a:noFill/>
          <a:ln/>
        </p:spPr>
        <p:txBody>
          <a:bodyPr wrap="square" lIns="0" tIns="0" rIns="0" bIns="0" rtlCol="0" anchor="ctr"/>
          <a:lstStyle/>
          <a:p>
            <a:pPr indent="0" marL="0">
              <a:buNone/>
            </a:pPr>
            <a:r>
              <a:rPr lang="en-US" sz="1500" b="1" dirty="0">
                <a:solidFill>
                  <a:srgbClr val="D4AF37"/>
                </a:solidFill>
                <a:latin typeface="Cambria" pitchFamily="34" charset="0"/>
                <a:ea typeface="Cambria" pitchFamily="34" charset="-122"/>
                <a:cs typeface="Cambria" pitchFamily="34" charset="-120"/>
              </a:rPr>
              <a:t>Albion Helper</a:t>
            </a:r>
            <a:endParaRPr lang="en-US" sz="1500" dirty="0"/>
          </a:p>
        </p:txBody>
      </p:sp>
      <p:sp>
        <p:nvSpPr>
          <p:cNvPr id="7" name="Text 5"/>
          <p:cNvSpPr/>
          <p:nvPr/>
        </p:nvSpPr>
        <p:spPr>
          <a:xfrm>
            <a:off x="548640" y="1783080"/>
            <a:ext cx="6035040" cy="685800"/>
          </a:xfrm>
          <a:prstGeom prst="rect">
            <a:avLst/>
          </a:prstGeom>
          <a:noFill/>
          <a:ln/>
        </p:spPr>
        <p:txBody>
          <a:bodyPr wrap="square" lIns="0" tIns="0" rIns="0" bIns="0" rtlCol="0" anchor="ctr"/>
          <a:lstStyle/>
          <a:p>
            <a:pPr indent="0" marL="0">
              <a:lnSpc>
                <a:spcPct val="120000"/>
              </a:lnSpc>
              <a:buNone/>
            </a:pPr>
            <a:r>
              <a:rPr lang="en-US" sz="1300" dirty="0">
                <a:solidFill>
                  <a:srgbClr val="F5EFDD"/>
                </a:solidFill>
                <a:latin typeface="Calibri" pitchFamily="34" charset="0"/>
                <a:ea typeface="Calibri" pitchFamily="34" charset="-122"/>
                <a:cs typeface="Calibri" pitchFamily="34" charset="-120"/>
              </a:rPr>
              <a:t>Application web compagnon du jeu Albion Online : elle centralise pour les joueurs et les guildes les informations dispersées de l'univers du jeu.</a:t>
            </a:r>
            <a:endParaRPr lang="en-US" sz="1300" dirty="0"/>
          </a:p>
        </p:txBody>
      </p:sp>
      <p:sp>
        <p:nvSpPr>
          <p:cNvPr id="8" name="Text 6"/>
          <p:cNvSpPr/>
          <p:nvPr/>
        </p:nvSpPr>
        <p:spPr>
          <a:xfrm>
            <a:off x="548640" y="2514600"/>
            <a:ext cx="6035040" cy="274320"/>
          </a:xfrm>
          <a:prstGeom prst="rect">
            <a:avLst/>
          </a:prstGeom>
          <a:noFill/>
          <a:ln/>
        </p:spPr>
        <p:txBody>
          <a:bodyPr wrap="square" lIns="0" tIns="0" rIns="0" bIns="0" rtlCol="0" anchor="ctr"/>
          <a:lstStyle/>
          <a:p>
            <a:pPr indent="0" marL="0">
              <a:buNone/>
            </a:pPr>
            <a:r>
              <a:rPr lang="en-US" sz="1350" b="1" dirty="0">
                <a:solidFill>
                  <a:srgbClr val="D4AF37"/>
                </a:solidFill>
                <a:latin typeface="Cambria" pitchFamily="34" charset="0"/>
                <a:ea typeface="Cambria" pitchFamily="34" charset="-122"/>
                <a:cs typeface="Cambria" pitchFamily="34" charset="-120"/>
              </a:rPr>
              <a:t>Fonctionnalités livrées (v3.3.1)</a:t>
            </a:r>
            <a:endParaRPr lang="en-US" sz="1350" dirty="0"/>
          </a:p>
        </p:txBody>
      </p:sp>
      <p:sp>
        <p:nvSpPr>
          <p:cNvPr id="9" name="Text 7"/>
          <p:cNvSpPr/>
          <p:nvPr/>
        </p:nvSpPr>
        <p:spPr>
          <a:xfrm>
            <a:off x="548640" y="2816352"/>
            <a:ext cx="6035040" cy="1600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5EFDD"/>
                </a:solidFill>
                <a:latin typeface="Calibri" pitchFamily="34" charset="0"/>
                <a:ea typeface="Calibri" pitchFamily="34" charset="-122"/>
                <a:cs typeface="Calibri" pitchFamily="34" charset="-120"/>
              </a:rPr>
              <a:t>Recherche joueurs / guildes, statistiques PvP, rapports de session, batailles ZvZ</a:t>
            </a:r>
            <a:endParaRPr lang="en-US" sz="1200" dirty="0"/>
          </a:p>
          <a:p>
            <a:pPr marL="342900" indent="-342900">
              <a:spcAft>
                <a:spcPts val="600"/>
              </a:spcAft>
              <a:buSzPct val="100000"/>
              <a:buChar char="•"/>
            </a:pPr>
            <a:r>
              <a:rPr lang="en-US" sz="1200" dirty="0">
                <a:solidFill>
                  <a:srgbClr val="F5EFDD"/>
                </a:solidFill>
                <a:latin typeface="Calibri" pitchFamily="34" charset="0"/>
                <a:ea typeface="Calibri" pitchFamily="34" charset="-122"/>
                <a:cs typeface="Calibri" pitchFamily="34" charset="-120"/>
              </a:rPr>
              <a:t>Carte interactive multi-serveur et routes de farming partageables (lien public, expiration 24 h)</a:t>
            </a:r>
            <a:endParaRPr lang="en-US" sz="1200" dirty="0"/>
          </a:p>
          <a:p>
            <a:pPr marL="342900" indent="-342900">
              <a:spcAft>
                <a:spcPts val="600"/>
              </a:spcAft>
              <a:buSzPct val="100000"/>
              <a:buChar char="•"/>
            </a:pPr>
            <a:r>
              <a:rPr lang="en-US" sz="1200" dirty="0">
                <a:solidFill>
                  <a:srgbClr val="F5EFDD"/>
                </a:solidFill>
                <a:latin typeface="Calibri" pitchFamily="34" charset="0"/>
                <a:ea typeface="Calibri" pitchFamily="34" charset="-122"/>
                <a:cs typeface="Calibri" pitchFamily="34" charset="-120"/>
              </a:rPr>
              <a:t>Éditeur de compositions d'équipe (export image) ; calculateur de craft avec prix marché temps réel</a:t>
            </a:r>
            <a:endParaRPr lang="en-US" sz="1200" dirty="0"/>
          </a:p>
          <a:p>
            <a:pPr marL="342900" indent="-342900">
              <a:spcAft>
                <a:spcPts val="600"/>
              </a:spcAft>
              <a:buSzPct val="100000"/>
              <a:buChar char="•"/>
            </a:pPr>
            <a:r>
              <a:rPr lang="en-US" sz="1200" dirty="0">
                <a:solidFill>
                  <a:srgbClr val="F5EFDD"/>
                </a:solidFill>
                <a:latin typeface="Calibri" pitchFamily="34" charset="0"/>
                <a:ea typeface="Calibri" pitchFamily="34" charset="-122"/>
                <a:cs typeface="Calibri" pitchFamily="34" charset="-120"/>
              </a:rPr>
              <a:t>Back-office d'administration (KPI, rôles, synchronisation des items) ; 20 langues administrables</a:t>
            </a:r>
            <a:endParaRPr lang="en-US" sz="1200" dirty="0"/>
          </a:p>
        </p:txBody>
      </p:sp>
      <p:sp>
        <p:nvSpPr>
          <p:cNvPr id="10" name="Shape 8"/>
          <p:cNvSpPr/>
          <p:nvPr/>
        </p:nvSpPr>
        <p:spPr>
          <a:xfrm>
            <a:off x="6903720" y="1417320"/>
            <a:ext cx="2331720" cy="914400"/>
          </a:xfrm>
          <a:prstGeom prst="roundRect">
            <a:avLst>
              <a:gd name="adj" fmla="val 8000"/>
            </a:avLst>
          </a:prstGeom>
          <a:solidFill>
            <a:srgbClr val="2C2314"/>
          </a:solidFill>
          <a:ln w="9525">
            <a:solidFill>
              <a:srgbClr val="3A2F1B"/>
            </a:solidFill>
            <a:prstDash val="solid"/>
          </a:ln>
        </p:spPr>
      </p:sp>
      <p:sp>
        <p:nvSpPr>
          <p:cNvPr id="11" name="Text 9"/>
          <p:cNvSpPr/>
          <p:nvPr/>
        </p:nvSpPr>
        <p:spPr>
          <a:xfrm>
            <a:off x="6903720" y="1472184"/>
            <a:ext cx="2331720" cy="457200"/>
          </a:xfrm>
          <a:prstGeom prst="rect">
            <a:avLst/>
          </a:prstGeom>
          <a:noFill/>
          <a:ln/>
        </p:spPr>
        <p:txBody>
          <a:bodyPr wrap="square" lIns="0" tIns="0" rIns="0" bIns="0" rtlCol="0" anchor="ctr"/>
          <a:lstStyle/>
          <a:p>
            <a:pPr algn="ctr" indent="0" marL="0">
              <a:buNone/>
            </a:pPr>
            <a:r>
              <a:rPr lang="en-US" sz="2400" b="1" dirty="0">
                <a:solidFill>
                  <a:srgbClr val="F0D580"/>
                </a:solidFill>
                <a:latin typeface="Cambria" pitchFamily="34" charset="0"/>
                <a:ea typeface="Cambria" pitchFamily="34" charset="-122"/>
                <a:cs typeface="Cambria" pitchFamily="34" charset="-120"/>
              </a:rPr>
              <a:t>v3.3.1</a:t>
            </a:r>
            <a:endParaRPr lang="en-US" sz="2400" dirty="0"/>
          </a:p>
        </p:txBody>
      </p:sp>
      <p:sp>
        <p:nvSpPr>
          <p:cNvPr id="12" name="Text 10"/>
          <p:cNvSpPr/>
          <p:nvPr/>
        </p:nvSpPr>
        <p:spPr>
          <a:xfrm>
            <a:off x="6995160" y="1947672"/>
            <a:ext cx="2148840" cy="347472"/>
          </a:xfrm>
          <a:prstGeom prst="rect">
            <a:avLst/>
          </a:prstGeom>
          <a:noFill/>
          <a:ln/>
        </p:spPr>
        <p:txBody>
          <a:bodyPr wrap="square" lIns="0" tIns="0" rIns="0" bIns="0" rtlCol="0" anchor="ctr"/>
          <a:lstStyle/>
          <a:p>
            <a:pPr algn="ctr" indent="0" marL="0">
              <a:buNone/>
            </a:pPr>
            <a:r>
              <a:rPr lang="en-US" sz="950" dirty="0">
                <a:solidFill>
                  <a:srgbClr val="B8AD92"/>
                </a:solidFill>
                <a:latin typeface="Calibri" pitchFamily="34" charset="0"/>
                <a:ea typeface="Calibri" pitchFamily="34" charset="-122"/>
                <a:cs typeface="Calibri" pitchFamily="34" charset="-120"/>
              </a:rPr>
              <a:t>version en production</a:t>
            </a:r>
            <a:endParaRPr lang="en-US" sz="950" dirty="0"/>
          </a:p>
        </p:txBody>
      </p:sp>
      <p:sp>
        <p:nvSpPr>
          <p:cNvPr id="13" name="Shape 11"/>
          <p:cNvSpPr/>
          <p:nvPr/>
        </p:nvSpPr>
        <p:spPr>
          <a:xfrm>
            <a:off x="9372600" y="1417320"/>
            <a:ext cx="2331720" cy="914400"/>
          </a:xfrm>
          <a:prstGeom prst="roundRect">
            <a:avLst>
              <a:gd name="adj" fmla="val 8000"/>
            </a:avLst>
          </a:prstGeom>
          <a:solidFill>
            <a:srgbClr val="2C2314"/>
          </a:solidFill>
          <a:ln w="9525">
            <a:solidFill>
              <a:srgbClr val="3A2F1B"/>
            </a:solidFill>
            <a:prstDash val="solid"/>
          </a:ln>
        </p:spPr>
      </p:sp>
      <p:sp>
        <p:nvSpPr>
          <p:cNvPr id="14" name="Text 12"/>
          <p:cNvSpPr/>
          <p:nvPr/>
        </p:nvSpPr>
        <p:spPr>
          <a:xfrm>
            <a:off x="9372600" y="1472184"/>
            <a:ext cx="2331720" cy="457200"/>
          </a:xfrm>
          <a:prstGeom prst="rect">
            <a:avLst/>
          </a:prstGeom>
          <a:noFill/>
          <a:ln/>
        </p:spPr>
        <p:txBody>
          <a:bodyPr wrap="square" lIns="0" tIns="0" rIns="0" bIns="0" rtlCol="0" anchor="ctr"/>
          <a:lstStyle/>
          <a:p>
            <a:pPr algn="ctr" indent="0" marL="0">
              <a:buNone/>
            </a:pPr>
            <a:r>
              <a:rPr lang="en-US" sz="2400" b="1" dirty="0">
                <a:solidFill>
                  <a:srgbClr val="F0D580"/>
                </a:solidFill>
                <a:latin typeface="Cambria" pitchFamily="34" charset="0"/>
                <a:ea typeface="Cambria" pitchFamily="34" charset="-122"/>
                <a:cs typeface="Cambria" pitchFamily="34" charset="-120"/>
              </a:rPr>
              <a:t>177</a:t>
            </a:r>
            <a:endParaRPr lang="en-US" sz="2400" dirty="0"/>
          </a:p>
        </p:txBody>
      </p:sp>
      <p:sp>
        <p:nvSpPr>
          <p:cNvPr id="15" name="Text 13"/>
          <p:cNvSpPr/>
          <p:nvPr/>
        </p:nvSpPr>
        <p:spPr>
          <a:xfrm>
            <a:off x="9464040" y="1947672"/>
            <a:ext cx="2148840" cy="347472"/>
          </a:xfrm>
          <a:prstGeom prst="rect">
            <a:avLst/>
          </a:prstGeom>
          <a:noFill/>
          <a:ln/>
        </p:spPr>
        <p:txBody>
          <a:bodyPr wrap="square" lIns="0" tIns="0" rIns="0" bIns="0" rtlCol="0" anchor="ctr"/>
          <a:lstStyle/>
          <a:p>
            <a:pPr algn="ctr" indent="0" marL="0">
              <a:buNone/>
            </a:pPr>
            <a:r>
              <a:rPr lang="en-US" sz="950" dirty="0">
                <a:solidFill>
                  <a:srgbClr val="B8AD92"/>
                </a:solidFill>
                <a:latin typeface="Calibri" pitchFamily="34" charset="0"/>
                <a:ea typeface="Calibri" pitchFamily="34" charset="-122"/>
                <a:cs typeface="Calibri" pitchFamily="34" charset="-120"/>
              </a:rPr>
              <a:t>tests automatisés, 100 % verts</a:t>
            </a:r>
            <a:endParaRPr lang="en-US" sz="950" dirty="0"/>
          </a:p>
        </p:txBody>
      </p:sp>
      <p:sp>
        <p:nvSpPr>
          <p:cNvPr id="16" name="Shape 14"/>
          <p:cNvSpPr/>
          <p:nvPr/>
        </p:nvSpPr>
        <p:spPr>
          <a:xfrm>
            <a:off x="6903720" y="2468880"/>
            <a:ext cx="2331720" cy="914400"/>
          </a:xfrm>
          <a:prstGeom prst="roundRect">
            <a:avLst>
              <a:gd name="adj" fmla="val 8000"/>
            </a:avLst>
          </a:prstGeom>
          <a:solidFill>
            <a:srgbClr val="2C2314"/>
          </a:solidFill>
          <a:ln w="9525">
            <a:solidFill>
              <a:srgbClr val="3A2F1B"/>
            </a:solidFill>
            <a:prstDash val="solid"/>
          </a:ln>
        </p:spPr>
      </p:sp>
      <p:sp>
        <p:nvSpPr>
          <p:cNvPr id="17" name="Text 15"/>
          <p:cNvSpPr/>
          <p:nvPr/>
        </p:nvSpPr>
        <p:spPr>
          <a:xfrm>
            <a:off x="6903720" y="2523744"/>
            <a:ext cx="2331720" cy="457200"/>
          </a:xfrm>
          <a:prstGeom prst="rect">
            <a:avLst/>
          </a:prstGeom>
          <a:noFill/>
          <a:ln/>
        </p:spPr>
        <p:txBody>
          <a:bodyPr wrap="square" lIns="0" tIns="0" rIns="0" bIns="0" rtlCol="0" anchor="ctr"/>
          <a:lstStyle/>
          <a:p>
            <a:pPr algn="ctr" indent="0" marL="0">
              <a:buNone/>
            </a:pPr>
            <a:r>
              <a:rPr lang="en-US" sz="2400" b="1" dirty="0">
                <a:solidFill>
                  <a:srgbClr val="F0D580"/>
                </a:solidFill>
                <a:latin typeface="Cambria" pitchFamily="34" charset="0"/>
                <a:ea typeface="Cambria" pitchFamily="34" charset="-122"/>
                <a:cs typeface="Cambria" pitchFamily="34" charset="-120"/>
              </a:rPr>
              <a:t>12 066</a:t>
            </a:r>
            <a:endParaRPr lang="en-US" sz="2400" dirty="0"/>
          </a:p>
        </p:txBody>
      </p:sp>
      <p:sp>
        <p:nvSpPr>
          <p:cNvPr id="18" name="Text 16"/>
          <p:cNvSpPr/>
          <p:nvPr/>
        </p:nvSpPr>
        <p:spPr>
          <a:xfrm>
            <a:off x="6995160" y="2999232"/>
            <a:ext cx="2148840" cy="347472"/>
          </a:xfrm>
          <a:prstGeom prst="rect">
            <a:avLst/>
          </a:prstGeom>
          <a:noFill/>
          <a:ln/>
        </p:spPr>
        <p:txBody>
          <a:bodyPr wrap="square" lIns="0" tIns="0" rIns="0" bIns="0" rtlCol="0" anchor="ctr"/>
          <a:lstStyle/>
          <a:p>
            <a:pPr algn="ctr" indent="0" marL="0">
              <a:buNone/>
            </a:pPr>
            <a:r>
              <a:rPr lang="en-US" sz="950" dirty="0">
                <a:solidFill>
                  <a:srgbClr val="B8AD92"/>
                </a:solidFill>
                <a:latin typeface="Calibri" pitchFamily="34" charset="0"/>
                <a:ea typeface="Calibri" pitchFamily="34" charset="-122"/>
                <a:cs typeface="Calibri" pitchFamily="34" charset="-120"/>
              </a:rPr>
              <a:t>items référencés</a:t>
            </a:r>
            <a:endParaRPr lang="en-US" sz="950" dirty="0"/>
          </a:p>
        </p:txBody>
      </p:sp>
      <p:sp>
        <p:nvSpPr>
          <p:cNvPr id="19" name="Shape 17"/>
          <p:cNvSpPr/>
          <p:nvPr/>
        </p:nvSpPr>
        <p:spPr>
          <a:xfrm>
            <a:off x="9372600" y="2468880"/>
            <a:ext cx="2331720" cy="914400"/>
          </a:xfrm>
          <a:prstGeom prst="roundRect">
            <a:avLst>
              <a:gd name="adj" fmla="val 8000"/>
            </a:avLst>
          </a:prstGeom>
          <a:solidFill>
            <a:srgbClr val="2C2314"/>
          </a:solidFill>
          <a:ln w="9525">
            <a:solidFill>
              <a:srgbClr val="3A2F1B"/>
            </a:solidFill>
            <a:prstDash val="solid"/>
          </a:ln>
        </p:spPr>
      </p:sp>
      <p:sp>
        <p:nvSpPr>
          <p:cNvPr id="20" name="Text 18"/>
          <p:cNvSpPr/>
          <p:nvPr/>
        </p:nvSpPr>
        <p:spPr>
          <a:xfrm>
            <a:off x="9372600" y="2523744"/>
            <a:ext cx="2331720" cy="457200"/>
          </a:xfrm>
          <a:prstGeom prst="rect">
            <a:avLst/>
          </a:prstGeom>
          <a:noFill/>
          <a:ln/>
        </p:spPr>
        <p:txBody>
          <a:bodyPr wrap="square" lIns="0" tIns="0" rIns="0" bIns="0" rtlCol="0" anchor="ctr"/>
          <a:lstStyle/>
          <a:p>
            <a:pPr algn="ctr" indent="0" marL="0">
              <a:buNone/>
            </a:pPr>
            <a:r>
              <a:rPr lang="en-US" sz="2400" b="1" dirty="0">
                <a:solidFill>
                  <a:srgbClr val="F0D580"/>
                </a:solidFill>
                <a:latin typeface="Cambria" pitchFamily="34" charset="0"/>
                <a:ea typeface="Cambria" pitchFamily="34" charset="-122"/>
                <a:cs typeface="Cambria" pitchFamily="34" charset="-120"/>
              </a:rPr>
              <a:t>20</a:t>
            </a:r>
            <a:endParaRPr lang="en-US" sz="2400" dirty="0"/>
          </a:p>
        </p:txBody>
      </p:sp>
      <p:sp>
        <p:nvSpPr>
          <p:cNvPr id="21" name="Text 19"/>
          <p:cNvSpPr/>
          <p:nvPr/>
        </p:nvSpPr>
        <p:spPr>
          <a:xfrm>
            <a:off x="9464040" y="2999232"/>
            <a:ext cx="2148840" cy="347472"/>
          </a:xfrm>
          <a:prstGeom prst="rect">
            <a:avLst/>
          </a:prstGeom>
          <a:noFill/>
          <a:ln/>
        </p:spPr>
        <p:txBody>
          <a:bodyPr wrap="square" lIns="0" tIns="0" rIns="0" bIns="0" rtlCol="0" anchor="ctr"/>
          <a:lstStyle/>
          <a:p>
            <a:pPr algn="ctr" indent="0" marL="0">
              <a:buNone/>
            </a:pPr>
            <a:r>
              <a:rPr lang="en-US" sz="950" dirty="0">
                <a:solidFill>
                  <a:srgbClr val="B8AD92"/>
                </a:solidFill>
                <a:latin typeface="Calibri" pitchFamily="34" charset="0"/>
                <a:ea typeface="Calibri" pitchFamily="34" charset="-122"/>
                <a:cs typeface="Calibri" pitchFamily="34" charset="-120"/>
              </a:rPr>
              <a:t>langues administrables</a:t>
            </a:r>
            <a:endParaRPr lang="en-US" sz="950" dirty="0"/>
          </a:p>
        </p:txBody>
      </p:sp>
      <p:sp>
        <p:nvSpPr>
          <p:cNvPr id="22" name="Shape 20"/>
          <p:cNvSpPr/>
          <p:nvPr/>
        </p:nvSpPr>
        <p:spPr>
          <a:xfrm>
            <a:off x="6903720" y="3520440"/>
            <a:ext cx="4800600" cy="1097280"/>
          </a:xfrm>
          <a:prstGeom prst="roundRect">
            <a:avLst>
              <a:gd name="adj" fmla="val 6667"/>
            </a:avLst>
          </a:prstGeom>
          <a:solidFill>
            <a:srgbClr val="241D12"/>
          </a:solidFill>
          <a:ln w="9525">
            <a:solidFill>
              <a:srgbClr val="3A2F1B"/>
            </a:solidFill>
            <a:prstDash val="solid"/>
          </a:ln>
        </p:spPr>
      </p:sp>
      <p:sp>
        <p:nvSpPr>
          <p:cNvPr id="23" name="Text 21"/>
          <p:cNvSpPr/>
          <p:nvPr/>
        </p:nvSpPr>
        <p:spPr>
          <a:xfrm>
            <a:off x="7086600" y="3621024"/>
            <a:ext cx="4709160" cy="256032"/>
          </a:xfrm>
          <a:prstGeom prst="rect">
            <a:avLst/>
          </a:prstGeom>
          <a:noFill/>
          <a:ln/>
        </p:spPr>
        <p:txBody>
          <a:bodyPr wrap="square" lIns="0" tIns="0" rIns="0" bIns="0" rtlCol="0" anchor="ctr"/>
          <a:lstStyle/>
          <a:p>
            <a:pPr indent="0" marL="0">
              <a:buNone/>
            </a:pPr>
            <a:r>
              <a:rPr lang="en-US" sz="1200" b="1" dirty="0">
                <a:solidFill>
                  <a:srgbClr val="D4AF37"/>
                </a:solidFill>
                <a:latin typeface="Cambria" pitchFamily="34" charset="0"/>
                <a:ea typeface="Cambria" pitchFamily="34" charset="-122"/>
                <a:cs typeface="Cambria" pitchFamily="34" charset="-120"/>
              </a:rPr>
              <a:t>Auth durcie &amp; production live</a:t>
            </a:r>
            <a:endParaRPr lang="en-US" sz="1200" dirty="0"/>
          </a:p>
        </p:txBody>
      </p:sp>
      <p:sp>
        <p:nvSpPr>
          <p:cNvPr id="24" name="Text 22"/>
          <p:cNvSpPr/>
          <p:nvPr/>
        </p:nvSpPr>
        <p:spPr>
          <a:xfrm>
            <a:off x="7086600" y="3886200"/>
            <a:ext cx="4709160" cy="68580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F5EFDD"/>
                </a:solidFill>
                <a:latin typeface="Calibri" pitchFamily="34" charset="0"/>
                <a:ea typeface="Calibri" pitchFamily="34" charset="-122"/>
                <a:cs typeface="Calibri" pitchFamily="34" charset="-120"/>
              </a:rPr>
              <a:t>JWT en cookies httpOnly (v3.1.0), activation de compte + reset mot de passe par e-mail</a:t>
            </a:r>
            <a:endParaRPr lang="en-US" sz="1000" dirty="0"/>
          </a:p>
          <a:p>
            <a:pPr marL="342900" indent="-342900">
              <a:spcAft>
                <a:spcPts val="300"/>
              </a:spcAft>
              <a:buSzPct val="100000"/>
              <a:buChar char="•"/>
            </a:pPr>
            <a:r>
              <a:rPr lang="en-US" sz="1000" dirty="0">
                <a:solidFill>
                  <a:srgbClr val="F5EFDD"/>
                </a:solidFill>
                <a:latin typeface="Calibri" pitchFamily="34" charset="0"/>
                <a:ea typeface="Calibri" pitchFamily="34" charset="-122"/>
                <a:cs typeface="Calibri" pitchFamily="34" charset="-120"/>
              </a:rPr>
              <a:t>Prod supervisée : UptimeRobot 99,95 % (7 j) + sonde interne</a:t>
            </a:r>
            <a:endParaRPr lang="en-US" sz="1000" dirty="0"/>
          </a:p>
        </p:txBody>
      </p:sp>
      <p:sp>
        <p:nvSpPr>
          <p:cNvPr id="25" name="Shape 23"/>
          <p:cNvSpPr/>
          <p:nvPr/>
        </p:nvSpPr>
        <p:spPr>
          <a:xfrm>
            <a:off x="548640" y="4754880"/>
            <a:ext cx="11109960" cy="1371600"/>
          </a:xfrm>
          <a:prstGeom prst="roundRect">
            <a:avLst>
              <a:gd name="adj" fmla="val 5333"/>
            </a:avLst>
          </a:prstGeom>
          <a:solidFill>
            <a:srgbClr val="2C2314"/>
          </a:solidFill>
          <a:ln w="9525">
            <a:solidFill>
              <a:srgbClr val="8A6D1D"/>
            </a:solidFill>
            <a:prstDash val="solid"/>
          </a:ln>
        </p:spPr>
      </p:sp>
      <p:sp>
        <p:nvSpPr>
          <p:cNvPr id="26" name="Text 24"/>
          <p:cNvSpPr/>
          <p:nvPr/>
        </p:nvSpPr>
        <p:spPr>
          <a:xfrm>
            <a:off x="777240" y="4873752"/>
            <a:ext cx="457200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Chiffres clés du pilotage</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5166360"/>
          <a:ext cx="10652760" cy="868680"/>
        </p:xfrm>
        <a:graphic>
          <a:graphicData uri="http://schemas.openxmlformats.org/drawingml/2006/table">
            <a:tbl>
              <a:tblPr/>
              <a:tblGrid>
                <a:gridCol w="3017520"/>
                <a:gridCol w="7635240"/>
              </a:tblGrid>
              <a:tr h="217170">
                <a:tc>
                  <a:txBody>
                    <a:bodyPr/>
                    <a:lstStyle/>
                    <a:p>
                      <a:pPr indent="0" marL="0">
                        <a:buNone/>
                      </a:pPr>
                      <a:r>
                        <a:rPr lang="en-US" sz="1000" b="1" dirty="0">
                          <a:solidFill>
                            <a:srgbClr val="F0D580"/>
                          </a:solidFill>
                          <a:latin typeface="Calibri" pitchFamily="34" charset="0"/>
                          <a:ea typeface="Calibri" pitchFamily="34" charset="-122"/>
                          <a:cs typeface="Calibri" pitchFamily="34" charset="-120"/>
                        </a:rPr>
                        <a:t>Durée du projet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c>
                  <a:txBody>
                    <a:bodyPr/>
                    <a:lstStyle/>
                    <a:p>
                      <a:pPr indent="0" marL="0">
                        <a:buNone/>
                      </a:pPr>
                      <a:r>
                        <a:rPr lang="en-US" sz="1000" dirty="0">
                          <a:solidFill>
                            <a:srgbClr val="F5EFDD"/>
                          </a:solidFill>
                          <a:latin typeface="Calibri" pitchFamily="34" charset="0"/>
                          <a:ea typeface="Calibri" pitchFamily="34" charset="-122"/>
                          <a:cs typeface="Calibri" pitchFamily="34" charset="-120"/>
                        </a:rPr>
                        <a:t>Fév. 2025 → sept. 2026</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r>
              <a:tr h="217170">
                <a:tc>
                  <a:txBody>
                    <a:bodyPr/>
                    <a:lstStyle/>
                    <a:p>
                      <a:pPr indent="0" marL="0">
                        <a:buNone/>
                      </a:pPr>
                      <a:r>
                        <a:rPr lang="en-US" sz="1000" b="1" dirty="0">
                          <a:solidFill>
                            <a:srgbClr val="F0D580"/>
                          </a:solidFill>
                          <a:latin typeface="Calibri" pitchFamily="34" charset="0"/>
                          <a:ea typeface="Calibri" pitchFamily="34" charset="-122"/>
                          <a:cs typeface="Calibri" pitchFamily="34" charset="-120"/>
                        </a:rPr>
                        <a:t>Tests automatisés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c>
                  <a:txBody>
                    <a:bodyPr/>
                    <a:lstStyle/>
                    <a:p>
                      <a:pPr indent="0" marL="0">
                        <a:buNone/>
                      </a:pPr>
                      <a:r>
                        <a:rPr lang="en-US" sz="1000" dirty="0">
                          <a:solidFill>
                            <a:srgbClr val="F5EFDD"/>
                          </a:solidFill>
                          <a:latin typeface="Calibri" pitchFamily="34" charset="0"/>
                          <a:ea typeface="Calibri" pitchFamily="34" charset="-122"/>
                          <a:cs typeface="Calibri" pitchFamily="34" charset="-120"/>
                        </a:rPr>
                        <a:t>177 (53 back PHPUnit / 124 front Jest), 100 % verts, bloquants en CI</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r>
              <a:tr h="217170">
                <a:tc>
                  <a:txBody>
                    <a:bodyPr/>
                    <a:lstStyle/>
                    <a:p>
                      <a:pPr indent="0" marL="0">
                        <a:buNone/>
                      </a:pPr>
                      <a:r>
                        <a:rPr lang="en-US" sz="1000" b="1" dirty="0">
                          <a:solidFill>
                            <a:srgbClr val="F0D580"/>
                          </a:solidFill>
                          <a:latin typeface="Calibri" pitchFamily="34" charset="0"/>
                          <a:ea typeface="Calibri" pitchFamily="34" charset="-122"/>
                          <a:cs typeface="Calibri" pitchFamily="34" charset="-120"/>
                        </a:rPr>
                        <a:t>Recette</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c>
                  <a:txBody>
                    <a:bodyPr/>
                    <a:lstStyle/>
                    <a:p>
                      <a:pPr indent="0" marL="0">
                        <a:buNone/>
                      </a:pPr>
                      <a:r>
                        <a:rPr lang="en-US" sz="1000" dirty="0">
                          <a:solidFill>
                            <a:srgbClr val="F5EFDD"/>
                          </a:solidFill>
                          <a:latin typeface="Calibri" pitchFamily="34" charset="0"/>
                          <a:ea typeface="Calibri" pitchFamily="34" charset="-122"/>
                          <a:cs typeface="Calibri" pitchFamily="34" charset="-120"/>
                        </a:rPr>
                        <a:t>29 scénarios — 29/29 PASS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r>
              <a:tr h="217170">
                <a:tc>
                  <a:txBody>
                    <a:bodyPr/>
                    <a:lstStyle/>
                    <a:p>
                      <a:pPr indent="0" marL="0">
                        <a:buNone/>
                      </a:pPr>
                      <a:r>
                        <a:rPr lang="en-US" sz="1000" b="1" dirty="0">
                          <a:solidFill>
                            <a:srgbClr val="F0D580"/>
                          </a:solidFill>
                          <a:latin typeface="Calibri" pitchFamily="34" charset="0"/>
                          <a:ea typeface="Calibri" pitchFamily="34" charset="-122"/>
                          <a:cs typeface="Calibri" pitchFamily="34" charset="-120"/>
                        </a:rPr>
                        <a:t>Déploiement continu</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c>
                  <a:txBody>
                    <a:bodyPr/>
                    <a:lstStyle/>
                    <a:p>
                      <a:pPr indent="0" marL="0">
                        <a:buNone/>
                      </a:pPr>
                      <a:r>
                        <a:rPr lang="en-US" sz="1000" dirty="0">
                          <a:solidFill>
                            <a:srgbClr val="F5EFDD"/>
                          </a:solidFill>
                          <a:latin typeface="Calibri" pitchFamily="34" charset="0"/>
                          <a:ea typeface="Calibri" pitchFamily="34" charset="-122"/>
                          <a:cs typeface="Calibri" pitchFamily="34" charset="-120"/>
                        </a:rPr>
                        <a:t>Opérationnel, vérifié vert (GitHub Actions → SSH → deploy.sh)</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2314"/>
                    </a:solidFill>
                  </a:tcPr>
                </a:tc>
              </a:tr>
            </a:tbl>
          </a:graphicData>
        </a:graphic>
      </p:graphicFrame>
      <p:sp>
        <p:nvSpPr>
          <p:cNvPr id="28" name="Text 25"/>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29" name="Text 2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MÉTHODOLOGIE CHOISIE</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Kanban, adapté au développeur solo</a:t>
            </a:r>
            <a:endParaRPr lang="en-US" sz="2700" dirty="0"/>
          </a:p>
        </p:txBody>
      </p:sp>
      <p:sp>
        <p:nvSpPr>
          <p:cNvPr id="6" name="Text 4"/>
          <p:cNvSpPr/>
          <p:nvPr/>
        </p:nvSpPr>
        <p:spPr>
          <a:xfrm>
            <a:off x="548640" y="1417320"/>
            <a:ext cx="5486400" cy="320040"/>
          </a:xfrm>
          <a:prstGeom prst="rect">
            <a:avLst/>
          </a:prstGeom>
          <a:noFill/>
          <a:ln/>
        </p:spPr>
        <p:txBody>
          <a:bodyPr wrap="square" lIns="0" tIns="0" rIns="0" bIns="0" rtlCol="0" anchor="ctr"/>
          <a:lstStyle/>
          <a:p>
            <a:pPr indent="0" marL="0">
              <a:buNone/>
            </a:pPr>
            <a:r>
              <a:rPr lang="en-US" sz="1400" b="1" dirty="0">
                <a:solidFill>
                  <a:srgbClr val="D4AF37"/>
                </a:solidFill>
                <a:latin typeface="Cambria" pitchFamily="34" charset="0"/>
                <a:ea typeface="Cambria" pitchFamily="34" charset="-122"/>
                <a:cs typeface="Cambria" pitchFamily="34" charset="-120"/>
              </a:rPr>
              <a:t>Pourquoi Kanban plutôt que Scrum ou cycle en V ?</a:t>
            </a:r>
            <a:endParaRPr lang="en-US" sz="1400" dirty="0"/>
          </a:p>
        </p:txBody>
      </p:sp>
      <p:sp>
        <p:nvSpPr>
          <p:cNvPr id="7" name="Text 5"/>
          <p:cNvSpPr/>
          <p:nvPr/>
        </p:nvSpPr>
        <p:spPr>
          <a:xfrm>
            <a:off x="548640" y="1783080"/>
            <a:ext cx="5486400" cy="24688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Flux continu : disponibilité variable (formation + alternance) — des sprints à capacité fixe auraient été artificiels</a:t>
            </a:r>
            <a:endParaRPr lang="en-US" sz="1250" dirty="0"/>
          </a:p>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Cérémonies d'équipe inutiles en solo (daily, rétro) : Kanban n'en impose pas</a:t>
            </a:r>
            <a:endParaRPr lang="en-US" sz="1250" dirty="0"/>
          </a:p>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Cycle en V écarté : le périmètre dépend d'une API tierce (Albion Online) qui évolue — il fallait pouvoir re-prioriser</a:t>
            </a:r>
            <a:endParaRPr lang="en-US" sz="1250" dirty="0"/>
          </a:p>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Colonnes retenues : Backlog → À faire → En cours (WIP = 2) → Recette → Fait</a:t>
            </a:r>
            <a:endParaRPr lang="en-US" sz="1250" dirty="0"/>
          </a:p>
        </p:txBody>
      </p:sp>
      <p:sp>
        <p:nvSpPr>
          <p:cNvPr id="8" name="Text 6"/>
          <p:cNvSpPr/>
          <p:nvPr/>
        </p:nvSpPr>
        <p:spPr>
          <a:xfrm>
            <a:off x="6355080" y="1417320"/>
            <a:ext cx="5303520" cy="320040"/>
          </a:xfrm>
          <a:prstGeom prst="rect">
            <a:avLst/>
          </a:prstGeom>
          <a:noFill/>
          <a:ln/>
        </p:spPr>
        <p:txBody>
          <a:bodyPr wrap="square" lIns="0" tIns="0" rIns="0" bIns="0" rtlCol="0" anchor="ctr"/>
          <a:lstStyle/>
          <a:p>
            <a:pPr indent="0" marL="0">
              <a:buNone/>
            </a:pPr>
            <a:r>
              <a:rPr lang="en-US" sz="1400" b="1" dirty="0">
                <a:solidFill>
                  <a:srgbClr val="D4AF37"/>
                </a:solidFill>
                <a:latin typeface="Cambria" pitchFamily="34" charset="0"/>
                <a:ea typeface="Cambria" pitchFamily="34" charset="-122"/>
                <a:cs typeface="Cambria" pitchFamily="34" charset="-120"/>
              </a:rPr>
              <a:t>Bénéfices attendus — et constatés</a:t>
            </a:r>
            <a:endParaRPr lang="en-US" sz="1400" dirty="0"/>
          </a:p>
        </p:txBody>
      </p:sp>
      <p:sp>
        <p:nvSpPr>
          <p:cNvPr id="9" name="Text 7"/>
          <p:cNvSpPr/>
          <p:nvPr/>
        </p:nvSpPr>
        <p:spPr>
          <a:xfrm>
            <a:off x="6355080" y="1783080"/>
            <a:ext cx="5303520" cy="19202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Limite de travail en cours (WIP 2) : aucune fonctionnalité commencée n'a été abandonnée</a:t>
            </a:r>
            <a:endParaRPr lang="en-US" sz="1250" dirty="0"/>
          </a:p>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Priorisation permanente : la re-priorisation sécurité de juin 2026 a été absorbée sans casser le planning</a:t>
            </a:r>
            <a:endParaRPr lang="en-US" sz="1250" dirty="0"/>
          </a:p>
          <a:p>
            <a:pPr marL="342900" indent="-342900">
              <a:spcAft>
                <a:spcPts val="800"/>
              </a:spcAft>
              <a:buSzPct val="100000"/>
              <a:buChar char="•"/>
            </a:pPr>
            <a:r>
              <a:rPr lang="en-US" sz="1250" dirty="0">
                <a:solidFill>
                  <a:srgbClr val="F5EFDD"/>
                </a:solidFill>
                <a:latin typeface="Calibri" pitchFamily="34" charset="0"/>
                <a:ea typeface="Calibri" pitchFamily="34" charset="-122"/>
                <a:cs typeface="Calibri" pitchFamily="34" charset="-120"/>
              </a:rPr>
              <a:t>Visualisation du flux : goulots rendus visibles (recette groupée en fin de bloc 2) → corrigés en recettant au fil de l'eau ensuite</a:t>
            </a:r>
            <a:endParaRPr lang="en-US" sz="1250" dirty="0"/>
          </a:p>
        </p:txBody>
      </p:sp>
      <p:sp>
        <p:nvSpPr>
          <p:cNvPr id="10" name="Shape 8"/>
          <p:cNvSpPr/>
          <p:nvPr/>
        </p:nvSpPr>
        <p:spPr>
          <a:xfrm>
            <a:off x="6355080" y="3794760"/>
            <a:ext cx="5303520" cy="960120"/>
          </a:xfrm>
          <a:prstGeom prst="roundRect">
            <a:avLst>
              <a:gd name="adj" fmla="val 7619"/>
            </a:avLst>
          </a:prstGeom>
          <a:solidFill>
            <a:srgbClr val="2C2314"/>
          </a:solidFill>
          <a:ln w="9525">
            <a:solidFill>
              <a:srgbClr val="8A6D1D"/>
            </a:solidFill>
            <a:prstDash val="solid"/>
          </a:ln>
        </p:spPr>
      </p:sp>
      <p:sp>
        <p:nvSpPr>
          <p:cNvPr id="11" name="Text 9"/>
          <p:cNvSpPr/>
          <p:nvPr/>
        </p:nvSpPr>
        <p:spPr>
          <a:xfrm>
            <a:off x="6537960" y="3913632"/>
            <a:ext cx="4937760" cy="685800"/>
          </a:xfrm>
          <a:prstGeom prst="rect">
            <a:avLst/>
          </a:prstGeom>
          <a:noFill/>
          <a:ln/>
        </p:spPr>
        <p:txBody>
          <a:bodyPr wrap="square" lIns="0" tIns="0" rIns="0" bIns="0" rtlCol="0" anchor="ctr"/>
          <a:lstStyle/>
          <a:p>
            <a:pPr indent="0" marL="0">
              <a:buNone/>
            </a:pPr>
            <a:r>
              <a:rPr lang="en-US" sz="1100" i="1" dirty="0">
                <a:solidFill>
                  <a:srgbClr val="F5EFDD"/>
                </a:solidFill>
                <a:latin typeface="Calibri" pitchFamily="34" charset="0"/>
                <a:ea typeface="Calibri" pitchFamily="34" charset="-122"/>
                <a:cs typeface="Calibri" pitchFamily="34" charset="-120"/>
              </a:rPr>
              <a:t>Cadence de livraison calée sur des jalons imposés (échéances de certification) : le rétroplanning fixe les dates, Kanban gère le flux entre deux jalons.</a:t>
            </a:r>
            <a:endParaRPr lang="en-US" sz="1100" dirty="0"/>
          </a:p>
        </p:txBody>
      </p:sp>
      <p:sp>
        <p:nvSpPr>
          <p:cNvPr id="12" name="Shape 10"/>
          <p:cNvSpPr/>
          <p:nvPr/>
        </p:nvSpPr>
        <p:spPr>
          <a:xfrm>
            <a:off x="548640" y="4434840"/>
            <a:ext cx="5486400" cy="1691640"/>
          </a:xfrm>
          <a:prstGeom prst="roundRect">
            <a:avLst>
              <a:gd name="adj" fmla="val 4324"/>
            </a:avLst>
          </a:prstGeom>
          <a:solidFill>
            <a:srgbClr val="241D12"/>
          </a:solidFill>
          <a:ln w="9525">
            <a:solidFill>
              <a:srgbClr val="3A2F1B"/>
            </a:solidFill>
            <a:prstDash val="solid"/>
          </a:ln>
        </p:spPr>
      </p:sp>
      <p:sp>
        <p:nvSpPr>
          <p:cNvPr id="13" name="Text 11"/>
          <p:cNvSpPr/>
          <p:nvPr/>
        </p:nvSpPr>
        <p:spPr>
          <a:xfrm>
            <a:off x="777240" y="4553712"/>
            <a:ext cx="502920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Flux Kanban retenu</a:t>
            </a:r>
            <a:endParaRPr lang="en-US" sz="1250" dirty="0"/>
          </a:p>
        </p:txBody>
      </p:sp>
      <p:sp>
        <p:nvSpPr>
          <p:cNvPr id="14" name="Shape 12"/>
          <p:cNvSpPr/>
          <p:nvPr/>
        </p:nvSpPr>
        <p:spPr>
          <a:xfrm>
            <a:off x="777240" y="4983480"/>
            <a:ext cx="969264" cy="822960"/>
          </a:xfrm>
          <a:prstGeom prst="roundRect">
            <a:avLst>
              <a:gd name="adj" fmla="val 6667"/>
            </a:avLst>
          </a:prstGeom>
          <a:solidFill>
            <a:srgbClr val="2C2314"/>
          </a:solidFill>
          <a:ln w="9525">
            <a:solidFill>
              <a:srgbClr val="8A6D1D"/>
            </a:solidFill>
            <a:prstDash val="solid"/>
          </a:ln>
        </p:spPr>
      </p:sp>
      <p:sp>
        <p:nvSpPr>
          <p:cNvPr id="15" name="Text 13"/>
          <p:cNvSpPr/>
          <p:nvPr/>
        </p:nvSpPr>
        <p:spPr>
          <a:xfrm>
            <a:off x="777240" y="4983480"/>
            <a:ext cx="969264" cy="82296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Backlog</a:t>
            </a:r>
            <a:endParaRPr lang="en-US" sz="950" dirty="0"/>
          </a:p>
        </p:txBody>
      </p:sp>
      <p:sp>
        <p:nvSpPr>
          <p:cNvPr id="16" name="Text 14"/>
          <p:cNvSpPr/>
          <p:nvPr/>
        </p:nvSpPr>
        <p:spPr>
          <a:xfrm>
            <a:off x="1746504" y="4983480"/>
            <a:ext cx="109728" cy="8229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1856232" y="4983480"/>
            <a:ext cx="969264" cy="822960"/>
          </a:xfrm>
          <a:prstGeom prst="roundRect">
            <a:avLst>
              <a:gd name="adj" fmla="val 6667"/>
            </a:avLst>
          </a:prstGeom>
          <a:solidFill>
            <a:srgbClr val="2C2314"/>
          </a:solidFill>
          <a:ln w="9525">
            <a:solidFill>
              <a:srgbClr val="8A6D1D"/>
            </a:solidFill>
            <a:prstDash val="solid"/>
          </a:ln>
        </p:spPr>
      </p:sp>
      <p:sp>
        <p:nvSpPr>
          <p:cNvPr id="18" name="Text 16"/>
          <p:cNvSpPr/>
          <p:nvPr/>
        </p:nvSpPr>
        <p:spPr>
          <a:xfrm>
            <a:off x="1856232" y="4983480"/>
            <a:ext cx="969264" cy="82296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À faire</a:t>
            </a:r>
            <a:endParaRPr lang="en-US" sz="950" dirty="0"/>
          </a:p>
        </p:txBody>
      </p:sp>
      <p:sp>
        <p:nvSpPr>
          <p:cNvPr id="19" name="Text 17"/>
          <p:cNvSpPr/>
          <p:nvPr/>
        </p:nvSpPr>
        <p:spPr>
          <a:xfrm>
            <a:off x="2825496" y="4983480"/>
            <a:ext cx="109728" cy="8229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2935224" y="4983480"/>
            <a:ext cx="969264" cy="822960"/>
          </a:xfrm>
          <a:prstGeom prst="roundRect">
            <a:avLst>
              <a:gd name="adj" fmla="val 6667"/>
            </a:avLst>
          </a:prstGeom>
          <a:solidFill>
            <a:srgbClr val="D4AF37"/>
          </a:solidFill>
          <a:ln w="9525">
            <a:solidFill>
              <a:srgbClr val="8A6D1D"/>
            </a:solidFill>
            <a:prstDash val="solid"/>
          </a:ln>
        </p:spPr>
      </p:sp>
      <p:sp>
        <p:nvSpPr>
          <p:cNvPr id="21" name="Text 19"/>
          <p:cNvSpPr/>
          <p:nvPr/>
        </p:nvSpPr>
        <p:spPr>
          <a:xfrm>
            <a:off x="2935224" y="4983480"/>
            <a:ext cx="969264" cy="822960"/>
          </a:xfrm>
          <a:prstGeom prst="rect">
            <a:avLst/>
          </a:prstGeom>
          <a:noFill/>
          <a:ln/>
        </p:spPr>
        <p:txBody>
          <a:bodyPr wrap="square" lIns="0" tIns="0" rIns="0" bIns="0" rtlCol="0" anchor="ctr"/>
          <a:lstStyle/>
          <a:p>
            <a:pPr algn="ctr" indent="0" marL="0">
              <a:buNone/>
            </a:pPr>
            <a:r>
              <a:rPr lang="en-US" sz="950" b="1" dirty="0">
                <a:solidFill>
                  <a:srgbClr val="17130B"/>
                </a:solidFill>
                <a:latin typeface="Calibri" pitchFamily="34" charset="0"/>
                <a:ea typeface="Calibri" pitchFamily="34" charset="-122"/>
                <a:cs typeface="Calibri" pitchFamily="34" charset="-120"/>
              </a:rPr>
              <a:t>En cours</a:t>
            </a:r>
            <a:endParaRPr lang="en-US" sz="950" dirty="0"/>
          </a:p>
          <a:p>
            <a:pPr algn="ctr" indent="0" marL="0">
              <a:buNone/>
            </a:pPr>
            <a:r>
              <a:rPr lang="en-US" sz="950" b="1" dirty="0">
                <a:solidFill>
                  <a:srgbClr val="17130B"/>
                </a:solidFill>
                <a:latin typeface="Calibri" pitchFamily="34" charset="0"/>
                <a:ea typeface="Calibri" pitchFamily="34" charset="-122"/>
                <a:cs typeface="Calibri" pitchFamily="34" charset="-120"/>
              </a:rPr>
              <a:t>(WIP=2)</a:t>
            </a:r>
            <a:endParaRPr lang="en-US" sz="950" dirty="0"/>
          </a:p>
        </p:txBody>
      </p:sp>
      <p:sp>
        <p:nvSpPr>
          <p:cNvPr id="22" name="Text 20"/>
          <p:cNvSpPr/>
          <p:nvPr/>
        </p:nvSpPr>
        <p:spPr>
          <a:xfrm>
            <a:off x="3904488" y="4983480"/>
            <a:ext cx="109728" cy="8229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4014216" y="4983480"/>
            <a:ext cx="969264" cy="822960"/>
          </a:xfrm>
          <a:prstGeom prst="roundRect">
            <a:avLst>
              <a:gd name="adj" fmla="val 6667"/>
            </a:avLst>
          </a:prstGeom>
          <a:solidFill>
            <a:srgbClr val="2C2314"/>
          </a:solidFill>
          <a:ln w="9525">
            <a:solidFill>
              <a:srgbClr val="8A6D1D"/>
            </a:solidFill>
            <a:prstDash val="solid"/>
          </a:ln>
        </p:spPr>
      </p:sp>
      <p:sp>
        <p:nvSpPr>
          <p:cNvPr id="24" name="Text 22"/>
          <p:cNvSpPr/>
          <p:nvPr/>
        </p:nvSpPr>
        <p:spPr>
          <a:xfrm>
            <a:off x="4014216" y="4983480"/>
            <a:ext cx="969264" cy="82296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Recette</a:t>
            </a:r>
            <a:endParaRPr lang="en-US" sz="950" dirty="0"/>
          </a:p>
        </p:txBody>
      </p:sp>
      <p:sp>
        <p:nvSpPr>
          <p:cNvPr id="25" name="Text 23"/>
          <p:cNvSpPr/>
          <p:nvPr/>
        </p:nvSpPr>
        <p:spPr>
          <a:xfrm>
            <a:off x="4983480" y="4983480"/>
            <a:ext cx="109728" cy="8229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5093208" y="4983480"/>
            <a:ext cx="969264" cy="822960"/>
          </a:xfrm>
          <a:prstGeom prst="roundRect">
            <a:avLst>
              <a:gd name="adj" fmla="val 6667"/>
            </a:avLst>
          </a:prstGeom>
          <a:solidFill>
            <a:srgbClr val="2C2314"/>
          </a:solidFill>
          <a:ln w="9525">
            <a:solidFill>
              <a:srgbClr val="8A6D1D"/>
            </a:solidFill>
            <a:prstDash val="solid"/>
          </a:ln>
        </p:spPr>
      </p:sp>
      <p:sp>
        <p:nvSpPr>
          <p:cNvPr id="27" name="Text 25"/>
          <p:cNvSpPr/>
          <p:nvPr/>
        </p:nvSpPr>
        <p:spPr>
          <a:xfrm>
            <a:off x="5093208" y="4983480"/>
            <a:ext cx="969264" cy="82296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Fait</a:t>
            </a:r>
            <a:endParaRPr lang="en-US" sz="950" dirty="0"/>
          </a:p>
        </p:txBody>
      </p:sp>
      <p:sp>
        <p:nvSpPr>
          <p:cNvPr id="28" name="Text 26"/>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29" name="Text 27"/>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PLANNING DÉTAILLÉ</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Rétroplanning en 6 phases, calé sur les jalons</a:t>
            </a:r>
            <a:endParaRPr lang="en-US" sz="2700" dirty="0"/>
          </a:p>
        </p:txBody>
      </p:sp>
      <p:sp>
        <p:nvSpPr>
          <p:cNvPr id="6" name="Text 4"/>
          <p:cNvSpPr/>
          <p:nvPr/>
        </p:nvSpPr>
        <p:spPr>
          <a:xfrm>
            <a:off x="548640" y="1508760"/>
            <a:ext cx="2743200" cy="457200"/>
          </a:xfrm>
          <a:prstGeom prst="rect">
            <a:avLst/>
          </a:prstGeom>
          <a:noFill/>
          <a:ln/>
        </p:spPr>
        <p:txBody>
          <a:bodyPr wrap="square" lIns="0" tIns="0" rIns="0" bIns="0" rtlCol="0" anchor="ctr"/>
          <a:lstStyle/>
          <a:p>
            <a:pPr algn="r" indent="0" marL="0">
              <a:buNone/>
            </a:pPr>
            <a:r>
              <a:rPr lang="en-US" sz="1050" dirty="0">
                <a:solidFill>
                  <a:srgbClr val="B8AD92"/>
                </a:solidFill>
                <a:latin typeface="Calibri" pitchFamily="34" charset="0"/>
                <a:ea typeface="Calibri" pitchFamily="34" charset="-122"/>
                <a:cs typeface="Calibri" pitchFamily="34" charset="-120"/>
              </a:rPr>
              <a:t>Phase 1 — Cadrage &amp; socle technique</a:t>
            </a:r>
            <a:endParaRPr lang="en-US" sz="1050" dirty="0"/>
          </a:p>
        </p:txBody>
      </p:sp>
      <p:sp>
        <p:nvSpPr>
          <p:cNvPr id="7" name="Shape 5"/>
          <p:cNvSpPr/>
          <p:nvPr/>
        </p:nvSpPr>
        <p:spPr>
          <a:xfrm>
            <a:off x="3383280" y="1563624"/>
            <a:ext cx="8138160" cy="365760"/>
          </a:xfrm>
          <a:prstGeom prst="roundRect">
            <a:avLst>
              <a:gd name="adj" fmla="val 10000"/>
            </a:avLst>
          </a:prstGeom>
          <a:solidFill>
            <a:srgbClr val="241D12"/>
          </a:solidFill>
          <a:ln/>
        </p:spPr>
      </p:sp>
      <p:sp>
        <p:nvSpPr>
          <p:cNvPr id="8" name="Shape 6"/>
          <p:cNvSpPr/>
          <p:nvPr/>
        </p:nvSpPr>
        <p:spPr>
          <a:xfrm>
            <a:off x="3383280" y="1563624"/>
            <a:ext cx="732434" cy="365760"/>
          </a:xfrm>
          <a:prstGeom prst="roundRect">
            <a:avLst>
              <a:gd name="adj" fmla="val 10000"/>
            </a:avLst>
          </a:prstGeom>
          <a:solidFill>
            <a:srgbClr val="D4AF37"/>
          </a:solidFill>
          <a:ln/>
        </p:spPr>
      </p:sp>
      <p:sp>
        <p:nvSpPr>
          <p:cNvPr id="9" name="Text 7"/>
          <p:cNvSpPr/>
          <p:nvPr/>
        </p:nvSpPr>
        <p:spPr>
          <a:xfrm>
            <a:off x="3438144" y="1563624"/>
            <a:ext cx="2011680" cy="365760"/>
          </a:xfrm>
          <a:prstGeom prst="rect">
            <a:avLst/>
          </a:prstGeom>
          <a:noFill/>
          <a:ln/>
        </p:spPr>
        <p:txBody>
          <a:bodyPr wrap="square" lIns="0" tIns="0" rIns="0" bIns="0" rtlCol="0" anchor="ctr"/>
          <a:lstStyle/>
          <a:p>
            <a:pPr indent="0" marL="0">
              <a:buNone/>
            </a:pPr>
            <a:r>
              <a:rPr lang="en-US" sz="900" b="1" dirty="0">
                <a:solidFill>
                  <a:srgbClr val="17130B"/>
                </a:solidFill>
                <a:latin typeface="Calibri" pitchFamily="34" charset="0"/>
                <a:ea typeface="Calibri" pitchFamily="34" charset="-122"/>
                <a:cs typeface="Calibri" pitchFamily="34" charset="-120"/>
              </a:rPr>
              <a:t>fév. 2025</a:t>
            </a:r>
            <a:endParaRPr lang="en-US" sz="900" dirty="0"/>
          </a:p>
        </p:txBody>
      </p:sp>
      <p:sp>
        <p:nvSpPr>
          <p:cNvPr id="10" name="Text 8"/>
          <p:cNvSpPr/>
          <p:nvPr/>
        </p:nvSpPr>
        <p:spPr>
          <a:xfrm>
            <a:off x="548640" y="2130552"/>
            <a:ext cx="2743200" cy="457200"/>
          </a:xfrm>
          <a:prstGeom prst="rect">
            <a:avLst/>
          </a:prstGeom>
          <a:noFill/>
          <a:ln/>
        </p:spPr>
        <p:txBody>
          <a:bodyPr wrap="square" lIns="0" tIns="0" rIns="0" bIns="0" rtlCol="0" anchor="ctr"/>
          <a:lstStyle/>
          <a:p>
            <a:pPr algn="r" indent="0" marL="0">
              <a:buNone/>
            </a:pPr>
            <a:r>
              <a:rPr lang="en-US" sz="1050" dirty="0">
                <a:solidFill>
                  <a:srgbClr val="B8AD92"/>
                </a:solidFill>
                <a:latin typeface="Calibri" pitchFamily="34" charset="0"/>
                <a:ea typeface="Calibri" pitchFamily="34" charset="-122"/>
                <a:cs typeface="Calibri" pitchFamily="34" charset="-120"/>
              </a:rPr>
              <a:t>Phase 2 — Fonctionnalités cœur</a:t>
            </a:r>
            <a:endParaRPr lang="en-US" sz="1050" dirty="0"/>
          </a:p>
        </p:txBody>
      </p:sp>
      <p:sp>
        <p:nvSpPr>
          <p:cNvPr id="11" name="Shape 9"/>
          <p:cNvSpPr/>
          <p:nvPr/>
        </p:nvSpPr>
        <p:spPr>
          <a:xfrm>
            <a:off x="3383280" y="2185416"/>
            <a:ext cx="8138160" cy="365760"/>
          </a:xfrm>
          <a:prstGeom prst="roundRect">
            <a:avLst>
              <a:gd name="adj" fmla="val 10000"/>
            </a:avLst>
          </a:prstGeom>
          <a:solidFill>
            <a:srgbClr val="241D12"/>
          </a:solidFill>
          <a:ln/>
        </p:spPr>
      </p:sp>
      <p:sp>
        <p:nvSpPr>
          <p:cNvPr id="12" name="Shape 10"/>
          <p:cNvSpPr/>
          <p:nvPr/>
        </p:nvSpPr>
        <p:spPr>
          <a:xfrm>
            <a:off x="3871570" y="2185416"/>
            <a:ext cx="2441448" cy="365760"/>
          </a:xfrm>
          <a:prstGeom prst="roundRect">
            <a:avLst>
              <a:gd name="adj" fmla="val 10000"/>
            </a:avLst>
          </a:prstGeom>
          <a:solidFill>
            <a:srgbClr val="8A6D1D"/>
          </a:solidFill>
          <a:ln/>
        </p:spPr>
      </p:sp>
      <p:sp>
        <p:nvSpPr>
          <p:cNvPr id="13" name="Text 11"/>
          <p:cNvSpPr/>
          <p:nvPr/>
        </p:nvSpPr>
        <p:spPr>
          <a:xfrm>
            <a:off x="3926434" y="2185416"/>
            <a:ext cx="2350008" cy="365760"/>
          </a:xfrm>
          <a:prstGeom prst="rect">
            <a:avLst/>
          </a:prstGeom>
          <a:noFill/>
          <a:ln/>
        </p:spPr>
        <p:txBody>
          <a:bodyPr wrap="square" lIns="0" tIns="0" rIns="0" bIns="0" rtlCol="0" anchor="ctr"/>
          <a:lstStyle/>
          <a:p>
            <a:pPr indent="0" marL="0">
              <a:buNone/>
            </a:pPr>
            <a:r>
              <a:rPr lang="en-US" sz="900" b="1" dirty="0">
                <a:solidFill>
                  <a:srgbClr val="F5EFDD"/>
                </a:solidFill>
                <a:latin typeface="Calibri" pitchFamily="34" charset="0"/>
                <a:ea typeface="Calibri" pitchFamily="34" charset="-122"/>
                <a:cs typeface="Calibri" pitchFamily="34" charset="-120"/>
              </a:rPr>
              <a:t>2025 : auth, joueurs, guildes, carte</a:t>
            </a:r>
            <a:endParaRPr lang="en-US" sz="900" dirty="0"/>
          </a:p>
        </p:txBody>
      </p:sp>
      <p:sp>
        <p:nvSpPr>
          <p:cNvPr id="14" name="Text 12"/>
          <p:cNvSpPr/>
          <p:nvPr/>
        </p:nvSpPr>
        <p:spPr>
          <a:xfrm>
            <a:off x="548640" y="2752344"/>
            <a:ext cx="2743200" cy="457200"/>
          </a:xfrm>
          <a:prstGeom prst="rect">
            <a:avLst/>
          </a:prstGeom>
          <a:noFill/>
          <a:ln/>
        </p:spPr>
        <p:txBody>
          <a:bodyPr wrap="square" lIns="0" tIns="0" rIns="0" bIns="0" rtlCol="0" anchor="ctr"/>
          <a:lstStyle/>
          <a:p>
            <a:pPr algn="r" indent="0" marL="0">
              <a:buNone/>
            </a:pPr>
            <a:r>
              <a:rPr lang="en-US" sz="1050" dirty="0">
                <a:solidFill>
                  <a:srgbClr val="B8AD92"/>
                </a:solidFill>
                <a:latin typeface="Calibri" pitchFamily="34" charset="0"/>
                <a:ea typeface="Calibri" pitchFamily="34" charset="-122"/>
                <a:cs typeface="Calibri" pitchFamily="34" charset="-120"/>
              </a:rPr>
              <a:t>Phase 3 — Fonctionnalités avancées</a:t>
            </a:r>
            <a:endParaRPr lang="en-US" sz="1050" dirty="0"/>
          </a:p>
        </p:txBody>
      </p:sp>
      <p:sp>
        <p:nvSpPr>
          <p:cNvPr id="15" name="Shape 13"/>
          <p:cNvSpPr/>
          <p:nvPr/>
        </p:nvSpPr>
        <p:spPr>
          <a:xfrm>
            <a:off x="3383280" y="2807208"/>
            <a:ext cx="8138160" cy="365760"/>
          </a:xfrm>
          <a:prstGeom prst="roundRect">
            <a:avLst>
              <a:gd name="adj" fmla="val 10000"/>
            </a:avLst>
          </a:prstGeom>
          <a:solidFill>
            <a:srgbClr val="241D12"/>
          </a:solidFill>
          <a:ln/>
        </p:spPr>
      </p:sp>
      <p:sp>
        <p:nvSpPr>
          <p:cNvPr id="16" name="Shape 14"/>
          <p:cNvSpPr/>
          <p:nvPr/>
        </p:nvSpPr>
        <p:spPr>
          <a:xfrm>
            <a:off x="6068873" y="2807208"/>
            <a:ext cx="1953158" cy="365760"/>
          </a:xfrm>
          <a:prstGeom prst="roundRect">
            <a:avLst>
              <a:gd name="adj" fmla="val 10000"/>
            </a:avLst>
          </a:prstGeom>
          <a:solidFill>
            <a:srgbClr val="D4AF37"/>
          </a:solidFill>
          <a:ln/>
        </p:spPr>
      </p:sp>
      <p:sp>
        <p:nvSpPr>
          <p:cNvPr id="17" name="Text 15"/>
          <p:cNvSpPr/>
          <p:nvPr/>
        </p:nvSpPr>
        <p:spPr>
          <a:xfrm>
            <a:off x="6123737" y="2807208"/>
            <a:ext cx="2011680" cy="365760"/>
          </a:xfrm>
          <a:prstGeom prst="rect">
            <a:avLst/>
          </a:prstGeom>
          <a:noFill/>
          <a:ln/>
        </p:spPr>
        <p:txBody>
          <a:bodyPr wrap="square" lIns="0" tIns="0" rIns="0" bIns="0" rtlCol="0" anchor="ctr"/>
          <a:lstStyle/>
          <a:p>
            <a:pPr indent="0" marL="0">
              <a:buNone/>
            </a:pPr>
            <a:r>
              <a:rPr lang="en-US" sz="900" b="1" dirty="0">
                <a:solidFill>
                  <a:srgbClr val="17130B"/>
                </a:solidFill>
                <a:latin typeface="Calibri" pitchFamily="34" charset="0"/>
                <a:ea typeface="Calibri" pitchFamily="34" charset="-122"/>
                <a:cs typeface="Calibri" pitchFamily="34" charset="-120"/>
              </a:rPr>
              <a:t>routes, compos, craft, admin</a:t>
            </a:r>
            <a:endParaRPr lang="en-US" sz="900" dirty="0"/>
          </a:p>
        </p:txBody>
      </p:sp>
      <p:sp>
        <p:nvSpPr>
          <p:cNvPr id="18" name="Text 16"/>
          <p:cNvSpPr/>
          <p:nvPr/>
        </p:nvSpPr>
        <p:spPr>
          <a:xfrm>
            <a:off x="548640" y="3374136"/>
            <a:ext cx="2743200" cy="457200"/>
          </a:xfrm>
          <a:prstGeom prst="rect">
            <a:avLst/>
          </a:prstGeom>
          <a:noFill/>
          <a:ln/>
        </p:spPr>
        <p:txBody>
          <a:bodyPr wrap="square" lIns="0" tIns="0" rIns="0" bIns="0" rtlCol="0" anchor="ctr"/>
          <a:lstStyle/>
          <a:p>
            <a:pPr algn="r" indent="0" marL="0">
              <a:buNone/>
            </a:pPr>
            <a:r>
              <a:rPr lang="en-US" sz="1050" dirty="0">
                <a:solidFill>
                  <a:srgbClr val="B8AD92"/>
                </a:solidFill>
                <a:latin typeface="Calibri" pitchFamily="34" charset="0"/>
                <a:ea typeface="Calibri" pitchFamily="34" charset="-122"/>
                <a:cs typeface="Calibri" pitchFamily="34" charset="-120"/>
              </a:rPr>
              <a:t>Phase 4 — Qualité, sécurité, recette</a:t>
            </a:r>
            <a:endParaRPr lang="en-US" sz="1050" dirty="0"/>
          </a:p>
        </p:txBody>
      </p:sp>
      <p:sp>
        <p:nvSpPr>
          <p:cNvPr id="19" name="Shape 17"/>
          <p:cNvSpPr/>
          <p:nvPr/>
        </p:nvSpPr>
        <p:spPr>
          <a:xfrm>
            <a:off x="3383280" y="3429000"/>
            <a:ext cx="8138160" cy="365760"/>
          </a:xfrm>
          <a:prstGeom prst="roundRect">
            <a:avLst>
              <a:gd name="adj" fmla="val 10000"/>
            </a:avLst>
          </a:prstGeom>
          <a:solidFill>
            <a:srgbClr val="241D12"/>
          </a:solidFill>
          <a:ln/>
        </p:spPr>
      </p:sp>
      <p:sp>
        <p:nvSpPr>
          <p:cNvPr id="20" name="Shape 18"/>
          <p:cNvSpPr/>
          <p:nvPr/>
        </p:nvSpPr>
        <p:spPr>
          <a:xfrm>
            <a:off x="8266176" y="3429000"/>
            <a:ext cx="2200000" cy="365760"/>
          </a:xfrm>
          <a:prstGeom prst="roundRect">
            <a:avLst>
              <a:gd name="adj" fmla="val 10000"/>
            </a:avLst>
          </a:prstGeom>
          <a:solidFill>
            <a:srgbClr val="8A6D1D"/>
          </a:solidFill>
          <a:ln/>
        </p:spPr>
      </p:sp>
      <p:sp>
        <p:nvSpPr>
          <p:cNvPr id="21" name="Text 19"/>
          <p:cNvSpPr/>
          <p:nvPr/>
        </p:nvSpPr>
        <p:spPr>
          <a:xfrm>
            <a:off x="8321040" y="3429000"/>
            <a:ext cx="2200000" cy="365760"/>
          </a:xfrm>
          <a:prstGeom prst="rect">
            <a:avLst/>
          </a:prstGeom>
          <a:noFill/>
          <a:ln/>
        </p:spPr>
        <p:txBody>
          <a:bodyPr wrap="square" lIns="0" tIns="0" rIns="0" bIns="0" rtlCol="0" anchor="ctr"/>
          <a:lstStyle/>
          <a:p>
            <a:pPr indent="0" marL="0">
              <a:buNone/>
            </a:pPr>
            <a:r>
              <a:rPr lang="en-US" sz="900" b="1" dirty="0">
                <a:solidFill>
                  <a:srgbClr val="F5EFDD"/>
                </a:solidFill>
                <a:latin typeface="Calibri" pitchFamily="34" charset="0"/>
                <a:ea typeface="Calibri" pitchFamily="34" charset="-122"/>
                <a:cs typeface="Calibri" pitchFamily="34" charset="-120"/>
              </a:rPr>
              <a:t>juin 2026 · jalon Bloc 2 ✓</a:t>
            </a:r>
            <a:endParaRPr lang="en-US" sz="900" dirty="0"/>
          </a:p>
        </p:txBody>
      </p:sp>
      <p:sp>
        <p:nvSpPr>
          <p:cNvPr id="22" name="Text 20"/>
          <p:cNvSpPr/>
          <p:nvPr/>
        </p:nvSpPr>
        <p:spPr>
          <a:xfrm>
            <a:off x="548640" y="3995928"/>
            <a:ext cx="2743200" cy="457200"/>
          </a:xfrm>
          <a:prstGeom prst="rect">
            <a:avLst/>
          </a:prstGeom>
          <a:noFill/>
          <a:ln/>
        </p:spPr>
        <p:txBody>
          <a:bodyPr wrap="square" lIns="0" tIns="0" rIns="0" bIns="0" rtlCol="0" anchor="ctr"/>
          <a:lstStyle/>
          <a:p>
            <a:pPr algn="r" indent="0" marL="0">
              <a:buNone/>
            </a:pPr>
            <a:r>
              <a:rPr lang="en-US" sz="1050" dirty="0">
                <a:solidFill>
                  <a:srgbClr val="B8AD92"/>
                </a:solidFill>
                <a:latin typeface="Calibri" pitchFamily="34" charset="0"/>
                <a:ea typeface="Calibri" pitchFamily="34" charset="-122"/>
                <a:cs typeface="Calibri" pitchFamily="34" charset="-120"/>
              </a:rPr>
              <a:t>Phase 5 — i18n &amp; multi-serveur</a:t>
            </a:r>
            <a:endParaRPr lang="en-US" sz="1050" dirty="0"/>
          </a:p>
        </p:txBody>
      </p:sp>
      <p:sp>
        <p:nvSpPr>
          <p:cNvPr id="23" name="Shape 21"/>
          <p:cNvSpPr/>
          <p:nvPr/>
        </p:nvSpPr>
        <p:spPr>
          <a:xfrm>
            <a:off x="3383280" y="4050792"/>
            <a:ext cx="8138160" cy="365760"/>
          </a:xfrm>
          <a:prstGeom prst="roundRect">
            <a:avLst>
              <a:gd name="adj" fmla="val 10000"/>
            </a:avLst>
          </a:prstGeom>
          <a:solidFill>
            <a:srgbClr val="241D12"/>
          </a:solidFill>
          <a:ln/>
        </p:spPr>
      </p:sp>
      <p:sp>
        <p:nvSpPr>
          <p:cNvPr id="24" name="Shape 22"/>
          <p:cNvSpPr/>
          <p:nvPr/>
        </p:nvSpPr>
        <p:spPr>
          <a:xfrm>
            <a:off x="9242755" y="4050792"/>
            <a:ext cx="1900000" cy="365760"/>
          </a:xfrm>
          <a:prstGeom prst="roundRect">
            <a:avLst>
              <a:gd name="adj" fmla="val 10000"/>
            </a:avLst>
          </a:prstGeom>
          <a:solidFill>
            <a:srgbClr val="D4AF37"/>
          </a:solidFill>
          <a:ln/>
        </p:spPr>
      </p:sp>
      <p:sp>
        <p:nvSpPr>
          <p:cNvPr id="25" name="Text 23"/>
          <p:cNvSpPr/>
          <p:nvPr/>
        </p:nvSpPr>
        <p:spPr>
          <a:xfrm>
            <a:off x="9297619" y="4050792"/>
            <a:ext cx="2011680" cy="365760"/>
          </a:xfrm>
          <a:prstGeom prst="rect">
            <a:avLst/>
          </a:prstGeom>
          <a:noFill/>
          <a:ln/>
        </p:spPr>
        <p:txBody>
          <a:bodyPr wrap="square" lIns="0" tIns="0" rIns="0" bIns="0" rtlCol="0" anchor="ctr"/>
          <a:lstStyle/>
          <a:p>
            <a:pPr indent="0" marL="0">
              <a:buNone/>
            </a:pPr>
            <a:r>
              <a:rPr lang="en-US" sz="900" b="1" dirty="0">
                <a:solidFill>
                  <a:srgbClr val="17130B"/>
                </a:solidFill>
                <a:latin typeface="Calibri" pitchFamily="34" charset="0"/>
                <a:ea typeface="Calibri" pitchFamily="34" charset="-122"/>
                <a:cs typeface="Calibri" pitchFamily="34" charset="-120"/>
              </a:rPr>
              <a:t>juil. 2026 · 20 langues</a:t>
            </a:r>
            <a:endParaRPr lang="en-US" sz="900" dirty="0"/>
          </a:p>
        </p:txBody>
      </p:sp>
      <p:sp>
        <p:nvSpPr>
          <p:cNvPr id="26" name="Text 24"/>
          <p:cNvSpPr/>
          <p:nvPr/>
        </p:nvSpPr>
        <p:spPr>
          <a:xfrm>
            <a:off x="548640" y="4617720"/>
            <a:ext cx="2743200" cy="457200"/>
          </a:xfrm>
          <a:prstGeom prst="rect">
            <a:avLst/>
          </a:prstGeom>
          <a:noFill/>
          <a:ln/>
        </p:spPr>
        <p:txBody>
          <a:bodyPr wrap="square" lIns="0" tIns="0" rIns="0" bIns="0" rtlCol="0" anchor="ctr"/>
          <a:lstStyle/>
          <a:p>
            <a:pPr algn="r" indent="0" marL="0">
              <a:buNone/>
            </a:pPr>
            <a:r>
              <a:rPr lang="en-US" sz="1050" dirty="0">
                <a:solidFill>
                  <a:srgbClr val="B8AD92"/>
                </a:solidFill>
                <a:latin typeface="Calibri" pitchFamily="34" charset="0"/>
                <a:ea typeface="Calibri" pitchFamily="34" charset="-122"/>
                <a:cs typeface="Calibri" pitchFamily="34" charset="-120"/>
              </a:rPr>
              <a:t>Phase 6 — Supervision &amp; prod live</a:t>
            </a:r>
            <a:endParaRPr lang="en-US" sz="1050" dirty="0"/>
          </a:p>
        </p:txBody>
      </p:sp>
      <p:sp>
        <p:nvSpPr>
          <p:cNvPr id="27" name="Shape 25"/>
          <p:cNvSpPr/>
          <p:nvPr/>
        </p:nvSpPr>
        <p:spPr>
          <a:xfrm>
            <a:off x="3383280" y="4672584"/>
            <a:ext cx="8138160" cy="365760"/>
          </a:xfrm>
          <a:prstGeom prst="roundRect">
            <a:avLst>
              <a:gd name="adj" fmla="val 10000"/>
            </a:avLst>
          </a:prstGeom>
          <a:solidFill>
            <a:srgbClr val="241D12"/>
          </a:solidFill>
          <a:ln/>
        </p:spPr>
      </p:sp>
      <p:sp>
        <p:nvSpPr>
          <p:cNvPr id="28" name="Shape 26"/>
          <p:cNvSpPr/>
          <p:nvPr/>
        </p:nvSpPr>
        <p:spPr>
          <a:xfrm>
            <a:off x="9893808" y="4672584"/>
            <a:ext cx="1627632" cy="365760"/>
          </a:xfrm>
          <a:prstGeom prst="roundRect">
            <a:avLst>
              <a:gd name="adj" fmla="val 10000"/>
            </a:avLst>
          </a:prstGeom>
          <a:solidFill>
            <a:srgbClr val="8A6D1D"/>
          </a:solidFill>
          <a:ln/>
        </p:spPr>
      </p:sp>
      <p:sp>
        <p:nvSpPr>
          <p:cNvPr id="29" name="Text 27"/>
          <p:cNvSpPr/>
          <p:nvPr/>
        </p:nvSpPr>
        <p:spPr>
          <a:xfrm>
            <a:off x="9948672" y="4672584"/>
            <a:ext cx="2011680" cy="365760"/>
          </a:xfrm>
          <a:prstGeom prst="rect">
            <a:avLst/>
          </a:prstGeom>
          <a:noFill/>
          <a:ln/>
        </p:spPr>
        <p:txBody>
          <a:bodyPr wrap="square" lIns="0" tIns="0" rIns="0" bIns="0" rtlCol="0" anchor="ctr"/>
          <a:lstStyle/>
          <a:p>
            <a:pPr indent="0" marL="0">
              <a:buNone/>
            </a:pPr>
            <a:r>
              <a:rPr lang="en-US" sz="900" b="1" dirty="0">
                <a:solidFill>
                  <a:srgbClr val="F5EFDD"/>
                </a:solidFill>
                <a:latin typeface="Calibri" pitchFamily="34" charset="0"/>
                <a:ea typeface="Calibri" pitchFamily="34" charset="-122"/>
                <a:cs typeface="Calibri" pitchFamily="34" charset="-120"/>
              </a:rPr>
              <a:t>juil.–sept. · jalons Blocs 4 &amp; 3 · v3.3.1</a:t>
            </a:r>
            <a:endParaRPr lang="en-US" sz="900" dirty="0"/>
          </a:p>
        </p:txBody>
      </p:sp>
      <p:sp>
        <p:nvSpPr>
          <p:cNvPr id="30" name="Text 28"/>
          <p:cNvSpPr/>
          <p:nvPr/>
        </p:nvSpPr>
        <p:spPr>
          <a:xfrm>
            <a:off x="548640" y="5468112"/>
            <a:ext cx="539496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Construction du planning</a:t>
            </a:r>
            <a:endParaRPr lang="en-US" sz="1250" dirty="0"/>
          </a:p>
        </p:txBody>
      </p:sp>
      <p:sp>
        <p:nvSpPr>
          <p:cNvPr id="31" name="Text 29"/>
          <p:cNvSpPr/>
          <p:nvPr/>
        </p:nvSpPr>
        <p:spPr>
          <a:xfrm>
            <a:off x="548640" y="5760720"/>
            <a:ext cx="5394960" cy="77724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F5EFDD"/>
                </a:solidFill>
                <a:latin typeface="Calibri" pitchFamily="34" charset="0"/>
                <a:ea typeface="Calibri" pitchFamily="34" charset="-122"/>
                <a:cs typeface="Calibri" pitchFamily="34" charset="-120"/>
              </a:rPr>
              <a:t>Rétroplanning : on part des jalons non négociables (dépôts DigiformaCertif, oral) et on remonte</a:t>
            </a:r>
            <a:endParaRPr lang="en-US" sz="1050" dirty="0"/>
          </a:p>
          <a:p>
            <a:pPr marL="342900" indent="-342900">
              <a:spcAft>
                <a:spcPts val="400"/>
              </a:spcAft>
              <a:buSzPct val="100000"/>
              <a:buChar char="•"/>
            </a:pPr>
            <a:r>
              <a:rPr lang="en-US" sz="1050" dirty="0">
                <a:solidFill>
                  <a:srgbClr val="F5EFDD"/>
                </a:solidFill>
                <a:latin typeface="Calibri" pitchFamily="34" charset="0"/>
                <a:ea typeface="Calibri" pitchFamily="34" charset="-122"/>
                <a:cs typeface="Calibri" pitchFamily="34" charset="-120"/>
              </a:rPr>
              <a:t>Chaque phase découpée en lots livrables (cartes Kanban), estimés en jours-homme</a:t>
            </a:r>
            <a:endParaRPr lang="en-US" sz="1050" dirty="0"/>
          </a:p>
        </p:txBody>
      </p:sp>
      <p:sp>
        <p:nvSpPr>
          <p:cNvPr id="32" name="Text 30"/>
          <p:cNvSpPr/>
          <p:nvPr/>
        </p:nvSpPr>
        <p:spPr>
          <a:xfrm>
            <a:off x="6172200" y="5468112"/>
            <a:ext cx="548640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Outil : GitHub Projects + jalons Git</a:t>
            </a:r>
            <a:endParaRPr lang="en-US" sz="1250" dirty="0"/>
          </a:p>
        </p:txBody>
      </p:sp>
      <p:sp>
        <p:nvSpPr>
          <p:cNvPr id="33" name="Text 31"/>
          <p:cNvSpPr/>
          <p:nvPr/>
        </p:nvSpPr>
        <p:spPr>
          <a:xfrm>
            <a:off x="6172200" y="5760720"/>
            <a:ext cx="5486400" cy="77724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F5EFDD"/>
                </a:solidFill>
                <a:latin typeface="Calibri" pitchFamily="34" charset="0"/>
                <a:ea typeface="Calibri" pitchFamily="34" charset="-122"/>
                <a:cs typeface="Calibri" pitchFamily="34" charset="-120"/>
              </a:rPr>
              <a:t>Tableau Kanban natif, lié aux commits et aux issues : la carte se ferme avec le code qui la réalise</a:t>
            </a:r>
            <a:endParaRPr lang="en-US" sz="1050" dirty="0"/>
          </a:p>
          <a:p>
            <a:pPr marL="342900" indent="-342900">
              <a:spcAft>
                <a:spcPts val="400"/>
              </a:spcAft>
              <a:buSzPct val="100000"/>
              <a:buChar char="•"/>
            </a:pPr>
            <a:r>
              <a:rPr lang="en-US" sz="1050" dirty="0">
                <a:solidFill>
                  <a:srgbClr val="F5EFDD"/>
                </a:solidFill>
                <a:latin typeface="Calibri" pitchFamily="34" charset="0"/>
                <a:ea typeface="Calibri" pitchFamily="34" charset="-122"/>
                <a:cs typeface="Calibri" pitchFamily="34" charset="-120"/>
              </a:rPr>
              <a:t>Gratuit, hébergé avec le code — un seul outil pour le suivi et les sources</a:t>
            </a:r>
            <a:endParaRPr lang="en-US" sz="1050" dirty="0"/>
          </a:p>
        </p:txBody>
      </p:sp>
      <p:sp>
        <p:nvSpPr>
          <p:cNvPr id="34" name="Text 32"/>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35" name="Text 33"/>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RESSOURCES NÉCESSAIRES</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Ressources humaines, matérielles et financières</a:t>
            </a:r>
            <a:endParaRPr lang="en-US" sz="2700" dirty="0"/>
          </a:p>
        </p:txBody>
      </p:sp>
      <p:sp>
        <p:nvSpPr>
          <p:cNvPr id="6" name="Text 4"/>
          <p:cNvSpPr/>
          <p:nvPr/>
        </p:nvSpPr>
        <p:spPr>
          <a:xfrm>
            <a:off x="548640" y="1417320"/>
            <a:ext cx="5486400" cy="274320"/>
          </a:xfrm>
          <a:prstGeom prst="rect">
            <a:avLst/>
          </a:prstGeom>
          <a:noFill/>
          <a:ln/>
        </p:spPr>
        <p:txBody>
          <a:bodyPr wrap="square" lIns="0" tIns="0" rIns="0" bIns="0" rtlCol="0" anchor="ctr"/>
          <a:lstStyle/>
          <a:p>
            <a:pPr indent="0" marL="0">
              <a:buNone/>
            </a:pPr>
            <a:r>
              <a:rPr lang="en-US" sz="1350" b="1" dirty="0">
                <a:solidFill>
                  <a:srgbClr val="D4AF37"/>
                </a:solidFill>
                <a:latin typeface="Cambria" pitchFamily="34" charset="0"/>
                <a:ea typeface="Cambria" pitchFamily="34" charset="-122"/>
                <a:cs typeface="Cambria" pitchFamily="34" charset="-120"/>
              </a:rPr>
              <a:t>Humaines</a:t>
            </a:r>
            <a:endParaRPr lang="en-US" sz="1350" dirty="0"/>
          </a:p>
        </p:txBody>
      </p:sp>
      <p:sp>
        <p:nvSpPr>
          <p:cNvPr id="7" name="Text 5"/>
          <p:cNvSpPr/>
          <p:nvPr/>
        </p:nvSpPr>
        <p:spPr>
          <a:xfrm>
            <a:off x="548640" y="1719072"/>
            <a:ext cx="5486400" cy="9601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F5EFDD"/>
                </a:solidFill>
                <a:latin typeface="Calibri" pitchFamily="34" charset="0"/>
                <a:ea typeface="Calibri" pitchFamily="34" charset="-122"/>
                <a:cs typeface="Calibri" pitchFamily="34" charset="-120"/>
              </a:rPr>
              <a:t>1 développeur full-stack (moi), portant 6 casquettes : back, front, ops/CI, QA, sécurité, documentation</a:t>
            </a:r>
            <a:endParaRPr lang="en-US" sz="1200" dirty="0"/>
          </a:p>
          <a:p>
            <a:pPr marL="342900" indent="-342900">
              <a:spcAft>
                <a:spcPts val="500"/>
              </a:spcAft>
              <a:buSzPct val="100000"/>
              <a:buChar char="•"/>
            </a:pPr>
            <a:r>
              <a:rPr lang="en-US" sz="1200" dirty="0">
                <a:solidFill>
                  <a:srgbClr val="F5EFDD"/>
                </a:solidFill>
                <a:latin typeface="Calibri" pitchFamily="34" charset="0"/>
                <a:ea typeface="Calibri" pitchFamily="34" charset="-122"/>
                <a:cs typeface="Calibri" pitchFamily="34" charset="-120"/>
              </a:rPr>
              <a:t>Parties prenantes mobilisées : joueurs testeurs (recette d'usage), encadrants YNOV (jalons)</a:t>
            </a:r>
            <a:endParaRPr lang="en-US" sz="1200" dirty="0"/>
          </a:p>
        </p:txBody>
      </p:sp>
      <p:sp>
        <p:nvSpPr>
          <p:cNvPr id="8" name="Text 6"/>
          <p:cNvSpPr/>
          <p:nvPr/>
        </p:nvSpPr>
        <p:spPr>
          <a:xfrm>
            <a:off x="548640" y="2724912"/>
            <a:ext cx="5486400" cy="274320"/>
          </a:xfrm>
          <a:prstGeom prst="rect">
            <a:avLst/>
          </a:prstGeom>
          <a:noFill/>
          <a:ln/>
        </p:spPr>
        <p:txBody>
          <a:bodyPr wrap="square" lIns="0" tIns="0" rIns="0" bIns="0" rtlCol="0" anchor="ctr"/>
          <a:lstStyle/>
          <a:p>
            <a:pPr indent="0" marL="0">
              <a:buNone/>
            </a:pPr>
            <a:r>
              <a:rPr lang="en-US" sz="1350" b="1" dirty="0">
                <a:solidFill>
                  <a:srgbClr val="D4AF37"/>
                </a:solidFill>
                <a:latin typeface="Cambria" pitchFamily="34" charset="0"/>
                <a:ea typeface="Cambria" pitchFamily="34" charset="-122"/>
                <a:cs typeface="Cambria" pitchFamily="34" charset="-120"/>
              </a:rPr>
              <a:t>Matérielles &amp; logicielles</a:t>
            </a:r>
            <a:endParaRPr lang="en-US" sz="1350" dirty="0"/>
          </a:p>
        </p:txBody>
      </p:sp>
      <p:sp>
        <p:nvSpPr>
          <p:cNvPr id="9" name="Text 7"/>
          <p:cNvSpPr/>
          <p:nvPr/>
        </p:nvSpPr>
        <p:spPr>
          <a:xfrm>
            <a:off x="548640" y="3017520"/>
            <a:ext cx="5486400" cy="11887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F5EFDD"/>
                </a:solidFill>
                <a:latin typeface="Calibri" pitchFamily="34" charset="0"/>
                <a:ea typeface="Calibri" pitchFamily="34" charset="-122"/>
                <a:cs typeface="Calibri" pitchFamily="34" charset="-120"/>
              </a:rPr>
              <a:t>Poste de développement macOS</a:t>
            </a:r>
            <a:endParaRPr lang="en-US" sz="1200" dirty="0"/>
          </a:p>
          <a:p>
            <a:pPr marL="342900" indent="-342900">
              <a:spcAft>
                <a:spcPts val="500"/>
              </a:spcAft>
              <a:buSzPct val="100000"/>
              <a:buChar char="•"/>
            </a:pPr>
            <a:r>
              <a:rPr lang="en-US" sz="1200" dirty="0">
                <a:solidFill>
                  <a:srgbClr val="F5EFDD"/>
                </a:solidFill>
                <a:latin typeface="Calibri" pitchFamily="34" charset="0"/>
                <a:ea typeface="Calibri" pitchFamily="34" charset="-122"/>
                <a:cs typeface="Calibri" pitchFamily="34" charset="-120"/>
              </a:rPr>
              <a:t>VPS de production (perfweb.net) : Nginx, PHP-FPM, PostgreSQL 16</a:t>
            </a:r>
            <a:endParaRPr lang="en-US" sz="1200" dirty="0"/>
          </a:p>
          <a:p>
            <a:pPr marL="342900" indent="-342900">
              <a:spcAft>
                <a:spcPts val="500"/>
              </a:spcAft>
              <a:buSzPct val="100000"/>
              <a:buChar char="•"/>
            </a:pPr>
            <a:r>
              <a:rPr lang="en-US" sz="1200" dirty="0">
                <a:solidFill>
                  <a:srgbClr val="F5EFDD"/>
                </a:solidFill>
                <a:latin typeface="Calibri" pitchFamily="34" charset="0"/>
                <a:ea typeface="Calibri" pitchFamily="34" charset="-122"/>
                <a:cs typeface="Calibri" pitchFamily="34" charset="-120"/>
              </a:rPr>
              <a:t>GitHub (sources, CI/CD, Dependabot, Projects) — offre gratuite</a:t>
            </a:r>
            <a:endParaRPr lang="en-US" sz="1200" dirty="0"/>
          </a:p>
        </p:txBody>
      </p:sp>
      <p:sp>
        <p:nvSpPr>
          <p:cNvPr id="10" name="Text 8"/>
          <p:cNvSpPr/>
          <p:nvPr/>
        </p:nvSpPr>
        <p:spPr>
          <a:xfrm>
            <a:off x="6355080" y="1417320"/>
            <a:ext cx="5303520" cy="274320"/>
          </a:xfrm>
          <a:prstGeom prst="rect">
            <a:avLst/>
          </a:prstGeom>
          <a:noFill/>
          <a:ln/>
        </p:spPr>
        <p:txBody>
          <a:bodyPr wrap="square" lIns="0" tIns="0" rIns="0" bIns="0" rtlCol="0" anchor="ctr"/>
          <a:lstStyle/>
          <a:p>
            <a:pPr indent="0" marL="0">
              <a:buNone/>
            </a:pPr>
            <a:r>
              <a:rPr lang="en-US" sz="1350" b="1" dirty="0">
                <a:solidFill>
                  <a:srgbClr val="D4AF37"/>
                </a:solidFill>
                <a:latin typeface="Cambria" pitchFamily="34" charset="0"/>
                <a:ea typeface="Cambria" pitchFamily="34" charset="-122"/>
                <a:cs typeface="Cambria" pitchFamily="34" charset="-120"/>
              </a:rPr>
              <a:t>Financières (budget annuel réel)</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55080" y="1737360"/>
          <a:ext cx="5303520" cy="914400"/>
        </p:xfrm>
        <a:graphic>
          <a:graphicData uri="http://schemas.openxmlformats.org/drawingml/2006/table">
            <a:tbl>
              <a:tblPr/>
              <a:tblGrid>
                <a:gridCol w="3566160"/>
                <a:gridCol w="173736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Poste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Coût</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VPS de production</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~120 € / an</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Nom de domaine</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~15 € / an</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Outillage (GitHub, UptimeRobot, i18n)</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0 € (offres gratuites)</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Licences logicielles</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0 € (stack 100 % open source)</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100" b="1" dirty="0">
                          <a:solidFill>
                            <a:srgbClr val="F0D580"/>
                          </a:solidFill>
                          <a:latin typeface="Calibri" pitchFamily="34" charset="0"/>
                          <a:ea typeface="Calibri" pitchFamily="34" charset="-122"/>
                          <a:cs typeface="Calibri" pitchFamily="34" charset="-120"/>
                        </a:rPr>
                        <a:t>Total infrastructure</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C2314"/>
                    </a:solidFill>
                  </a:tcPr>
                </a:tc>
                <a:tc>
                  <a:txBody>
                    <a:bodyPr/>
                    <a:lstStyle/>
                    <a:p>
                      <a:pPr indent="0" marL="0">
                        <a:buNone/>
                      </a:pPr>
                      <a:r>
                        <a:rPr lang="en-US" sz="1100" b="1" dirty="0">
                          <a:solidFill>
                            <a:srgbClr val="F0D580"/>
                          </a:solidFill>
                          <a:latin typeface="Calibri" pitchFamily="34" charset="0"/>
                          <a:ea typeface="Calibri" pitchFamily="34" charset="-122"/>
                          <a:cs typeface="Calibri" pitchFamily="34" charset="-120"/>
                        </a:rPr>
                        <a:t>~135 € / an</a:t>
                      </a:r>
                      <a:endParaRPr lang="en-US" sz="11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C2314"/>
                    </a:solidFill>
                  </a:tcPr>
                </a:tc>
              </a:tr>
            </a:tbl>
          </a:graphicData>
        </a:graphic>
      </p:graphicFrame>
      <p:sp>
        <p:nvSpPr>
          <p:cNvPr id="12" name="Shape 9"/>
          <p:cNvSpPr/>
          <p:nvPr/>
        </p:nvSpPr>
        <p:spPr>
          <a:xfrm>
            <a:off x="6355080" y="4160520"/>
            <a:ext cx="5303520" cy="1463040"/>
          </a:xfrm>
          <a:prstGeom prst="roundRect">
            <a:avLst>
              <a:gd name="adj" fmla="val 5000"/>
            </a:avLst>
          </a:prstGeom>
          <a:solidFill>
            <a:srgbClr val="2C2314"/>
          </a:solidFill>
          <a:ln w="9525">
            <a:solidFill>
              <a:srgbClr val="8A6D1D"/>
            </a:solidFill>
            <a:prstDash val="solid"/>
          </a:ln>
        </p:spPr>
      </p:sp>
      <p:sp>
        <p:nvSpPr>
          <p:cNvPr id="13" name="Text 10"/>
          <p:cNvSpPr/>
          <p:nvPr/>
        </p:nvSpPr>
        <p:spPr>
          <a:xfrm>
            <a:off x="6583680" y="4279392"/>
            <a:ext cx="484632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Charge de développement</a:t>
            </a:r>
            <a:endParaRPr lang="en-US" sz="1250" dirty="0"/>
          </a:p>
        </p:txBody>
      </p:sp>
      <p:sp>
        <p:nvSpPr>
          <p:cNvPr id="14" name="Text 11"/>
          <p:cNvSpPr/>
          <p:nvPr/>
        </p:nvSpPr>
        <p:spPr>
          <a:xfrm>
            <a:off x="6583680" y="4572000"/>
            <a:ext cx="4846320" cy="960120"/>
          </a:xfrm>
          <a:prstGeom prst="rect">
            <a:avLst/>
          </a:prstGeom>
          <a:noFill/>
          <a:ln/>
        </p:spPr>
        <p:txBody>
          <a:bodyPr wrap="square" lIns="0" tIns="0" rIns="0" bIns="0" rtlCol="0" anchor="ctr"/>
          <a:lstStyle/>
          <a:p>
            <a:pPr indent="0" marL="0">
              <a:lnSpc>
                <a:spcPct val="125000"/>
              </a:lnSpc>
              <a:buNone/>
            </a:pPr>
            <a:r>
              <a:rPr lang="en-US" sz="1100" dirty="0">
                <a:solidFill>
                  <a:srgbClr val="F5EFDD"/>
                </a:solidFill>
                <a:latin typeface="Calibri" pitchFamily="34" charset="0"/>
                <a:ea typeface="Calibri" pitchFamily="34" charset="-122"/>
                <a:cs typeface="Calibri" pitchFamily="34" charset="-120"/>
              </a:rPr>
              <a:t>Estimation ~85 j-h + 10 % de marge ≈ 94 j-h (méthode par analogie), valorisée ≈ 37,6 k€ au TJM de 400 €. C'est cette charge, et non l'infrastructure, que le pilotage protège en priorité.</a:t>
            </a:r>
            <a:endParaRPr lang="en-US" sz="1100" dirty="0"/>
          </a:p>
        </p:txBody>
      </p:sp>
      <p:sp>
        <p:nvSpPr>
          <p:cNvPr id="15" name="Text 12"/>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6" name="Text 13"/>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OUTIL DE SUIVI &amp; INDICATEURS</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Un tableau de bord adossé à GitHub</a:t>
            </a:r>
            <a:endParaRPr lang="en-US" sz="2700" dirty="0"/>
          </a:p>
        </p:txBody>
      </p:sp>
      <p:sp>
        <p:nvSpPr>
          <p:cNvPr id="6" name="Text 4"/>
          <p:cNvSpPr/>
          <p:nvPr/>
        </p:nvSpPr>
        <p:spPr>
          <a:xfrm>
            <a:off x="548640" y="1417320"/>
            <a:ext cx="5394960" cy="274320"/>
          </a:xfrm>
          <a:prstGeom prst="rect">
            <a:avLst/>
          </a:prstGeom>
          <a:noFill/>
          <a:ln/>
        </p:spPr>
        <p:txBody>
          <a:bodyPr wrap="square" lIns="0" tIns="0" rIns="0" bIns="0" rtlCol="0" anchor="ctr"/>
          <a:lstStyle/>
          <a:p>
            <a:pPr indent="0" marL="0">
              <a:buNone/>
            </a:pPr>
            <a:r>
              <a:rPr lang="en-US" sz="1300" b="1" dirty="0">
                <a:solidFill>
                  <a:srgbClr val="D4AF37"/>
                </a:solidFill>
                <a:latin typeface="Cambria" pitchFamily="34" charset="0"/>
                <a:ea typeface="Cambria" pitchFamily="34" charset="-122"/>
                <a:cs typeface="Cambria" pitchFamily="34" charset="-120"/>
              </a:rPr>
              <a:t>Suivi opérationnel — GitHub Projects</a:t>
            </a:r>
            <a:endParaRPr lang="en-US" sz="1300" dirty="0"/>
          </a:p>
        </p:txBody>
      </p:sp>
      <p:sp>
        <p:nvSpPr>
          <p:cNvPr id="7" name="Text 5"/>
          <p:cNvSpPr/>
          <p:nvPr/>
        </p:nvSpPr>
        <p:spPr>
          <a:xfrm>
            <a:off x="548640" y="1737360"/>
            <a:ext cx="5394960" cy="196596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F5EFDD"/>
                </a:solidFill>
                <a:latin typeface="Calibri" pitchFamily="34" charset="0"/>
                <a:ea typeface="Calibri" pitchFamily="34" charset="-122"/>
                <a:cs typeface="Calibri" pitchFamily="34" charset="-120"/>
              </a:rPr>
              <a:t>Tableau Kanban : chaque fonctionnalité / bug devient une carte, liée à ses commits et issues</a:t>
            </a:r>
            <a:endParaRPr lang="en-US" sz="1150" dirty="0"/>
          </a:p>
          <a:p>
            <a:pPr marL="342900" indent="-342900">
              <a:spcAft>
                <a:spcPts val="700"/>
              </a:spcAft>
              <a:buSzPct val="100000"/>
              <a:buChar char="•"/>
            </a:pPr>
            <a:r>
              <a:rPr lang="en-US" sz="1150" dirty="0">
                <a:solidFill>
                  <a:srgbClr val="F5EFDD"/>
                </a:solidFill>
                <a:latin typeface="Calibri" pitchFamily="34" charset="0"/>
                <a:ea typeface="Calibri" pitchFamily="34" charset="-122"/>
                <a:cs typeface="Calibri" pitchFamily="34" charset="-120"/>
              </a:rPr>
              <a:t>Historique Git en Conventional Commits (feat:, fix:, test:…) : le journal de bord du projet, exploitable pour mesurer l'avancement par type d'activité</a:t>
            </a:r>
            <a:endParaRPr lang="en-US" sz="1150" dirty="0"/>
          </a:p>
          <a:p>
            <a:pPr marL="342900" indent="-342900">
              <a:spcAft>
                <a:spcPts val="700"/>
              </a:spcAft>
              <a:buSzPct val="100000"/>
              <a:buChar char="•"/>
            </a:pPr>
            <a:r>
              <a:rPr lang="en-US" sz="1150" dirty="0">
                <a:solidFill>
                  <a:srgbClr val="F5EFDD"/>
                </a:solidFill>
                <a:latin typeface="Calibri" pitchFamily="34" charset="0"/>
                <a:ea typeface="Calibri" pitchFamily="34" charset="-122"/>
                <a:cs typeface="Calibri" pitchFamily="34" charset="-120"/>
              </a:rPr>
              <a:t>CI GitHub Actions : chaque poussée de code re-valide l'ensemble des 177 tests avant tout déploiement</a:t>
            </a:r>
            <a:endParaRPr lang="en-US" sz="1150" dirty="0"/>
          </a:p>
        </p:txBody>
      </p:sp>
      <p:sp>
        <p:nvSpPr>
          <p:cNvPr id="8" name="Shape 6"/>
          <p:cNvSpPr/>
          <p:nvPr/>
        </p:nvSpPr>
        <p:spPr>
          <a:xfrm>
            <a:off x="548640" y="3794760"/>
            <a:ext cx="5394960" cy="1051560"/>
          </a:xfrm>
          <a:prstGeom prst="roundRect">
            <a:avLst>
              <a:gd name="adj" fmla="val 6957"/>
            </a:avLst>
          </a:prstGeom>
          <a:solidFill>
            <a:srgbClr val="2C2314"/>
          </a:solidFill>
          <a:ln w="9525">
            <a:solidFill>
              <a:srgbClr val="8A6D1D"/>
            </a:solidFill>
            <a:prstDash val="solid"/>
          </a:ln>
        </p:spPr>
      </p:sp>
      <p:sp>
        <p:nvSpPr>
          <p:cNvPr id="9" name="Text 7"/>
          <p:cNvSpPr/>
          <p:nvPr/>
        </p:nvSpPr>
        <p:spPr>
          <a:xfrm>
            <a:off x="777240" y="3931920"/>
            <a:ext cx="4937760" cy="777240"/>
          </a:xfrm>
          <a:prstGeom prst="rect">
            <a:avLst/>
          </a:prstGeom>
          <a:noFill/>
          <a:ln/>
        </p:spPr>
        <p:txBody>
          <a:bodyPr wrap="square" lIns="0" tIns="0" rIns="0" bIns="0" rtlCol="0" anchor="ctr"/>
          <a:lstStyle/>
          <a:p>
            <a:pPr indent="0" marL="0">
              <a:lnSpc>
                <a:spcPct val="125000"/>
              </a:lnSpc>
              <a:buNone/>
            </a:pPr>
            <a:r>
              <a:rPr lang="en-US" sz="1100" i="1" dirty="0">
                <a:solidFill>
                  <a:srgbClr val="F5EFDD"/>
                </a:solidFill>
                <a:latin typeface="Calibri" pitchFamily="34" charset="0"/>
                <a:ea typeface="Calibri" pitchFamily="34" charset="-122"/>
                <a:cs typeface="Calibri" pitchFamily="34" charset="-120"/>
              </a:rPr>
              <a:t>Le tableau GitHub Projects et le dernier run de CI seront montrés en direct pendant cette présentation.</a:t>
            </a:r>
            <a:endParaRPr lang="en-US" sz="1100" dirty="0"/>
          </a:p>
        </p:txBody>
      </p:sp>
      <p:sp>
        <p:nvSpPr>
          <p:cNvPr id="10" name="Text 8"/>
          <p:cNvSpPr/>
          <p:nvPr/>
        </p:nvSpPr>
        <p:spPr>
          <a:xfrm>
            <a:off x="6172200" y="1417320"/>
            <a:ext cx="5486400" cy="274320"/>
          </a:xfrm>
          <a:prstGeom prst="rect">
            <a:avLst/>
          </a:prstGeom>
          <a:noFill/>
          <a:ln/>
        </p:spPr>
        <p:txBody>
          <a:bodyPr wrap="square" lIns="0" tIns="0" rIns="0" bIns="0" rtlCol="0" anchor="ctr"/>
          <a:lstStyle/>
          <a:p>
            <a:pPr indent="0" marL="0">
              <a:buNone/>
            </a:pPr>
            <a:r>
              <a:rPr lang="en-US" sz="1300" b="1" dirty="0">
                <a:solidFill>
                  <a:srgbClr val="D4AF37"/>
                </a:solidFill>
                <a:latin typeface="Cambria" pitchFamily="34" charset="0"/>
                <a:ea typeface="Cambria" pitchFamily="34" charset="-122"/>
                <a:cs typeface="Cambria" pitchFamily="34" charset="-120"/>
              </a:rPr>
              <a:t>Indicateurs mesurables et quantifiables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72200" y="1737360"/>
          <a:ext cx="5486400" cy="914400"/>
        </p:xfrm>
        <a:graphic>
          <a:graphicData uri="http://schemas.openxmlformats.org/drawingml/2006/table">
            <a:tbl>
              <a:tblPr/>
              <a:tblGrid>
                <a:gridCol w="1371600"/>
                <a:gridCol w="2834640"/>
                <a:gridCol w="128016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Axe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Indicateur</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Valeur</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Avancement</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Scénarios de recette PASS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29 / 29</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Qualité</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Tests CI (53 back + 124 front)</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177, 100 %</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Délais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Jalons certification tenus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Blocs 1, 2, 4 déposés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Déploiement</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CD opérationnel</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Vérifié vert</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Coûts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Budget infra consommé</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~135 € / 150 € prévus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Risques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Vulnérabilités critiques ouvertes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0 (audit + Dependabot)</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Disponibilité</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Supervision prod (7 j)</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b="1" dirty="0">
                          <a:solidFill>
                            <a:srgbClr val="7FD68A"/>
                          </a:solidFill>
                          <a:latin typeface="Calibri" pitchFamily="34" charset="0"/>
                          <a:ea typeface="Calibri" pitchFamily="34" charset="-122"/>
                          <a:cs typeface="Calibri" pitchFamily="34" charset="-120"/>
                        </a:rPr>
                        <a:t>99,95 %</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12" name="Text 9"/>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3" name="Text 1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UN CAS D'ARBITRAGE RENCONTRÉ</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Où stocker le jeton d'authentification ?</a:t>
            </a:r>
            <a:endParaRPr lang="en-US" sz="2700" dirty="0"/>
          </a:p>
        </p:txBody>
      </p:sp>
      <p:sp>
        <p:nvSpPr>
          <p:cNvPr id="6" name="Text 4"/>
          <p:cNvSpPr/>
          <p:nvPr/>
        </p:nvSpPr>
        <p:spPr>
          <a:xfrm>
            <a:off x="548640" y="1417320"/>
            <a:ext cx="11109960" cy="685800"/>
          </a:xfrm>
          <a:prstGeom prst="rect">
            <a:avLst/>
          </a:prstGeom>
          <a:noFill/>
          <a:ln/>
        </p:spPr>
        <p:txBody>
          <a:bodyPr wrap="square" lIns="0" tIns="0" rIns="0" bIns="0" rtlCol="0" anchor="ctr"/>
          <a:lstStyle/>
          <a:p>
            <a:pPr indent="0" marL="0">
              <a:lnSpc>
                <a:spcPct val="120000"/>
              </a:lnSpc>
              <a:buNone/>
            </a:pPr>
            <a:r>
              <a:rPr lang="en-US" sz="1200" dirty="0">
                <a:solidFill>
                  <a:srgbClr val="F5EFDD"/>
                </a:solidFill>
                <a:latin typeface="Calibri" pitchFamily="34" charset="0"/>
                <a:ea typeface="Calibri" pitchFamily="34" charset="-122"/>
                <a:cs typeface="Calibri" pitchFamily="34" charset="-120"/>
              </a:rPr>
              <a:t>Problématique (juin 2026, revue de sécurité du bloc 2) : le jeton JWT était conservé dans le localStorage du navigateur — vulnérable en cas de faille XSS. L'alternative « cookie httpOnly » est plus sûre, mais imposait de refondre l'authentification côté API et côté front à J-10 du dépôt.</a:t>
            </a:r>
            <a:endParaRPr lang="en-US" sz="1200" dirty="0"/>
          </a:p>
        </p:txBody>
      </p:sp>
      <p:sp>
        <p:nvSpPr>
          <p:cNvPr id="7" name="Text 5"/>
          <p:cNvSpPr/>
          <p:nvPr/>
        </p:nvSpPr>
        <p:spPr>
          <a:xfrm>
            <a:off x="548640" y="2194560"/>
            <a:ext cx="548640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Options évaluées en juin 2026</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487168"/>
          <a:ext cx="5486400" cy="914400"/>
        </p:xfrm>
        <a:graphic>
          <a:graphicData uri="http://schemas.openxmlformats.org/drawingml/2006/table">
            <a:tbl>
              <a:tblPr/>
              <a:tblGrid>
                <a:gridCol w="1554480"/>
                <a:gridCol w="2103120"/>
                <a:gridCol w="1828800"/>
              </a:tblGrid>
              <a:tr h="0">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localStorage + mitigations</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Cookie httpOnly</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Risque XSS</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Réduit (TTL 1 h, rotation)</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Neutralisé</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Risque CSRF</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Nul</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À traiter (anti-CSRF)</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Coût immédiat</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j-h</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4–5 j-h + re-recette</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Risque planning</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Aucun</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Menace le jalon du 19/06</a:t>
                      </a:r>
                      <a:endParaRPr lang="en-US" sz="100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9" name="Shape 6"/>
          <p:cNvSpPr/>
          <p:nvPr/>
        </p:nvSpPr>
        <p:spPr>
          <a:xfrm>
            <a:off x="548640" y="4800600"/>
            <a:ext cx="5486400" cy="1371600"/>
          </a:xfrm>
          <a:prstGeom prst="roundRect">
            <a:avLst>
              <a:gd name="adj" fmla="val 5333"/>
            </a:avLst>
          </a:prstGeom>
          <a:solidFill>
            <a:srgbClr val="2C2314"/>
          </a:solidFill>
          <a:ln w="9525">
            <a:solidFill>
              <a:srgbClr val="8A6D1D"/>
            </a:solidFill>
            <a:prstDash val="solid"/>
          </a:ln>
        </p:spPr>
      </p:sp>
      <p:sp>
        <p:nvSpPr>
          <p:cNvPr id="10" name="Text 7"/>
          <p:cNvSpPr/>
          <p:nvPr/>
        </p:nvSpPr>
        <p:spPr>
          <a:xfrm>
            <a:off x="777240" y="4901184"/>
            <a:ext cx="5029200" cy="256032"/>
          </a:xfrm>
          <a:prstGeom prst="rect">
            <a:avLst/>
          </a:prstGeom>
          <a:noFill/>
          <a:ln/>
        </p:spPr>
        <p:txBody>
          <a:bodyPr wrap="square" lIns="0" tIns="0" rIns="0" bIns="0" rtlCol="0" anchor="ctr"/>
          <a:lstStyle/>
          <a:p>
            <a:pPr indent="0" marL="0">
              <a:buNone/>
            </a:pPr>
            <a:r>
              <a:rPr lang="en-US" sz="1150" b="1" dirty="0">
                <a:solidFill>
                  <a:srgbClr val="D4AF37"/>
                </a:solidFill>
                <a:latin typeface="Cambria" pitchFamily="34" charset="0"/>
                <a:ea typeface="Cambria" pitchFamily="34" charset="-122"/>
                <a:cs typeface="Cambria" pitchFamily="34" charset="-120"/>
              </a:rPr>
              <a:t>Décision (juin 2026)</a:t>
            </a:r>
            <a:endParaRPr lang="en-US" sz="1150" dirty="0"/>
          </a:p>
        </p:txBody>
      </p:sp>
      <p:sp>
        <p:nvSpPr>
          <p:cNvPr id="11" name="Text 8"/>
          <p:cNvSpPr/>
          <p:nvPr/>
        </p:nvSpPr>
        <p:spPr>
          <a:xfrm>
            <a:off x="777240" y="5175504"/>
            <a:ext cx="5029200" cy="914400"/>
          </a:xfrm>
          <a:prstGeom prst="rect">
            <a:avLst/>
          </a:prstGeom>
          <a:noFill/>
          <a:ln/>
        </p:spPr>
        <p:txBody>
          <a:bodyPr wrap="square" lIns="0" tIns="0" rIns="0" bIns="0" rtlCol="0" anchor="ctr"/>
          <a:lstStyle/>
          <a:p>
            <a:pPr indent="0" marL="0">
              <a:lnSpc>
                <a:spcPct val="120000"/>
              </a:lnSpc>
              <a:buNone/>
            </a:pPr>
            <a:r>
              <a:rPr lang="en-US" sz="1000" dirty="0">
                <a:solidFill>
                  <a:srgbClr val="F5EFDD"/>
                </a:solidFill>
                <a:latin typeface="Calibri" pitchFamily="34" charset="0"/>
                <a:ea typeface="Calibri" pitchFamily="34" charset="-122"/>
                <a:cs typeface="Calibri" pitchFamily="34" charset="-120"/>
              </a:rPr>
              <a:t>Conserver localStorage avec mitigations immédiates (TTL 1 h, rotation des refresh tokens, CSP) ; inscrire la migration httpOnly au backlog comme axe d'amélioration documenté. Le jalon a été tenu, le risque résiduel tracé et accepté en connaissance de cause.</a:t>
            </a:r>
            <a:endParaRPr lang="en-US" sz="1000" dirty="0"/>
          </a:p>
        </p:txBody>
      </p:sp>
      <p:sp>
        <p:nvSpPr>
          <p:cNvPr id="12" name="Text 9"/>
          <p:cNvSpPr/>
          <p:nvPr/>
        </p:nvSpPr>
        <p:spPr>
          <a:xfrm>
            <a:off x="6355080" y="2194560"/>
            <a:ext cx="530352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Ce qui s'est passé ensuite</a:t>
            </a:r>
            <a:endParaRPr lang="en-US" sz="1250" dirty="0"/>
          </a:p>
        </p:txBody>
      </p:sp>
      <p:sp>
        <p:nvSpPr>
          <p:cNvPr id="13" name="Shape 10"/>
          <p:cNvSpPr/>
          <p:nvPr/>
        </p:nvSpPr>
        <p:spPr>
          <a:xfrm>
            <a:off x="6355080" y="2487168"/>
            <a:ext cx="5303520" cy="3685032"/>
          </a:xfrm>
          <a:prstGeom prst="roundRect">
            <a:avLst>
              <a:gd name="adj" fmla="val 1985"/>
            </a:avLst>
          </a:prstGeom>
          <a:solidFill>
            <a:srgbClr val="2C2314"/>
          </a:solidFill>
          <a:ln w="9525">
            <a:solidFill>
              <a:srgbClr val="D4AF37"/>
            </a:solidFill>
            <a:prstDash val="solid"/>
          </a:ln>
        </p:spPr>
      </p:sp>
      <p:sp>
        <p:nvSpPr>
          <p:cNvPr id="14" name="Text 11"/>
          <p:cNvSpPr/>
          <p:nvPr/>
        </p:nvSpPr>
        <p:spPr>
          <a:xfrm>
            <a:off x="6583680" y="2651760"/>
            <a:ext cx="4846320" cy="320040"/>
          </a:xfrm>
          <a:prstGeom prst="rect">
            <a:avLst/>
          </a:prstGeom>
          <a:noFill/>
          <a:ln/>
        </p:spPr>
        <p:txBody>
          <a:bodyPr wrap="square" lIns="0" tIns="0" rIns="0" bIns="0" rtlCol="0" anchor="ctr"/>
          <a:lstStyle/>
          <a:p>
            <a:pPr indent="0" marL="0">
              <a:buNone/>
            </a:pPr>
            <a:r>
              <a:rPr lang="en-US" sz="1300" b="1" dirty="0">
                <a:solidFill>
                  <a:srgbClr val="F0D580"/>
                </a:solidFill>
                <a:latin typeface="Cambria" pitchFamily="34" charset="0"/>
                <a:ea typeface="Cambria" pitchFamily="34" charset="-122"/>
                <a:cs typeface="Cambria" pitchFamily="34" charset="-120"/>
              </a:rPr>
              <a:t>v3.1.0 — la préconisation devient réalité</a:t>
            </a:r>
            <a:endParaRPr lang="en-US" sz="1300" dirty="0"/>
          </a:p>
        </p:txBody>
      </p:sp>
      <p:sp>
        <p:nvSpPr>
          <p:cNvPr id="15" name="Text 12"/>
          <p:cNvSpPr/>
          <p:nvPr/>
        </p:nvSpPr>
        <p:spPr>
          <a:xfrm>
            <a:off x="6583680" y="3017520"/>
            <a:ext cx="4846320" cy="192024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F5EFDD"/>
                </a:solidFill>
                <a:latin typeface="Calibri" pitchFamily="34" charset="0"/>
                <a:ea typeface="Calibri" pitchFamily="34" charset="-122"/>
                <a:cs typeface="Calibri" pitchFamily="34" charset="-120"/>
              </a:rPr>
              <a:t>Axe d'amélioration inscrit au backlog en juin 2026 → planifié dans la phase 5 → livré en v3.1.0</a:t>
            </a:r>
            <a:endParaRPr lang="en-US" sz="1100" dirty="0"/>
          </a:p>
          <a:p>
            <a:pPr marL="342900" indent="-342900">
              <a:spcAft>
                <a:spcPts val="800"/>
              </a:spcAft>
              <a:buSzPct val="100000"/>
              <a:buChar char="•"/>
            </a:pPr>
            <a:r>
              <a:rPr lang="en-US" sz="1100" dirty="0">
                <a:solidFill>
                  <a:srgbClr val="F5EFDD"/>
                </a:solidFill>
                <a:latin typeface="Calibri" pitchFamily="34" charset="0"/>
                <a:ea typeface="Calibri" pitchFamily="34" charset="-122"/>
                <a:cs typeface="Calibri" pitchFamily="34" charset="-120"/>
              </a:rPr>
              <a:t>JWT désormais en cookie httpOnly, protection anti-CSRF ajoutée, authentification refondue sans régression (recette 29/29 PASS)</a:t>
            </a:r>
            <a:endParaRPr lang="en-US" sz="1100" dirty="0"/>
          </a:p>
          <a:p>
            <a:pPr marL="342900" indent="-342900">
              <a:spcAft>
                <a:spcPts val="800"/>
              </a:spcAft>
              <a:buSzPct val="100000"/>
              <a:buChar char="•"/>
            </a:pPr>
            <a:r>
              <a:rPr lang="en-US" sz="1100" dirty="0">
                <a:solidFill>
                  <a:srgbClr val="F5EFDD"/>
                </a:solidFill>
                <a:latin typeface="Calibri" pitchFamily="34" charset="0"/>
                <a:ea typeface="Calibri" pitchFamily="34" charset="-122"/>
                <a:cs typeface="Calibri" pitchFamily="34" charset="-120"/>
              </a:rPr>
              <a:t>Le report n'était pas un renoncement : c'était une priorisation assumée, tracée, puis honorée dans le cycle suivant</a:t>
            </a:r>
            <a:endParaRPr lang="en-US" sz="1100" dirty="0"/>
          </a:p>
        </p:txBody>
      </p:sp>
      <p:sp>
        <p:nvSpPr>
          <p:cNvPr id="16" name="Shape 13"/>
          <p:cNvSpPr/>
          <p:nvPr/>
        </p:nvSpPr>
        <p:spPr>
          <a:xfrm>
            <a:off x="6583680" y="5074920"/>
            <a:ext cx="4846320" cy="0"/>
          </a:xfrm>
          <a:prstGeom prst="line">
            <a:avLst/>
          </a:prstGeom>
          <a:noFill/>
          <a:ln w="12700">
            <a:solidFill>
              <a:srgbClr val="8A6D1D"/>
            </a:solidFill>
            <a:prstDash val="solid"/>
          </a:ln>
        </p:spPr>
      </p:sp>
      <p:sp>
        <p:nvSpPr>
          <p:cNvPr id="17" name="Text 14"/>
          <p:cNvSpPr/>
          <p:nvPr/>
        </p:nvSpPr>
        <p:spPr>
          <a:xfrm>
            <a:off x="6583680" y="5193792"/>
            <a:ext cx="4846320" cy="868680"/>
          </a:xfrm>
          <a:prstGeom prst="rect">
            <a:avLst/>
          </a:prstGeom>
          <a:noFill/>
          <a:ln/>
        </p:spPr>
        <p:txBody>
          <a:bodyPr wrap="square" lIns="0" tIns="0" rIns="0" bIns="0" rtlCol="0" anchor="ctr"/>
          <a:lstStyle/>
          <a:p>
            <a:pPr indent="0" marL="0">
              <a:lnSpc>
                <a:spcPct val="120000"/>
              </a:lnSpc>
              <a:buNone/>
            </a:pPr>
            <a:r>
              <a:rPr lang="en-US" sz="1050" i="1" dirty="0">
                <a:solidFill>
                  <a:srgbClr val="B8AD92"/>
                </a:solidFill>
                <a:latin typeface="Calibri" pitchFamily="34" charset="0"/>
                <a:ea typeface="Calibri" pitchFamily="34" charset="-122"/>
                <a:cs typeface="Calibri" pitchFamily="34" charset="-120"/>
              </a:rPr>
              <a:t>Argument de pilotage : un bon arbitrage ne se juge pas seulement au moment où il est pris, mais à ce qu'il devient — ici, une dette técnique refermée dans les règles.</a:t>
            </a:r>
            <a:endParaRPr lang="en-US" sz="1050" dirty="0"/>
          </a:p>
        </p:txBody>
      </p:sp>
      <p:sp>
        <p:nvSpPr>
          <p:cNvPr id="18" name="Text 15"/>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9" name="Text 1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AFFECTATION DES MISSIONS</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Matrice de responsabilités (RACI adapté au solo)</a:t>
            </a:r>
            <a:endParaRPr lang="en-US" sz="2700" dirty="0"/>
          </a:p>
        </p:txBody>
      </p:sp>
      <p:sp>
        <p:nvSpPr>
          <p:cNvPr id="6" name="Text 4"/>
          <p:cNvSpPr/>
          <p:nvPr/>
        </p:nvSpPr>
        <p:spPr>
          <a:xfrm>
            <a:off x="548640" y="1371600"/>
            <a:ext cx="11109960" cy="457200"/>
          </a:xfrm>
          <a:prstGeom prst="rect">
            <a:avLst/>
          </a:prstGeom>
          <a:noFill/>
          <a:ln/>
        </p:spPr>
        <p:txBody>
          <a:bodyPr wrap="square" lIns="0" tIns="0" rIns="0" bIns="0" rtlCol="0" anchor="ctr"/>
          <a:lstStyle/>
          <a:p>
            <a:pPr indent="0" marL="0">
              <a:buNone/>
            </a:pPr>
            <a:r>
              <a:rPr lang="en-US" sz="1200" i="1" dirty="0">
                <a:solidFill>
                  <a:srgbClr val="F5EFDD"/>
                </a:solidFill>
                <a:latin typeface="Calibri" pitchFamily="34" charset="0"/>
                <a:ea typeface="Calibri" pitchFamily="34" charset="-122"/>
                <a:cs typeface="Calibri" pitchFamily="34" charset="-120"/>
              </a:rPr>
              <a:t>En solo, « affecter les missions » consiste à affecter des casquettes à des créneaux, et à déléguer à l'outillage ce qui peut l'être. Les parties prenantes gardent leur rôle RACI.</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109960" cy="914400"/>
        </p:xfrm>
        <a:graphic>
          <a:graphicData uri="http://schemas.openxmlformats.org/drawingml/2006/table">
            <a:tbl>
              <a:tblPr/>
              <a:tblGrid>
                <a:gridCol w="2834640"/>
                <a:gridCol w="2834640"/>
                <a:gridCol w="1828800"/>
                <a:gridCol w="2286000"/>
                <a:gridCol w="132588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Mission</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Réalise (R)</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Approuve (A)</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Consulté (C)</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Informé (I)</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Développement back / front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 (casquettes dev)</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Doc. officielle, communauté</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Intégration &amp; déploiement continus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Délégué : GitHub Actions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 (notifications)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Veille sécurité des dépendances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Délégué : Dependabot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Avis CVE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Recette fonctionnelle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 (casquette QA, créneau dédié)</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Joueurs testeurs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Validation des jalons certification</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Moi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Jury / campus YNOV</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Encadrants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8" name="Shape 5"/>
          <p:cNvSpPr/>
          <p:nvPr/>
        </p:nvSpPr>
        <p:spPr>
          <a:xfrm>
            <a:off x="548640" y="4709160"/>
            <a:ext cx="11109960" cy="1417320"/>
          </a:xfrm>
          <a:prstGeom prst="roundRect">
            <a:avLst>
              <a:gd name="adj" fmla="val 5161"/>
            </a:avLst>
          </a:prstGeom>
          <a:solidFill>
            <a:srgbClr val="2C2314"/>
          </a:solidFill>
          <a:ln w="9525">
            <a:solidFill>
              <a:srgbClr val="8A6D1D"/>
            </a:solidFill>
            <a:prstDash val="solid"/>
          </a:ln>
        </p:spPr>
      </p:sp>
      <p:sp>
        <p:nvSpPr>
          <p:cNvPr id="9" name="Text 6"/>
          <p:cNvSpPr/>
          <p:nvPr/>
        </p:nvSpPr>
        <p:spPr>
          <a:xfrm>
            <a:off x="777240" y="4828032"/>
            <a:ext cx="10607040" cy="256032"/>
          </a:xfrm>
          <a:prstGeom prst="rect">
            <a:avLst/>
          </a:prstGeom>
          <a:noFill/>
          <a:ln/>
        </p:spPr>
        <p:txBody>
          <a:bodyPr wrap="square" lIns="0" tIns="0" rIns="0" bIns="0" rtlCol="0" anchor="ctr"/>
          <a:lstStyle/>
          <a:p>
            <a:pPr indent="0" marL="0">
              <a:buNone/>
            </a:pPr>
            <a:r>
              <a:rPr lang="en-US" sz="1200" b="1" dirty="0">
                <a:solidFill>
                  <a:srgbClr val="D4AF37"/>
                </a:solidFill>
                <a:latin typeface="Cambria" pitchFamily="34" charset="0"/>
                <a:ea typeface="Cambria" pitchFamily="34" charset="-122"/>
                <a:cs typeface="Cambria" pitchFamily="34" charset="-120"/>
              </a:rPr>
              <a:t>Règle d'hygiène adoptée</a:t>
            </a:r>
            <a:endParaRPr lang="en-US" sz="1200" dirty="0"/>
          </a:p>
        </p:txBody>
      </p:sp>
      <p:sp>
        <p:nvSpPr>
          <p:cNvPr id="10" name="Text 7"/>
          <p:cNvSpPr/>
          <p:nvPr/>
        </p:nvSpPr>
        <p:spPr>
          <a:xfrm>
            <a:off x="777240" y="5102352"/>
            <a:ext cx="10607040" cy="914400"/>
          </a:xfrm>
          <a:prstGeom prst="rect">
            <a:avLst/>
          </a:prstGeom>
          <a:noFill/>
          <a:ln/>
        </p:spPr>
        <p:txBody>
          <a:bodyPr wrap="square" lIns="0" tIns="0" rIns="0" bIns="0" rtlCol="0" anchor="ctr"/>
          <a:lstStyle/>
          <a:p>
            <a:pPr indent="0" marL="0">
              <a:lnSpc>
                <a:spcPct val="120000"/>
              </a:lnSpc>
              <a:buNone/>
            </a:pPr>
            <a:r>
              <a:rPr lang="en-US" sz="1050" dirty="0">
                <a:solidFill>
                  <a:srgbClr val="F5EFDD"/>
                </a:solidFill>
                <a:latin typeface="Calibri" pitchFamily="34" charset="0"/>
                <a:ea typeface="Calibri" pitchFamily="34" charset="-122"/>
                <a:cs typeface="Calibri" pitchFamily="34" charset="-120"/>
              </a:rPr>
              <a:t>Ne jamais porter deux casquettes en même temps : les créneaux « QA » (recette, audit) sont séparés des créneaux « dev », pour garder un regard critique sur mon propre code. Prise en compte du handicap : le mode 100 % asynchrone et écrit de cette organisation la rend directement compatible avec des aménagements (rythme, accessibilité des outils).</a:t>
            </a:r>
            <a:endParaRPr lang="en-US" sz="1050" dirty="0"/>
          </a:p>
        </p:txBody>
      </p:sp>
      <p:sp>
        <p:nvSpPr>
          <p:cNvPr id="11" name="Text 8"/>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2" name="Text 9"/>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STYLE(S) MANAGÉRIAL(AUX)</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De l'auto-management aux quatre styles classiques</a:t>
            </a:r>
            <a:endParaRPr lang="en-US" sz="2700" dirty="0"/>
          </a:p>
        </p:txBody>
      </p:sp>
      <p:sp>
        <p:nvSpPr>
          <p:cNvPr id="6" name="Shape 4"/>
          <p:cNvSpPr/>
          <p:nvPr/>
        </p:nvSpPr>
        <p:spPr>
          <a:xfrm>
            <a:off x="548640" y="1463040"/>
            <a:ext cx="1280160" cy="365760"/>
          </a:xfrm>
          <a:prstGeom prst="roundRect">
            <a:avLst>
              <a:gd name="adj" fmla="val 50000"/>
            </a:avLst>
          </a:prstGeom>
          <a:solidFill>
            <a:srgbClr val="D4AF37"/>
          </a:solidFill>
          <a:ln/>
        </p:spPr>
      </p:sp>
      <p:sp>
        <p:nvSpPr>
          <p:cNvPr id="7" name="Text 5"/>
          <p:cNvSpPr/>
          <p:nvPr/>
        </p:nvSpPr>
        <p:spPr>
          <a:xfrm>
            <a:off x="548640" y="1463040"/>
            <a:ext cx="1280160" cy="365760"/>
          </a:xfrm>
          <a:prstGeom prst="rect">
            <a:avLst/>
          </a:prstGeom>
          <a:noFill/>
          <a:ln/>
        </p:spPr>
        <p:txBody>
          <a:bodyPr wrap="square" lIns="0" tIns="0" rIns="0" bIns="0" rtlCol="0" anchor="ctr"/>
          <a:lstStyle/>
          <a:p>
            <a:pPr algn="ctr" indent="0" marL="0">
              <a:buNone/>
            </a:pPr>
            <a:r>
              <a:rPr lang="en-US" sz="1050" b="1" dirty="0">
                <a:solidFill>
                  <a:srgbClr val="17130B"/>
                </a:solidFill>
                <a:latin typeface="Calibri" pitchFamily="34" charset="0"/>
                <a:ea typeface="Calibri" pitchFamily="34" charset="-122"/>
                <a:cs typeface="Calibri" pitchFamily="34" charset="-120"/>
              </a:rPr>
              <a:t>Directif</a:t>
            </a:r>
            <a:endParaRPr lang="en-US" sz="1050" dirty="0"/>
          </a:p>
        </p:txBody>
      </p:sp>
      <p:sp>
        <p:nvSpPr>
          <p:cNvPr id="8" name="Text 6"/>
          <p:cNvSpPr/>
          <p:nvPr/>
        </p:nvSpPr>
        <p:spPr>
          <a:xfrm>
            <a:off x="1965960" y="1463040"/>
            <a:ext cx="4160520" cy="685800"/>
          </a:xfrm>
          <a:prstGeom prst="rect">
            <a:avLst/>
          </a:prstGeom>
          <a:noFill/>
          <a:ln/>
        </p:spPr>
        <p:txBody>
          <a:bodyPr wrap="square" lIns="0" tIns="0" rIns="0" bIns="0" rtlCol="0" anchor="ctr"/>
          <a:lstStyle/>
          <a:p>
            <a:pPr indent="0" marL="0">
              <a:lnSpc>
                <a:spcPct val="115000"/>
              </a:lnSpc>
              <a:buNone/>
            </a:pPr>
            <a:r>
              <a:rPr lang="en-US" sz="1050" dirty="0">
                <a:solidFill>
                  <a:srgbClr val="F5EFDD"/>
                </a:solidFill>
                <a:latin typeface="Calibri" pitchFamily="34" charset="0"/>
                <a:ea typeface="Calibri" pitchFamily="34" charset="-122"/>
                <a:cs typeface="Calibri" pitchFamily="34" charset="-120"/>
              </a:rPr>
              <a:t>envers moi-même sur les normes non négociables : Conventional Commits, hook pre-commit (lint + contrôles sécurité), tests obligatoires avant fusion</a:t>
            </a:r>
            <a:endParaRPr lang="en-US" sz="1050" dirty="0"/>
          </a:p>
        </p:txBody>
      </p:sp>
      <p:sp>
        <p:nvSpPr>
          <p:cNvPr id="9" name="Shape 7"/>
          <p:cNvSpPr/>
          <p:nvPr/>
        </p:nvSpPr>
        <p:spPr>
          <a:xfrm>
            <a:off x="548640" y="2304288"/>
            <a:ext cx="1280160" cy="365760"/>
          </a:xfrm>
          <a:prstGeom prst="roundRect">
            <a:avLst>
              <a:gd name="adj" fmla="val 50000"/>
            </a:avLst>
          </a:prstGeom>
          <a:solidFill>
            <a:srgbClr val="D4AF37"/>
          </a:solidFill>
          <a:ln/>
        </p:spPr>
      </p:sp>
      <p:sp>
        <p:nvSpPr>
          <p:cNvPr id="10" name="Text 8"/>
          <p:cNvSpPr/>
          <p:nvPr/>
        </p:nvSpPr>
        <p:spPr>
          <a:xfrm>
            <a:off x="548640" y="2304288"/>
            <a:ext cx="1280160" cy="365760"/>
          </a:xfrm>
          <a:prstGeom prst="rect">
            <a:avLst/>
          </a:prstGeom>
          <a:noFill/>
          <a:ln/>
        </p:spPr>
        <p:txBody>
          <a:bodyPr wrap="square" lIns="0" tIns="0" rIns="0" bIns="0" rtlCol="0" anchor="ctr"/>
          <a:lstStyle/>
          <a:p>
            <a:pPr algn="ctr" indent="0" marL="0">
              <a:buNone/>
            </a:pPr>
            <a:r>
              <a:rPr lang="en-US" sz="1050" b="1" dirty="0">
                <a:solidFill>
                  <a:srgbClr val="17130B"/>
                </a:solidFill>
                <a:latin typeface="Calibri" pitchFamily="34" charset="0"/>
                <a:ea typeface="Calibri" pitchFamily="34" charset="-122"/>
                <a:cs typeface="Calibri" pitchFamily="34" charset="-120"/>
              </a:rPr>
              <a:t>Délégatif</a:t>
            </a:r>
            <a:endParaRPr lang="en-US" sz="1050" dirty="0"/>
          </a:p>
        </p:txBody>
      </p:sp>
      <p:sp>
        <p:nvSpPr>
          <p:cNvPr id="11" name="Text 9"/>
          <p:cNvSpPr/>
          <p:nvPr/>
        </p:nvSpPr>
        <p:spPr>
          <a:xfrm>
            <a:off x="1965960" y="2304288"/>
            <a:ext cx="4160520" cy="685800"/>
          </a:xfrm>
          <a:prstGeom prst="rect">
            <a:avLst/>
          </a:prstGeom>
          <a:noFill/>
          <a:ln/>
        </p:spPr>
        <p:txBody>
          <a:bodyPr wrap="square" lIns="0" tIns="0" rIns="0" bIns="0" rtlCol="0" anchor="ctr"/>
          <a:lstStyle/>
          <a:p>
            <a:pPr indent="0" marL="0">
              <a:lnSpc>
                <a:spcPct val="115000"/>
              </a:lnSpc>
              <a:buNone/>
            </a:pPr>
            <a:r>
              <a:rPr lang="en-US" sz="1050" dirty="0">
                <a:solidFill>
                  <a:srgbClr val="F5EFDD"/>
                </a:solidFill>
                <a:latin typeface="Calibri" pitchFamily="34" charset="0"/>
                <a:ea typeface="Calibri" pitchFamily="34" charset="-122"/>
                <a:cs typeface="Calibri" pitchFamily="34" charset="-120"/>
              </a:rPr>
              <a:t>envers l'outillage : CI, Dependabot, sondes de supervision — objectifs fixés, exécution autonome, contrôle par les alertes</a:t>
            </a:r>
            <a:endParaRPr lang="en-US" sz="1050" dirty="0"/>
          </a:p>
        </p:txBody>
      </p:sp>
      <p:sp>
        <p:nvSpPr>
          <p:cNvPr id="12" name="Shape 10"/>
          <p:cNvSpPr/>
          <p:nvPr/>
        </p:nvSpPr>
        <p:spPr>
          <a:xfrm>
            <a:off x="548640" y="3145536"/>
            <a:ext cx="1280160" cy="365760"/>
          </a:xfrm>
          <a:prstGeom prst="roundRect">
            <a:avLst>
              <a:gd name="adj" fmla="val 50000"/>
            </a:avLst>
          </a:prstGeom>
          <a:solidFill>
            <a:srgbClr val="D4AF37"/>
          </a:solidFill>
          <a:ln/>
        </p:spPr>
      </p:sp>
      <p:sp>
        <p:nvSpPr>
          <p:cNvPr id="13" name="Text 11"/>
          <p:cNvSpPr/>
          <p:nvPr/>
        </p:nvSpPr>
        <p:spPr>
          <a:xfrm>
            <a:off x="548640" y="3145536"/>
            <a:ext cx="1280160" cy="365760"/>
          </a:xfrm>
          <a:prstGeom prst="rect">
            <a:avLst/>
          </a:prstGeom>
          <a:noFill/>
          <a:ln/>
        </p:spPr>
        <p:txBody>
          <a:bodyPr wrap="square" lIns="0" tIns="0" rIns="0" bIns="0" rtlCol="0" anchor="ctr"/>
          <a:lstStyle/>
          <a:p>
            <a:pPr algn="ctr" indent="0" marL="0">
              <a:buNone/>
            </a:pPr>
            <a:r>
              <a:rPr lang="en-US" sz="1050" b="1" dirty="0">
                <a:solidFill>
                  <a:srgbClr val="17130B"/>
                </a:solidFill>
                <a:latin typeface="Calibri" pitchFamily="34" charset="0"/>
                <a:ea typeface="Calibri" pitchFamily="34" charset="-122"/>
                <a:cs typeface="Calibri" pitchFamily="34" charset="-120"/>
              </a:rPr>
              <a:t>Participatif</a:t>
            </a:r>
            <a:endParaRPr lang="en-US" sz="1050" dirty="0"/>
          </a:p>
        </p:txBody>
      </p:sp>
      <p:sp>
        <p:nvSpPr>
          <p:cNvPr id="14" name="Text 12"/>
          <p:cNvSpPr/>
          <p:nvPr/>
        </p:nvSpPr>
        <p:spPr>
          <a:xfrm>
            <a:off x="1965960" y="3145536"/>
            <a:ext cx="4160520" cy="685800"/>
          </a:xfrm>
          <a:prstGeom prst="rect">
            <a:avLst/>
          </a:prstGeom>
          <a:noFill/>
          <a:ln/>
        </p:spPr>
        <p:txBody>
          <a:bodyPr wrap="square" lIns="0" tIns="0" rIns="0" bIns="0" rtlCol="0" anchor="ctr"/>
          <a:lstStyle/>
          <a:p>
            <a:pPr indent="0" marL="0">
              <a:lnSpc>
                <a:spcPct val="115000"/>
              </a:lnSpc>
              <a:buNone/>
            </a:pPr>
            <a:r>
              <a:rPr lang="en-US" sz="1050" dirty="0">
                <a:solidFill>
                  <a:srgbClr val="F5EFDD"/>
                </a:solidFill>
                <a:latin typeface="Calibri" pitchFamily="34" charset="0"/>
                <a:ea typeface="Calibri" pitchFamily="34" charset="-122"/>
                <a:cs typeface="Calibri" pitchFamily="34" charset="-120"/>
              </a:rPr>
              <a:t>avec les utilisateurs : les retours des joueurs ont priorisé le multi-serveur et l'i18n</a:t>
            </a:r>
            <a:endParaRPr lang="en-US" sz="1050" dirty="0"/>
          </a:p>
        </p:txBody>
      </p:sp>
      <p:sp>
        <p:nvSpPr>
          <p:cNvPr id="15" name="Shape 13"/>
          <p:cNvSpPr/>
          <p:nvPr/>
        </p:nvSpPr>
        <p:spPr>
          <a:xfrm>
            <a:off x="548640" y="3986784"/>
            <a:ext cx="1280160" cy="365760"/>
          </a:xfrm>
          <a:prstGeom prst="roundRect">
            <a:avLst>
              <a:gd name="adj" fmla="val 50000"/>
            </a:avLst>
          </a:prstGeom>
          <a:solidFill>
            <a:srgbClr val="D4AF37"/>
          </a:solidFill>
          <a:ln/>
        </p:spPr>
      </p:sp>
      <p:sp>
        <p:nvSpPr>
          <p:cNvPr id="16" name="Text 14"/>
          <p:cNvSpPr/>
          <p:nvPr/>
        </p:nvSpPr>
        <p:spPr>
          <a:xfrm>
            <a:off x="548640" y="3986784"/>
            <a:ext cx="1280160" cy="365760"/>
          </a:xfrm>
          <a:prstGeom prst="rect">
            <a:avLst/>
          </a:prstGeom>
          <a:noFill/>
          <a:ln/>
        </p:spPr>
        <p:txBody>
          <a:bodyPr wrap="square" lIns="0" tIns="0" rIns="0" bIns="0" rtlCol="0" anchor="ctr"/>
          <a:lstStyle/>
          <a:p>
            <a:pPr algn="ctr" indent="0" marL="0">
              <a:buNone/>
            </a:pPr>
            <a:r>
              <a:rPr lang="en-US" sz="1050" b="1" dirty="0">
                <a:solidFill>
                  <a:srgbClr val="17130B"/>
                </a:solidFill>
                <a:latin typeface="Calibri" pitchFamily="34" charset="0"/>
                <a:ea typeface="Calibri" pitchFamily="34" charset="-122"/>
                <a:cs typeface="Calibri" pitchFamily="34" charset="-120"/>
              </a:rPr>
              <a:t>Persuasif</a:t>
            </a:r>
            <a:endParaRPr lang="en-US" sz="1050" dirty="0"/>
          </a:p>
        </p:txBody>
      </p:sp>
      <p:sp>
        <p:nvSpPr>
          <p:cNvPr id="17" name="Text 15"/>
          <p:cNvSpPr/>
          <p:nvPr/>
        </p:nvSpPr>
        <p:spPr>
          <a:xfrm>
            <a:off x="1965960" y="3986784"/>
            <a:ext cx="4160520" cy="685800"/>
          </a:xfrm>
          <a:prstGeom prst="rect">
            <a:avLst/>
          </a:prstGeom>
          <a:noFill/>
          <a:ln/>
        </p:spPr>
        <p:txBody>
          <a:bodyPr wrap="square" lIns="0" tIns="0" rIns="0" bIns="0" rtlCol="0" anchor="ctr"/>
          <a:lstStyle/>
          <a:p>
            <a:pPr indent="0" marL="0">
              <a:lnSpc>
                <a:spcPct val="115000"/>
              </a:lnSpc>
              <a:buNone/>
            </a:pPr>
            <a:r>
              <a:rPr lang="en-US" sz="1050" dirty="0">
                <a:solidFill>
                  <a:srgbClr val="F5EFDD"/>
                </a:solidFill>
                <a:latin typeface="Calibri" pitchFamily="34" charset="0"/>
                <a:ea typeface="Calibri" pitchFamily="34" charset="-122"/>
                <a:cs typeface="Calibri" pitchFamily="34" charset="-120"/>
              </a:rPr>
              <a:t>posture vers le commanditaire : justifier les choix (cf. cas d'arbitrage JWT)</a:t>
            </a:r>
            <a:endParaRPr lang="en-US" sz="1050" dirty="0"/>
          </a:p>
        </p:txBody>
      </p:sp>
      <p:sp>
        <p:nvSpPr>
          <p:cNvPr id="18" name="Shape 16"/>
          <p:cNvSpPr/>
          <p:nvPr/>
        </p:nvSpPr>
        <p:spPr>
          <a:xfrm>
            <a:off x="6355080" y="1417320"/>
            <a:ext cx="5303520" cy="4709160"/>
          </a:xfrm>
          <a:prstGeom prst="roundRect">
            <a:avLst>
              <a:gd name="adj" fmla="val 1553"/>
            </a:avLst>
          </a:prstGeom>
          <a:solidFill>
            <a:srgbClr val="2C2314"/>
          </a:solidFill>
          <a:ln w="9525">
            <a:solidFill>
              <a:srgbClr val="8A6D1D"/>
            </a:solidFill>
            <a:prstDash val="solid"/>
          </a:ln>
        </p:spPr>
      </p:sp>
      <p:sp>
        <p:nvSpPr>
          <p:cNvPr id="19" name="Text 17"/>
          <p:cNvSpPr/>
          <p:nvPr/>
        </p:nvSpPr>
        <p:spPr>
          <a:xfrm>
            <a:off x="6583680" y="1554480"/>
            <a:ext cx="4846320" cy="274320"/>
          </a:xfrm>
          <a:prstGeom prst="rect">
            <a:avLst/>
          </a:prstGeom>
          <a:noFill/>
          <a:ln/>
        </p:spPr>
        <p:txBody>
          <a:bodyPr wrap="square" lIns="0" tIns="0" rIns="0" bIns="0" rtlCol="0" anchor="ctr"/>
          <a:lstStyle/>
          <a:p>
            <a:pPr indent="0" marL="0">
              <a:buNone/>
            </a:pPr>
            <a:r>
              <a:rPr lang="en-US" sz="1300" b="1" dirty="0">
                <a:solidFill>
                  <a:srgbClr val="D4AF37"/>
                </a:solidFill>
                <a:latin typeface="Cambria" pitchFamily="34" charset="0"/>
                <a:ea typeface="Cambria" pitchFamily="34" charset="-122"/>
                <a:cs typeface="Cambria" pitchFamily="34" charset="-120"/>
              </a:rPr>
              <a:t>Analyse critique d'une situation</a:t>
            </a:r>
            <a:endParaRPr lang="en-US" sz="1300" dirty="0"/>
          </a:p>
        </p:txBody>
      </p:sp>
      <p:sp>
        <p:nvSpPr>
          <p:cNvPr id="20" name="Text 18"/>
          <p:cNvSpPr/>
          <p:nvPr/>
        </p:nvSpPr>
        <p:spPr>
          <a:xfrm>
            <a:off x="6583680" y="1901952"/>
            <a:ext cx="4846320" cy="4069080"/>
          </a:xfrm>
          <a:prstGeom prst="rect">
            <a:avLst/>
          </a:prstGeom>
          <a:noFill/>
          <a:ln/>
        </p:spPr>
        <p:txBody>
          <a:bodyPr wrap="square" lIns="0" tIns="0" rIns="0" bIns="0" rtlCol="0" anchor="ctr"/>
          <a:lstStyle/>
          <a:p>
            <a:pPr indent="0" marL="0">
              <a:lnSpc>
                <a:spcPct val="130000"/>
              </a:lnSpc>
              <a:buNone/>
            </a:pPr>
            <a:r>
              <a:rPr lang="en-US" sz="1100" b="1" dirty="0">
                <a:solidFill>
                  <a:srgbClr val="F0D580"/>
                </a:solidFill>
                <a:latin typeface="Calibri" pitchFamily="34" charset="0"/>
                <a:ea typeface="Calibri" pitchFamily="34" charset="-122"/>
                <a:cs typeface="Calibri" pitchFamily="34" charset="-120"/>
              </a:rPr>
              <a:t>Situation : </a:t>
            </a:r>
            <a:pPr indent="0" marL="0">
              <a:lnSpc>
                <a:spcPct val="130000"/>
              </a:lnSpc>
              <a:buNone/>
            </a:pPr>
            <a:r>
              <a:rPr lang="en-US" sz="1100" dirty="0">
                <a:solidFill>
                  <a:srgbClr val="F5EFDD"/>
                </a:solidFill>
                <a:latin typeface="Calibri" pitchFamily="34" charset="0"/>
                <a:ea typeface="Calibri" pitchFamily="34" charset="-122"/>
                <a:cs typeface="Calibri" pitchFamily="34" charset="-120"/>
              </a:rPr>
              <a:t>en juin 2026, la recette complète a été exécutée en une seule fois en fin de bloc — 3 anomalies découvertes tardivement (BUG-011 à 013), corrigées dans l'urgence le jour même.
</a:t>
            </a:r>
            <a:pPr indent="0" marL="0">
              <a:lnSpc>
                <a:spcPct val="130000"/>
              </a:lnSpc>
              <a:buNone/>
            </a:pPr>
            <a:r>
              <a:rPr lang="en-US" sz="1100" b="1" dirty="0">
                <a:solidFill>
                  <a:srgbClr val="F0D580"/>
                </a:solidFill>
                <a:latin typeface="Calibri" pitchFamily="34" charset="0"/>
                <a:ea typeface="Calibri" pitchFamily="34" charset="-122"/>
                <a:cs typeface="Calibri" pitchFamily="34" charset="-120"/>
              </a:rPr>
              <a:t>Analyse : </a:t>
            </a:r>
            <a:pPr indent="0" marL="0">
              <a:lnSpc>
                <a:spcPct val="130000"/>
              </a:lnSpc>
              <a:buNone/>
            </a:pPr>
            <a:r>
              <a:rPr lang="en-US" sz="1100" dirty="0">
                <a:solidFill>
                  <a:srgbClr val="F5EFDD"/>
                </a:solidFill>
                <a:latin typeface="Calibri" pitchFamily="34" charset="0"/>
                <a:ea typeface="Calibri" pitchFamily="34" charset="-122"/>
                <a:cs typeface="Calibri" pitchFamily="34" charset="-120"/>
              </a:rPr>
              <a:t>défaut de management de mon propre planning — la casquette QA était sous-dotée en créneaux ; en équipe, cela équivaut à négliger un collaborateur.
</a:t>
            </a:r>
            <a:pPr indent="0" marL="0">
              <a:lnSpc>
                <a:spcPct val="130000"/>
              </a:lnSpc>
              <a:buNone/>
            </a:pPr>
            <a:r>
              <a:rPr lang="en-US" sz="1100" b="1" dirty="0">
                <a:solidFill>
                  <a:srgbClr val="F0D580"/>
                </a:solidFill>
                <a:latin typeface="Calibri" pitchFamily="34" charset="0"/>
                <a:ea typeface="Calibri" pitchFamily="34" charset="-122"/>
                <a:cs typeface="Calibri" pitchFamily="34" charset="-120"/>
              </a:rPr>
              <a:t>Recommandations appliquées : </a:t>
            </a:r>
            <a:pPr indent="0" marL="0">
              <a:lnSpc>
                <a:spcPct val="130000"/>
              </a:lnSpc>
              <a:buNone/>
            </a:pPr>
            <a:r>
              <a:rPr lang="en-US" sz="1100" dirty="0">
                <a:solidFill>
                  <a:srgbClr val="F5EFDD"/>
                </a:solidFill>
                <a:latin typeface="Calibri" pitchFamily="34" charset="0"/>
                <a:ea typeface="Calibri" pitchFamily="34" charset="-122"/>
                <a:cs typeface="Calibri" pitchFamily="34" charset="-120"/>
              </a:rPr>
              <a:t>recette au fil de l'eau à chaque lot (phases 5–6), créneau QA hebdomadaire sanctuarisé. En équipe : un rôle QA identifié dès le début, associé aux revues.</a:t>
            </a:r>
            <a:endParaRPr lang="en-US" sz="1100" dirty="0"/>
          </a:p>
        </p:txBody>
      </p:sp>
      <p:sp>
        <p:nvSpPr>
          <p:cNvPr id="21" name="Text 19"/>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22"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8</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OUTILS DE COMMUNICATION</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Outils de communication et leurs objectifs</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09960" cy="914400"/>
        </p:xfrm>
        <a:graphic>
          <a:graphicData uri="http://schemas.openxmlformats.org/drawingml/2006/table">
            <a:tbl>
              <a:tblPr/>
              <a:tblGrid>
                <a:gridCol w="2560320"/>
                <a:gridCol w="3246120"/>
                <a:gridCol w="530352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Outil</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Objectif</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Git / Conventional Commits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Développeurs (futurs contributeurs, jury)</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Tracer chaque évolution avec son intention (feat/fix/docs)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CHANGELOG.md (semver)</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Utilisateurs &amp; commanditaire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Communiquer les évolutions en langage fonctionnel, version par version</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GitHub (issues, PR, Projects)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Équipe projet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Discussion asynchrone contextualisée ; décisions archivées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Campus, jury, alertes de supervision</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Communication formelle et jalons ; canal des alertes d'indisponibilité</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Discord (communauté de jeu)</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Joueurs testeurs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Recueillir les besoins et retours d'usage réels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7" name="Shape 4"/>
          <p:cNvSpPr/>
          <p:nvPr/>
        </p:nvSpPr>
        <p:spPr>
          <a:xfrm>
            <a:off x="548640" y="4892040"/>
            <a:ext cx="11109960" cy="1234440"/>
          </a:xfrm>
          <a:prstGeom prst="roundRect">
            <a:avLst>
              <a:gd name="adj" fmla="val 5926"/>
            </a:avLst>
          </a:prstGeom>
          <a:solidFill>
            <a:srgbClr val="2C2314"/>
          </a:solidFill>
          <a:ln w="9525">
            <a:solidFill>
              <a:srgbClr val="8A6D1D"/>
            </a:solidFill>
            <a:prstDash val="solid"/>
          </a:ln>
        </p:spPr>
      </p:sp>
      <p:sp>
        <p:nvSpPr>
          <p:cNvPr id="8" name="Text 5"/>
          <p:cNvSpPr/>
          <p:nvPr/>
        </p:nvSpPr>
        <p:spPr>
          <a:xfrm>
            <a:off x="777240" y="5001768"/>
            <a:ext cx="10607040" cy="256032"/>
          </a:xfrm>
          <a:prstGeom prst="rect">
            <a:avLst/>
          </a:prstGeom>
          <a:noFill/>
          <a:ln/>
        </p:spPr>
        <p:txBody>
          <a:bodyPr wrap="square" lIns="0" tIns="0" rIns="0" bIns="0" rtlCol="0" anchor="ctr"/>
          <a:lstStyle/>
          <a:p>
            <a:pPr indent="0" marL="0">
              <a:buNone/>
            </a:pPr>
            <a:r>
              <a:rPr lang="en-US" sz="1200" b="1" dirty="0">
                <a:solidFill>
                  <a:srgbClr val="D4AF37"/>
                </a:solidFill>
                <a:latin typeface="Cambria" pitchFamily="34" charset="0"/>
                <a:ea typeface="Cambria" pitchFamily="34" charset="-122"/>
                <a:cs typeface="Cambria" pitchFamily="34" charset="-120"/>
              </a:rPr>
              <a:t>Objectif transverse</a:t>
            </a:r>
            <a:endParaRPr lang="en-US" sz="1200" dirty="0"/>
          </a:p>
        </p:txBody>
      </p:sp>
      <p:sp>
        <p:nvSpPr>
          <p:cNvPr id="9" name="Text 6"/>
          <p:cNvSpPr/>
          <p:nvPr/>
        </p:nvSpPr>
        <p:spPr>
          <a:xfrm>
            <a:off x="777240" y="5257800"/>
            <a:ext cx="10607040" cy="822960"/>
          </a:xfrm>
          <a:prstGeom prst="rect">
            <a:avLst/>
          </a:prstGeom>
          <a:noFill/>
          <a:ln/>
        </p:spPr>
        <p:txBody>
          <a:bodyPr wrap="square" lIns="0" tIns="0" rIns="0" bIns="0" rtlCol="0" anchor="ctr"/>
          <a:lstStyle/>
          <a:p>
            <a:pPr indent="0" marL="0">
              <a:lnSpc>
                <a:spcPct val="120000"/>
              </a:lnSpc>
              <a:buNone/>
            </a:pPr>
            <a:r>
              <a:rPr lang="en-US" sz="1050" dirty="0">
                <a:solidFill>
                  <a:srgbClr val="F5EFDD"/>
                </a:solidFill>
                <a:latin typeface="Calibri" pitchFamily="34" charset="0"/>
                <a:ea typeface="Calibri" pitchFamily="34" charset="-122"/>
                <a:cs typeface="Calibri" pitchFamily="34" charset="-120"/>
              </a:rPr>
              <a:t>Tout passe à l'écrit et à l'asynchrone. Bénéfices : charge de communication répartie (pas de réunionite), historique complet, et accessibilité — un membre d'équipe en situation de handicap (auditif notamment) a accès à 100 % de l'information du projet sans aménagement supplémentaire.</a:t>
            </a:r>
            <a:endParaRPr lang="en-US" sz="1050" dirty="0"/>
          </a:p>
        </p:txBody>
      </p:sp>
      <p:sp>
        <p:nvSpPr>
          <p:cNvPr id="10" name="Text 7"/>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1" name="Text 8"/>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9</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ÉVALUATION DES BESOINS EN COMPÉTENCES</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Grille d'évaluation des compétences</a:t>
            </a:r>
            <a:endParaRPr lang="en-US" sz="2700" dirty="0"/>
          </a:p>
        </p:txBody>
      </p:sp>
      <p:sp>
        <p:nvSpPr>
          <p:cNvPr id="6" name="Text 4"/>
          <p:cNvSpPr/>
          <p:nvPr/>
        </p:nvSpPr>
        <p:spPr>
          <a:xfrm>
            <a:off x="548640" y="1371600"/>
            <a:ext cx="11109960" cy="320040"/>
          </a:xfrm>
          <a:prstGeom prst="rect">
            <a:avLst/>
          </a:prstGeom>
          <a:noFill/>
          <a:ln/>
        </p:spPr>
        <p:txBody>
          <a:bodyPr wrap="square" lIns="0" tIns="0" rIns="0" bIns="0" rtlCol="0" anchor="ctr"/>
          <a:lstStyle/>
          <a:p>
            <a:pPr indent="0" marL="0">
              <a:buNone/>
            </a:pPr>
            <a:r>
              <a:rPr lang="en-US" sz="1150" i="1" dirty="0">
                <a:solidFill>
                  <a:srgbClr val="B8AD92"/>
                </a:solidFill>
                <a:latin typeface="Calibri" pitchFamily="34" charset="0"/>
                <a:ea typeface="Calibri" pitchFamily="34" charset="-122"/>
                <a:cs typeface="Calibri" pitchFamily="34" charset="-120"/>
              </a:rPr>
              <a:t>Auto-évaluation en début de projet (fév. 2025) vs besoins identifiés — échelle 1 (novice) à 4 (autonome expert).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914400"/>
        </p:xfrm>
        <a:graphic>
          <a:graphicData uri="http://schemas.openxmlformats.org/drawingml/2006/table">
            <a:tbl>
              <a:tblPr/>
              <a:tblGrid>
                <a:gridCol w="3383280"/>
                <a:gridCol w="868680"/>
                <a:gridCol w="868680"/>
                <a:gridCol w="960120"/>
                <a:gridCol w="502920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Compétence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Initial</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Requis</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Atteint</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Commentaire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PHP / Symfony (API REST, Doctrine)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Consolidé par la migration 7.2 → 7.4 LTS menée seul</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React (hooks, context, i18n)</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i18n (20 langues) et thème sombre ajoutés en autonomie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Sécurité applicative (OWASP)</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Écart le plus fort ; JWT httpOnly livré en v3.1.0</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CI/CD (GitHub Actions)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Pipeline complet tests + déploiement continu vérifié vert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Supervision / exploitation</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UptimeRobot + sonde interne, alerting opérationnel</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Gestion de projet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Kanban + rétroplanning tenus sur 18 mois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Accessibilité (RGAA)</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Lighthouse 98/100 accessibilité ; expertise à approfondir</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8" name="Text 5"/>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9" name="Text 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10</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PLAN DE DÉVELOPPEMENT DES COMPÉTENCES</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Combler les écarts : formations réalisées et préconisées</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2651760"/>
                <a:gridCol w="4709160"/>
                <a:gridCol w="2377440"/>
                <a:gridCol w="137160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Écart identifié</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Action de formation</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Modalité</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Échéance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Sécurité OWASP (1→3-4)</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OWASP Top 10 : documentation officielle + audit du projet, faille par faille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Auto-formation + application immédiate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Réalisé (juin–août 2026)</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Symfony avancé</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SymfonyCasts (sécurité, rate limiting, messenger)</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E-learning</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Réalisé au fil du projet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Accessibilité RGAA (2→3)</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Formation RGAA 4.1 (Access42 ou équiv.) + audits outillés réguliers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Formation courte certifiante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2026–2027</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Outillage front moderne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Migration CRA → Vite (chantier concret du backlog)</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Apprentissage par le projet</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2027</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Exploitation avancée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Conteneurisation de la production (Docker → orchestration)</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E-learning + lab</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2027</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7" name="Shape 4"/>
          <p:cNvSpPr/>
          <p:nvPr/>
        </p:nvSpPr>
        <p:spPr>
          <a:xfrm>
            <a:off x="548640" y="4709160"/>
            <a:ext cx="11109960" cy="1417320"/>
          </a:xfrm>
          <a:prstGeom prst="roundRect">
            <a:avLst>
              <a:gd name="adj" fmla="val 5161"/>
            </a:avLst>
          </a:prstGeom>
          <a:solidFill>
            <a:srgbClr val="2C2314"/>
          </a:solidFill>
          <a:ln w="9525">
            <a:solidFill>
              <a:srgbClr val="8A6D1D"/>
            </a:solidFill>
            <a:prstDash val="solid"/>
          </a:ln>
        </p:spPr>
      </p:sp>
      <p:sp>
        <p:nvSpPr>
          <p:cNvPr id="8" name="Text 5"/>
          <p:cNvSpPr/>
          <p:nvPr/>
        </p:nvSpPr>
        <p:spPr>
          <a:xfrm>
            <a:off x="777240" y="4828032"/>
            <a:ext cx="10607040" cy="256032"/>
          </a:xfrm>
          <a:prstGeom prst="rect">
            <a:avLst/>
          </a:prstGeom>
          <a:noFill/>
          <a:ln/>
        </p:spPr>
        <p:txBody>
          <a:bodyPr wrap="square" lIns="0" tIns="0" rIns="0" bIns="0" rtlCol="0" anchor="ctr"/>
          <a:lstStyle/>
          <a:p>
            <a:pPr indent="0" marL="0">
              <a:buNone/>
            </a:pPr>
            <a:r>
              <a:rPr lang="en-US" sz="1200" b="1" dirty="0">
                <a:solidFill>
                  <a:srgbClr val="D4AF37"/>
                </a:solidFill>
                <a:latin typeface="Cambria" pitchFamily="34" charset="0"/>
                <a:ea typeface="Cambria" pitchFamily="34" charset="-122"/>
                <a:cs typeface="Cambria" pitchFamily="34" charset="-120"/>
              </a:rPr>
              <a:t>Principe du plan</a:t>
            </a:r>
            <a:endParaRPr lang="en-US" sz="1200" dirty="0"/>
          </a:p>
        </p:txBody>
      </p:sp>
      <p:sp>
        <p:nvSpPr>
          <p:cNvPr id="9" name="Text 6"/>
          <p:cNvSpPr/>
          <p:nvPr/>
        </p:nvSpPr>
        <p:spPr>
          <a:xfrm>
            <a:off x="777240" y="5102352"/>
            <a:ext cx="10607040" cy="914400"/>
          </a:xfrm>
          <a:prstGeom prst="rect">
            <a:avLst/>
          </a:prstGeom>
          <a:noFill/>
          <a:ln/>
        </p:spPr>
        <p:txBody>
          <a:bodyPr wrap="square" lIns="0" tIns="0" rIns="0" bIns="0" rtlCol="0" anchor="ctr"/>
          <a:lstStyle/>
          <a:p>
            <a:pPr indent="0" marL="0">
              <a:lnSpc>
                <a:spcPct val="120000"/>
              </a:lnSpc>
              <a:buNone/>
            </a:pPr>
            <a:r>
              <a:rPr lang="en-US" sz="1050" dirty="0">
                <a:solidFill>
                  <a:srgbClr val="F5EFDD"/>
                </a:solidFill>
                <a:latin typeface="Calibri" pitchFamily="34" charset="0"/>
                <a:ea typeface="Calibri" pitchFamily="34" charset="-122"/>
                <a:cs typeface="Calibri" pitchFamily="34" charset="-120"/>
              </a:rPr>
              <a:t>Chaque formation est adossée à un chantier réel du projet (apprentissage par la pratique), avec un livrable vérifiable — la migration JWT httpOnly en est l'exemple abouti. Les modalités e-learning asynchrones sont par nature adaptables à une situation de handicap (rythme, sous-titrage, supports écrits).</a:t>
            </a:r>
            <a:endParaRPr lang="en-US" sz="1050" dirty="0"/>
          </a:p>
        </p:txBody>
      </p:sp>
      <p:sp>
        <p:nvSpPr>
          <p:cNvPr id="10" name="Text 7"/>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1" name="Text 8"/>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11</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COMPTES RENDUS DES ÉVOLUTIONS</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Rendre compte : trois niveaux de lecture</a:t>
            </a:r>
            <a:endParaRPr lang="en-US" sz="2700" dirty="0"/>
          </a:p>
        </p:txBody>
      </p:sp>
      <p:sp>
        <p:nvSpPr>
          <p:cNvPr id="6" name="Text 4"/>
          <p:cNvSpPr/>
          <p:nvPr/>
        </p:nvSpPr>
        <p:spPr>
          <a:xfrm>
            <a:off x="548640" y="1417320"/>
            <a:ext cx="539496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1. CHANGELOG versionné (commanditaire)</a:t>
            </a:r>
            <a:endParaRPr lang="en-US" sz="1250" dirty="0"/>
          </a:p>
        </p:txBody>
      </p:sp>
      <p:sp>
        <p:nvSpPr>
          <p:cNvPr id="7" name="Text 5"/>
          <p:cNvSpPr/>
          <p:nvPr/>
        </p:nvSpPr>
        <p:spPr>
          <a:xfrm>
            <a:off x="548640" y="1719072"/>
            <a:ext cx="5394960" cy="265176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v1.0.0 — socle : auth, joueurs, guildes, carte</a:t>
            </a:r>
            <a:endParaRPr lang="en-US" sz="1050" dirty="0"/>
          </a:p>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v2.0.0 — admin, routes partagées, compositions, craft, thème sombre, tutoriel, i18n</a:t>
            </a:r>
            <a:endParaRPr lang="en-US" sz="1050" dirty="0"/>
          </a:p>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v2.1.0 — campagne de correctifs sécurité (BUG-001 → 010)</a:t>
            </a:r>
            <a:endParaRPr lang="en-US" sz="1050" dirty="0"/>
          </a:p>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v3.0.0 — multi-serveur, batailles, stats PvP, langues gérées par l'admin</a:t>
            </a:r>
            <a:endParaRPr lang="en-US" sz="1050" dirty="0"/>
          </a:p>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v3.1.0 — JWT en cookies httpOnly, anti-CSRF</a:t>
            </a:r>
            <a:endParaRPr lang="en-US" sz="1050" dirty="0"/>
          </a:p>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v3.2.0 — activation de compte &amp; reset mot de passe par e-mail (Brevo)</a:t>
            </a:r>
            <a:endParaRPr lang="en-US" sz="1050" dirty="0"/>
          </a:p>
          <a:p>
            <a:pPr marL="342900" indent="-342900">
              <a:spcAft>
                <a:spcPts val="300"/>
              </a:spcAft>
              <a:buSzPct val="100000"/>
              <a:buChar char="•"/>
            </a:pPr>
            <a:r>
              <a:rPr lang="en-US" sz="1050" dirty="0">
                <a:solidFill>
                  <a:srgbClr val="F5EFDD"/>
                </a:solidFill>
                <a:latin typeface="Calibri" pitchFamily="34" charset="0"/>
                <a:ea typeface="Calibri" pitchFamily="34" charset="-122"/>
                <a:cs typeface="Calibri" pitchFamily="34" charset="-120"/>
              </a:rPr>
              <a:t>v3.3.1 — page 404 stylée, écran hors-ligne, correctif supervision (crontab)</a:t>
            </a:r>
            <a:endParaRPr lang="en-US" sz="1050" dirty="0"/>
          </a:p>
        </p:txBody>
      </p:sp>
      <p:sp>
        <p:nvSpPr>
          <p:cNvPr id="8" name="Text 6"/>
          <p:cNvSpPr/>
          <p:nvPr/>
        </p:nvSpPr>
        <p:spPr>
          <a:xfrm>
            <a:off x="548640" y="4434840"/>
            <a:ext cx="5394960" cy="685800"/>
          </a:xfrm>
          <a:prstGeom prst="rect">
            <a:avLst/>
          </a:prstGeom>
          <a:noFill/>
          <a:ln/>
        </p:spPr>
        <p:txBody>
          <a:bodyPr wrap="square" lIns="0" tIns="0" rIns="0" bIns="0" rtlCol="0" anchor="ctr"/>
          <a:lstStyle/>
          <a:p>
            <a:pPr indent="0" marL="0">
              <a:lnSpc>
                <a:spcPct val="120000"/>
              </a:lnSpc>
              <a:buNone/>
            </a:pPr>
            <a:r>
              <a:rPr lang="en-US" sz="1050" i="1" dirty="0">
                <a:solidFill>
                  <a:srgbClr val="B8AD92"/>
                </a:solidFill>
                <a:latin typeface="Calibri" pitchFamily="34" charset="0"/>
                <a:ea typeface="Calibri" pitchFamily="34" charset="-122"/>
                <a:cs typeface="Calibri" pitchFamily="34" charset="-120"/>
              </a:rPr>
              <a:t>2. Historique Git conventionnel (équipe) : chaque commit indique son type et son périmètre — l'historique est le compte rendu détaillé, ordonné et daté.</a:t>
            </a:r>
            <a:endParaRPr lang="en-US" sz="1050" dirty="0"/>
          </a:p>
        </p:txBody>
      </p:sp>
      <p:sp>
        <p:nvSpPr>
          <p:cNvPr id="9" name="Text 7"/>
          <p:cNvSpPr/>
          <p:nvPr/>
        </p:nvSpPr>
        <p:spPr>
          <a:xfrm>
            <a:off x="6172200" y="1417320"/>
            <a:ext cx="548640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3. Points de validation planifiés et réalisés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72200" y="1737360"/>
          <a:ext cx="5486400" cy="914400"/>
        </p:xfrm>
        <a:graphic>
          <a:graphicData uri="http://schemas.openxmlformats.org/drawingml/2006/table">
            <a:tbl>
              <a:tblPr/>
              <a:tblGrid>
                <a:gridCol w="2743200"/>
                <a:gridCol w="1280160"/>
                <a:gridCol w="146304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Point de validation</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Date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Résultat</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Recette complète — 29 scénarios</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29/29 PASS</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Audit sécurité OWASP + correctifs</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0 advisory composer</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Audit accessibilité (Lighthouse, axe-core)</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98/100 · 0 violation bloq.</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Dépôt Bloc 2 (code + dossier)</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19/06/2026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Jalon tenu</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Dépôt Bloc 4 (dossier MCO)</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24/07/2026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Jalon tenu</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JWT httpOnly livré (v3.1.0)</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Réalisé</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Démo commanditaire (ce jury)</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Sept. 2026</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50" b="1" dirty="0">
                          <a:solidFill>
                            <a:srgbClr val="7FD68A"/>
                          </a:solidFill>
                          <a:latin typeface="Calibri" pitchFamily="34" charset="0"/>
                          <a:ea typeface="Calibri" pitchFamily="34" charset="-122"/>
                          <a:cs typeface="Calibri" pitchFamily="34" charset="-120"/>
                        </a:rPr>
                        <a:t>Objectif : validation</a:t>
                      </a:r>
                      <a:endParaRPr lang="en-US" sz="9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11" name="Text 8"/>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2" name="Text 9"/>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12</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INDICATEURS DE SATISFACTION</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Mesurer la satisfaction du commanditaire et des utilisateurs</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2743200"/>
                <a:gridCol w="4709160"/>
                <a:gridCol w="365760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Indicateur</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Pourquoi il est cohérent</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Mesure / cible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Taux de réussite de la recette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La recette encode les attentes fonctionnelles du commanditaire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29/29 PASS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Disponibilité du service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Première cause d'insatisfaction d'un outil communautaire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99,95 % (7 j, UptimeRobot + sonde)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Temps de réponse API</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Confort d'usage en session de jeu</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~0,8 s (/api/health, mesuré)</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Qualité perçue de l'interface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Score objectif proxy de l'expérience utilisateur</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Lighthouse 98/100 accessibilité, 96/100 bonnes pratiques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Anomalies signalées par les utilisateurs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Mesure directe de l'insatisfaction résiduelle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16 bugs + 1 obs., 100 % traités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Adoption des nouveautés</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Les évolutions demandées sont-elles utilisées ?</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Journal des recherches par serveur / langue</a:t>
                      </a:r>
                      <a:endParaRPr lang="en-US" sz="10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7"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8" name="Text 5"/>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13</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DÉMONSTRATION</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Démonstration de la dernière version</a:t>
            </a:r>
            <a:endParaRPr lang="en-US" sz="2700" dirty="0"/>
          </a:p>
        </p:txBody>
      </p:sp>
      <p:sp>
        <p:nvSpPr>
          <p:cNvPr id="6" name="Text 4"/>
          <p:cNvSpPr/>
          <p:nvPr/>
        </p:nvSpPr>
        <p:spPr>
          <a:xfrm>
            <a:off x="548640" y="1417320"/>
            <a:ext cx="11109960" cy="457200"/>
          </a:xfrm>
          <a:prstGeom prst="rect">
            <a:avLst/>
          </a:prstGeom>
          <a:noFill/>
          <a:ln/>
        </p:spPr>
        <p:txBody>
          <a:bodyPr wrap="square" lIns="0" tIns="0" rIns="0" bIns="0" rtlCol="0" anchor="ctr"/>
          <a:lstStyle/>
          <a:p>
            <a:pPr indent="0" marL="0">
              <a:buNone/>
            </a:pPr>
            <a:r>
              <a:rPr lang="en-US" sz="1200" dirty="0">
                <a:solidFill>
                  <a:srgbClr val="F5EFDD"/>
                </a:solidFill>
                <a:latin typeface="Calibri" pitchFamily="34" charset="0"/>
                <a:ea typeface="Calibri" pitchFamily="34" charset="-122"/>
                <a:cs typeface="Calibri" pitchFamily="34" charset="-120"/>
              </a:rPr>
              <a:t>Parcours utilisateur complet, sur l'application en production (https://oportaler.perfweb.net), du premier contact jusqu'aux fonctions d'administration :</a:t>
            </a:r>
            <a:endParaRPr lang="en-US" sz="1200" dirty="0"/>
          </a:p>
        </p:txBody>
      </p:sp>
      <p:sp>
        <p:nvSpPr>
          <p:cNvPr id="7" name="Shape 5"/>
          <p:cNvSpPr/>
          <p:nvPr/>
        </p:nvSpPr>
        <p:spPr>
          <a:xfrm>
            <a:off x="548640" y="2057400"/>
            <a:ext cx="2317090" cy="502920"/>
          </a:xfrm>
          <a:prstGeom prst="roundRect">
            <a:avLst>
              <a:gd name="adj" fmla="val 10909"/>
            </a:avLst>
          </a:prstGeom>
          <a:solidFill>
            <a:srgbClr val="2C2314"/>
          </a:solidFill>
          <a:ln w="12700">
            <a:solidFill>
              <a:srgbClr val="D4AF37"/>
            </a:solidFill>
            <a:prstDash val="solid"/>
          </a:ln>
        </p:spPr>
      </p:sp>
      <p:sp>
        <p:nvSpPr>
          <p:cNvPr id="8" name="Text 6"/>
          <p:cNvSpPr/>
          <p:nvPr/>
        </p:nvSpPr>
        <p:spPr>
          <a:xfrm>
            <a:off x="548640" y="2057400"/>
            <a:ext cx="2317090"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1 · Découverte &amp; inscription</a:t>
            </a:r>
            <a:endParaRPr lang="en-US" sz="950" dirty="0"/>
          </a:p>
        </p:txBody>
      </p:sp>
      <p:sp>
        <p:nvSpPr>
          <p:cNvPr id="9" name="Text 7"/>
          <p:cNvSpPr/>
          <p:nvPr/>
        </p:nvSpPr>
        <p:spPr>
          <a:xfrm>
            <a:off x="3002890" y="20574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3295498" y="2057400"/>
            <a:ext cx="2531059" cy="502920"/>
          </a:xfrm>
          <a:prstGeom prst="roundRect">
            <a:avLst>
              <a:gd name="adj" fmla="val 10909"/>
            </a:avLst>
          </a:prstGeom>
          <a:solidFill>
            <a:srgbClr val="2C2314"/>
          </a:solidFill>
          <a:ln w="12700">
            <a:solidFill>
              <a:srgbClr val="D4AF37"/>
            </a:solidFill>
            <a:prstDash val="solid"/>
          </a:ln>
        </p:spPr>
      </p:sp>
      <p:sp>
        <p:nvSpPr>
          <p:cNvPr id="11" name="Text 9"/>
          <p:cNvSpPr/>
          <p:nvPr/>
        </p:nvSpPr>
        <p:spPr>
          <a:xfrm>
            <a:off x="3295498" y="2057400"/>
            <a:ext cx="2531059"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2 · Connexion &amp; tableau de bord</a:t>
            </a:r>
            <a:endParaRPr lang="en-US" sz="950" dirty="0"/>
          </a:p>
        </p:txBody>
      </p:sp>
      <p:sp>
        <p:nvSpPr>
          <p:cNvPr id="12" name="Text 10"/>
          <p:cNvSpPr/>
          <p:nvPr/>
        </p:nvSpPr>
        <p:spPr>
          <a:xfrm>
            <a:off x="5963717" y="20574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6256325" y="2057400"/>
            <a:ext cx="2602382" cy="502920"/>
          </a:xfrm>
          <a:prstGeom prst="roundRect">
            <a:avLst>
              <a:gd name="adj" fmla="val 10909"/>
            </a:avLst>
          </a:prstGeom>
          <a:solidFill>
            <a:srgbClr val="2C2314"/>
          </a:solidFill>
          <a:ln w="12700">
            <a:solidFill>
              <a:srgbClr val="D4AF37"/>
            </a:solidFill>
            <a:prstDash val="solid"/>
          </a:ln>
        </p:spPr>
      </p:sp>
      <p:sp>
        <p:nvSpPr>
          <p:cNvPr id="14" name="Text 12"/>
          <p:cNvSpPr/>
          <p:nvPr/>
        </p:nvSpPr>
        <p:spPr>
          <a:xfrm>
            <a:off x="6256325" y="2057400"/>
            <a:ext cx="2602382"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3 · Recherche joueur &amp; stats PvP</a:t>
            </a:r>
            <a:endParaRPr lang="en-US" sz="950" dirty="0"/>
          </a:p>
        </p:txBody>
      </p:sp>
      <p:sp>
        <p:nvSpPr>
          <p:cNvPr id="15" name="Text 13"/>
          <p:cNvSpPr/>
          <p:nvPr/>
        </p:nvSpPr>
        <p:spPr>
          <a:xfrm>
            <a:off x="8995867" y="20574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9288475" y="2057400"/>
            <a:ext cx="1960474" cy="502920"/>
          </a:xfrm>
          <a:prstGeom prst="roundRect">
            <a:avLst>
              <a:gd name="adj" fmla="val 10909"/>
            </a:avLst>
          </a:prstGeom>
          <a:solidFill>
            <a:srgbClr val="2C2314"/>
          </a:solidFill>
          <a:ln w="12700">
            <a:solidFill>
              <a:srgbClr val="D4AF37"/>
            </a:solidFill>
            <a:prstDash val="solid"/>
          </a:ln>
        </p:spPr>
      </p:sp>
      <p:sp>
        <p:nvSpPr>
          <p:cNvPr id="17" name="Text 15"/>
          <p:cNvSpPr/>
          <p:nvPr/>
        </p:nvSpPr>
        <p:spPr>
          <a:xfrm>
            <a:off x="9288475" y="2057400"/>
            <a:ext cx="1960474"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4 · Guildes &amp; batailles</a:t>
            </a:r>
            <a:endParaRPr lang="en-US" sz="950" dirty="0"/>
          </a:p>
        </p:txBody>
      </p:sp>
      <p:sp>
        <p:nvSpPr>
          <p:cNvPr id="18" name="Shape 16"/>
          <p:cNvSpPr/>
          <p:nvPr/>
        </p:nvSpPr>
        <p:spPr>
          <a:xfrm>
            <a:off x="548640" y="2743200"/>
            <a:ext cx="1738636" cy="502920"/>
          </a:xfrm>
          <a:prstGeom prst="roundRect">
            <a:avLst>
              <a:gd name="adj" fmla="val 10909"/>
            </a:avLst>
          </a:prstGeom>
          <a:solidFill>
            <a:srgbClr val="2C2314"/>
          </a:solidFill>
          <a:ln w="12700">
            <a:solidFill>
              <a:srgbClr val="D4AF37"/>
            </a:solidFill>
            <a:prstDash val="solid"/>
          </a:ln>
        </p:spPr>
      </p:sp>
      <p:sp>
        <p:nvSpPr>
          <p:cNvPr id="19" name="Text 17"/>
          <p:cNvSpPr/>
          <p:nvPr/>
        </p:nvSpPr>
        <p:spPr>
          <a:xfrm>
            <a:off x="548640" y="2743200"/>
            <a:ext cx="1738636"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5 · Carte interactive</a:t>
            </a:r>
            <a:endParaRPr lang="en-US" sz="950" dirty="0"/>
          </a:p>
        </p:txBody>
      </p:sp>
      <p:sp>
        <p:nvSpPr>
          <p:cNvPr id="20" name="Text 18"/>
          <p:cNvSpPr/>
          <p:nvPr/>
        </p:nvSpPr>
        <p:spPr>
          <a:xfrm>
            <a:off x="2424436" y="27432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2717044" y="2743200"/>
            <a:ext cx="1806853" cy="502920"/>
          </a:xfrm>
          <a:prstGeom prst="roundRect">
            <a:avLst>
              <a:gd name="adj" fmla="val 10909"/>
            </a:avLst>
          </a:prstGeom>
          <a:solidFill>
            <a:srgbClr val="2C2314"/>
          </a:solidFill>
          <a:ln w="12700">
            <a:solidFill>
              <a:srgbClr val="D4AF37"/>
            </a:solidFill>
            <a:prstDash val="solid"/>
          </a:ln>
        </p:spPr>
      </p:sp>
      <p:sp>
        <p:nvSpPr>
          <p:cNvPr id="22" name="Text 20"/>
          <p:cNvSpPr/>
          <p:nvPr/>
        </p:nvSpPr>
        <p:spPr>
          <a:xfrm>
            <a:off x="2717044" y="2743200"/>
            <a:ext cx="1806853"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6 · Itinéraire partagé</a:t>
            </a:r>
            <a:endParaRPr lang="en-US" sz="950" dirty="0"/>
          </a:p>
        </p:txBody>
      </p:sp>
      <p:sp>
        <p:nvSpPr>
          <p:cNvPr id="23" name="Text 21"/>
          <p:cNvSpPr/>
          <p:nvPr/>
        </p:nvSpPr>
        <p:spPr>
          <a:xfrm>
            <a:off x="4661057" y="27432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4953665" y="2743200"/>
            <a:ext cx="1943285" cy="502920"/>
          </a:xfrm>
          <a:prstGeom prst="roundRect">
            <a:avLst>
              <a:gd name="adj" fmla="val 10909"/>
            </a:avLst>
          </a:prstGeom>
          <a:solidFill>
            <a:srgbClr val="2C2314"/>
          </a:solidFill>
          <a:ln w="12700">
            <a:solidFill>
              <a:srgbClr val="D4AF37"/>
            </a:solidFill>
            <a:prstDash val="solid"/>
          </a:ln>
        </p:spPr>
      </p:sp>
      <p:sp>
        <p:nvSpPr>
          <p:cNvPr id="25" name="Text 23"/>
          <p:cNvSpPr/>
          <p:nvPr/>
        </p:nvSpPr>
        <p:spPr>
          <a:xfrm>
            <a:off x="4953665" y="2743200"/>
            <a:ext cx="1943285"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7 · Composition d'équipe</a:t>
            </a:r>
            <a:endParaRPr lang="en-US" sz="950" dirty="0"/>
          </a:p>
        </p:txBody>
      </p:sp>
      <p:sp>
        <p:nvSpPr>
          <p:cNvPr id="26" name="Text 24"/>
          <p:cNvSpPr/>
          <p:nvPr/>
        </p:nvSpPr>
        <p:spPr>
          <a:xfrm>
            <a:off x="7034110" y="27432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27" name="Shape 25"/>
          <p:cNvSpPr/>
          <p:nvPr/>
        </p:nvSpPr>
        <p:spPr>
          <a:xfrm>
            <a:off x="7326718" y="2743200"/>
            <a:ext cx="1943285" cy="502920"/>
          </a:xfrm>
          <a:prstGeom prst="roundRect">
            <a:avLst>
              <a:gd name="adj" fmla="val 10909"/>
            </a:avLst>
          </a:prstGeom>
          <a:solidFill>
            <a:srgbClr val="2C2314"/>
          </a:solidFill>
          <a:ln w="12700">
            <a:solidFill>
              <a:srgbClr val="D4AF37"/>
            </a:solidFill>
            <a:prstDash val="solid"/>
          </a:ln>
        </p:spPr>
      </p:sp>
      <p:sp>
        <p:nvSpPr>
          <p:cNvPr id="28" name="Text 26"/>
          <p:cNvSpPr/>
          <p:nvPr/>
        </p:nvSpPr>
        <p:spPr>
          <a:xfrm>
            <a:off x="7326718" y="2743200"/>
            <a:ext cx="1943285"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8 · Calculateur de craft</a:t>
            </a:r>
            <a:endParaRPr lang="en-US" sz="950" dirty="0"/>
          </a:p>
        </p:txBody>
      </p:sp>
      <p:sp>
        <p:nvSpPr>
          <p:cNvPr id="29" name="Text 27"/>
          <p:cNvSpPr/>
          <p:nvPr/>
        </p:nvSpPr>
        <p:spPr>
          <a:xfrm>
            <a:off x="9407162" y="2743200"/>
            <a:ext cx="201168" cy="502920"/>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a:t>
            </a:r>
            <a:endParaRPr lang="en-US" sz="1300" dirty="0"/>
          </a:p>
        </p:txBody>
      </p:sp>
      <p:sp>
        <p:nvSpPr>
          <p:cNvPr id="30" name="Shape 28"/>
          <p:cNvSpPr/>
          <p:nvPr/>
        </p:nvSpPr>
        <p:spPr>
          <a:xfrm>
            <a:off x="9699770" y="2743200"/>
            <a:ext cx="1943285" cy="502920"/>
          </a:xfrm>
          <a:prstGeom prst="roundRect">
            <a:avLst>
              <a:gd name="adj" fmla="val 10909"/>
            </a:avLst>
          </a:prstGeom>
          <a:solidFill>
            <a:srgbClr val="2C2314"/>
          </a:solidFill>
          <a:ln w="12700">
            <a:solidFill>
              <a:srgbClr val="D4AF37"/>
            </a:solidFill>
            <a:prstDash val="solid"/>
          </a:ln>
        </p:spPr>
      </p:sp>
      <p:sp>
        <p:nvSpPr>
          <p:cNvPr id="31" name="Text 29"/>
          <p:cNvSpPr/>
          <p:nvPr/>
        </p:nvSpPr>
        <p:spPr>
          <a:xfrm>
            <a:off x="9699770" y="2743200"/>
            <a:ext cx="1943285" cy="502920"/>
          </a:xfrm>
          <a:prstGeom prst="rect">
            <a:avLst/>
          </a:prstGeom>
          <a:noFill/>
          <a:ln/>
        </p:spPr>
        <p:txBody>
          <a:bodyPr wrap="square" lIns="0" tIns="0" rIns="0" bIns="0" rtlCol="0" anchor="ctr"/>
          <a:lstStyle/>
          <a:p>
            <a:pPr algn="ctr" indent="0" marL="0">
              <a:buNone/>
            </a:pPr>
            <a:r>
              <a:rPr lang="en-US" sz="950" b="1" dirty="0">
                <a:solidFill>
                  <a:srgbClr val="F5EFDD"/>
                </a:solidFill>
                <a:latin typeface="Calibri" pitchFamily="34" charset="0"/>
                <a:ea typeface="Calibri" pitchFamily="34" charset="-122"/>
                <a:cs typeface="Calibri" pitchFamily="34" charset="-120"/>
              </a:rPr>
              <a:t>9 · Multi-langue &amp; admin</a:t>
            </a:r>
            <a:endParaRPr lang="en-US" sz="950" dirty="0"/>
          </a:p>
        </p:txBody>
      </p:sp>
      <p:sp>
        <p:nvSpPr>
          <p:cNvPr id="32" name="Text 30"/>
          <p:cNvSpPr/>
          <p:nvPr/>
        </p:nvSpPr>
        <p:spPr>
          <a:xfrm>
            <a:off x="548640" y="3611880"/>
            <a:ext cx="5394960" cy="274320"/>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Conditions de la démo</a:t>
            </a:r>
            <a:endParaRPr lang="en-US" sz="1250" dirty="0"/>
          </a:p>
        </p:txBody>
      </p:sp>
      <p:sp>
        <p:nvSpPr>
          <p:cNvPr id="33" name="Text 31"/>
          <p:cNvSpPr/>
          <p:nvPr/>
        </p:nvSpPr>
        <p:spPr>
          <a:xfrm>
            <a:off x="548640" y="3913632"/>
            <a:ext cx="5394960" cy="109728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F5EFDD"/>
                </a:solidFill>
                <a:latin typeface="Calibri" pitchFamily="34" charset="0"/>
                <a:ea typeface="Calibri" pitchFamily="34" charset="-122"/>
                <a:cs typeface="Calibri" pitchFamily="34" charset="-120"/>
              </a:rPr>
              <a:t>Application en production, données réelles préchargées</a:t>
            </a:r>
            <a:endParaRPr lang="en-US" sz="1100" dirty="0"/>
          </a:p>
          <a:p>
            <a:pPr marL="342900" indent="-342900">
              <a:spcAft>
                <a:spcPts val="500"/>
              </a:spcAft>
              <a:buSzPct val="100000"/>
              <a:buChar char="•"/>
            </a:pPr>
            <a:r>
              <a:rPr lang="en-US" sz="1100" dirty="0">
                <a:solidFill>
                  <a:srgbClr val="F5EFDD"/>
                </a:solidFill>
                <a:latin typeface="Calibri" pitchFamily="34" charset="0"/>
                <a:ea typeface="Calibri" pitchFamily="34" charset="-122"/>
                <a:cs typeface="Calibri" pitchFamily="34" charset="-120"/>
              </a:rPr>
              <a:t>Plan B assumé : environnement local identique prêt à basculer</a:t>
            </a:r>
            <a:endParaRPr lang="en-US" sz="1100" dirty="0"/>
          </a:p>
          <a:p>
            <a:pPr marL="342900" indent="-342900">
              <a:spcAft>
                <a:spcPts val="500"/>
              </a:spcAft>
              <a:buSzPct val="100000"/>
              <a:buChar char="•"/>
            </a:pPr>
            <a:r>
              <a:rPr lang="en-US" sz="1100" dirty="0">
                <a:solidFill>
                  <a:srgbClr val="F5EFDD"/>
                </a:solidFill>
                <a:latin typeface="Calibri" pitchFamily="34" charset="0"/>
                <a:ea typeface="Calibri" pitchFamily="34" charset="-122"/>
                <a:cs typeface="Calibri" pitchFamily="34" charset="-120"/>
              </a:rPr>
              <a:t>Répétition générale effectuée la veille</a:t>
            </a:r>
            <a:endParaRPr lang="en-US" sz="1100" dirty="0"/>
          </a:p>
        </p:txBody>
      </p:sp>
      <p:sp>
        <p:nvSpPr>
          <p:cNvPr id="34" name="Shape 32"/>
          <p:cNvSpPr/>
          <p:nvPr/>
        </p:nvSpPr>
        <p:spPr>
          <a:xfrm>
            <a:off x="6172200" y="3611880"/>
            <a:ext cx="5486400" cy="1554480"/>
          </a:xfrm>
          <a:prstGeom prst="roundRect">
            <a:avLst>
              <a:gd name="adj" fmla="val 4706"/>
            </a:avLst>
          </a:prstGeom>
          <a:solidFill>
            <a:srgbClr val="2C2314"/>
          </a:solidFill>
          <a:ln w="9525">
            <a:solidFill>
              <a:srgbClr val="8A6D1D"/>
            </a:solidFill>
            <a:prstDash val="solid"/>
          </a:ln>
        </p:spPr>
      </p:sp>
      <p:sp>
        <p:nvSpPr>
          <p:cNvPr id="35" name="Text 33"/>
          <p:cNvSpPr/>
          <p:nvPr/>
        </p:nvSpPr>
        <p:spPr>
          <a:xfrm>
            <a:off x="6400800" y="3730752"/>
            <a:ext cx="5029200" cy="256032"/>
          </a:xfrm>
          <a:prstGeom prst="rect">
            <a:avLst/>
          </a:prstGeom>
          <a:noFill/>
          <a:ln/>
        </p:spPr>
        <p:txBody>
          <a:bodyPr wrap="square" lIns="0" tIns="0" rIns="0" bIns="0" rtlCol="0" anchor="ctr"/>
          <a:lstStyle/>
          <a:p>
            <a:pPr indent="0" marL="0">
              <a:buNone/>
            </a:pPr>
            <a:r>
              <a:rPr lang="en-US" sz="1250" b="1" dirty="0">
                <a:solidFill>
                  <a:srgbClr val="D4AF37"/>
                </a:solidFill>
                <a:latin typeface="Cambria" pitchFamily="34" charset="0"/>
                <a:ea typeface="Cambria" pitchFamily="34" charset="-122"/>
                <a:cs typeface="Cambria" pitchFamily="34" charset="-120"/>
              </a:rPr>
              <a:t>Objectif</a:t>
            </a:r>
            <a:endParaRPr lang="en-US" sz="1250" dirty="0"/>
          </a:p>
        </p:txBody>
      </p:sp>
      <p:sp>
        <p:nvSpPr>
          <p:cNvPr id="36" name="Text 34"/>
          <p:cNvSpPr/>
          <p:nvPr/>
        </p:nvSpPr>
        <p:spPr>
          <a:xfrm>
            <a:off x="6400800" y="4023360"/>
            <a:ext cx="5029200" cy="1051560"/>
          </a:xfrm>
          <a:prstGeom prst="rect">
            <a:avLst/>
          </a:prstGeom>
          <a:noFill/>
          <a:ln/>
        </p:spPr>
        <p:txBody>
          <a:bodyPr wrap="square" lIns="0" tIns="0" rIns="0" bIns="0" rtlCol="0" anchor="ctr"/>
          <a:lstStyle/>
          <a:p>
            <a:pPr indent="0" marL="0">
              <a:lnSpc>
                <a:spcPct val="125000"/>
              </a:lnSpc>
              <a:buNone/>
            </a:pPr>
            <a:r>
              <a:rPr lang="en-US" sz="1050" dirty="0">
                <a:solidFill>
                  <a:srgbClr val="F5EFDD"/>
                </a:solidFill>
                <a:latin typeface="Calibri" pitchFamily="34" charset="0"/>
                <a:ea typeface="Calibri" pitchFamily="34" charset="-122"/>
                <a:cs typeface="Calibri" pitchFamily="34" charset="-120"/>
              </a:rPr>
              <a:t>Montrer que la dernière version (v3.3.1) est fonctionnelle, fiable et utilisable par un joueur non technicien — et obtenir la validation du commanditaire avant livraison. Script détaillé pas à pas : slide suivante.</a:t>
            </a:r>
            <a:endParaRPr lang="en-US" sz="1050" dirty="0"/>
          </a:p>
        </p:txBody>
      </p:sp>
      <p:sp>
        <p:nvSpPr>
          <p:cNvPr id="37" name="Shape 35"/>
          <p:cNvSpPr/>
          <p:nvPr/>
        </p:nvSpPr>
        <p:spPr>
          <a:xfrm>
            <a:off x="548640" y="5440680"/>
            <a:ext cx="11109960" cy="777240"/>
          </a:xfrm>
          <a:prstGeom prst="roundRect">
            <a:avLst>
              <a:gd name="adj" fmla="val 9412"/>
            </a:avLst>
          </a:prstGeom>
          <a:solidFill>
            <a:srgbClr val="241D12"/>
          </a:solidFill>
          <a:ln w="9525">
            <a:solidFill>
              <a:srgbClr val="D4AF37"/>
            </a:solidFill>
            <a:prstDash val="solid"/>
          </a:ln>
        </p:spPr>
      </p:sp>
      <p:sp>
        <p:nvSpPr>
          <p:cNvPr id="38" name="Text 36"/>
          <p:cNvSpPr/>
          <p:nvPr/>
        </p:nvSpPr>
        <p:spPr>
          <a:xfrm>
            <a:off x="777240" y="5440680"/>
            <a:ext cx="10652760" cy="777240"/>
          </a:xfrm>
          <a:prstGeom prst="rect">
            <a:avLst/>
          </a:prstGeom>
          <a:noFill/>
          <a:ln/>
        </p:spPr>
        <p:txBody>
          <a:bodyPr wrap="square" lIns="0" tIns="0" rIns="0" bIns="0" rtlCol="0" anchor="ctr"/>
          <a:lstStyle/>
          <a:p>
            <a:pPr indent="0" marL="0">
              <a:buNone/>
            </a:pPr>
            <a:r>
              <a:rPr lang="en-US" sz="1100" i="1" dirty="0">
                <a:solidFill>
                  <a:srgbClr val="F0D580"/>
                </a:solidFill>
                <a:latin typeface="Calibri" pitchFamily="34" charset="0"/>
                <a:ea typeface="Calibri" pitchFamily="34" charset="-122"/>
                <a:cs typeface="Calibri" pitchFamily="34" charset="-120"/>
              </a:rPr>
              <a:t>C3.4.2 — Démonstration à partir de la dernière version pour obtenir la validation du commanditaire avant livraison.</a:t>
            </a:r>
            <a:endParaRPr lang="en-US" sz="1100" dirty="0"/>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40" name="Text 38"/>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30B"/>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241D12"/>
          </a:solidFill>
          <a:ln/>
        </p:spPr>
      </p:sp>
      <p:sp>
        <p:nvSpPr>
          <p:cNvPr id="3" name="Text 1"/>
          <p:cNvSpPr/>
          <p:nvPr/>
        </p:nvSpPr>
        <p:spPr>
          <a:xfrm>
            <a:off x="640080" y="502920"/>
            <a:ext cx="5486400" cy="320040"/>
          </a:xfrm>
          <a:prstGeom prst="rect">
            <a:avLst/>
          </a:prstGeom>
          <a:noFill/>
          <a:ln/>
        </p:spPr>
        <p:txBody>
          <a:bodyPr wrap="square" lIns="0" tIns="0" rIns="0" bIns="0" rtlCol="0" anchor="ctr"/>
          <a:lstStyle/>
          <a:p>
            <a:pPr indent="0" marL="0">
              <a:buNone/>
            </a:pPr>
            <a:r>
              <a:rPr lang="en-US" sz="1250" b="1" spc="200" kern="0" dirty="0">
                <a:solidFill>
                  <a:srgbClr val="D4AF37"/>
                </a:solidFill>
                <a:latin typeface="Calibri" pitchFamily="34" charset="0"/>
                <a:ea typeface="Calibri" pitchFamily="34" charset="-122"/>
                <a:cs typeface="Calibri" pitchFamily="34" charset="-120"/>
              </a:rPr>
              <a:t>CONCLUSION</a:t>
            </a:r>
            <a:endParaRPr lang="en-US" sz="1250" dirty="0"/>
          </a:p>
        </p:txBody>
      </p:sp>
      <p:sp>
        <p:nvSpPr>
          <p:cNvPr id="4" name="Text 2"/>
          <p:cNvSpPr/>
          <p:nvPr/>
        </p:nvSpPr>
        <p:spPr>
          <a:xfrm>
            <a:off x="640080" y="822960"/>
            <a:ext cx="10058400" cy="640080"/>
          </a:xfrm>
          <a:prstGeom prst="rect">
            <a:avLst/>
          </a:prstGeom>
          <a:noFill/>
          <a:ln/>
        </p:spPr>
        <p:txBody>
          <a:bodyPr wrap="square" lIns="0" tIns="0" rIns="0" bIns="0" rtlCol="0" anchor="ctr"/>
          <a:lstStyle/>
          <a:p>
            <a:pPr indent="0" marL="0">
              <a:buNone/>
            </a:pPr>
            <a:r>
              <a:rPr lang="en-US" sz="3000" b="1" dirty="0">
                <a:solidFill>
                  <a:srgbClr val="F5EFDD"/>
                </a:solidFill>
                <a:latin typeface="Cambria" pitchFamily="34" charset="0"/>
                <a:ea typeface="Cambria" pitchFamily="34" charset="-122"/>
                <a:cs typeface="Cambria" pitchFamily="34" charset="-120"/>
              </a:rPr>
              <a:t>Ce que le pilotage a produit</a:t>
            </a:r>
            <a:endParaRPr lang="en-US" sz="3000" dirty="0"/>
          </a:p>
        </p:txBody>
      </p:sp>
      <p:sp>
        <p:nvSpPr>
          <p:cNvPr id="5" name="Text 3"/>
          <p:cNvSpPr/>
          <p:nvPr/>
        </p:nvSpPr>
        <p:spPr>
          <a:xfrm>
            <a:off x="640080" y="1691640"/>
            <a:ext cx="10881360" cy="274320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F5EFDD"/>
                </a:solidFill>
                <a:latin typeface="Calibri" pitchFamily="34" charset="0"/>
                <a:ea typeface="Calibri" pitchFamily="34" charset="-122"/>
                <a:cs typeface="Calibri" pitchFamily="34" charset="-120"/>
              </a:rPr>
              <a:t>Tous les jalons de certification tenus, malgré une re-priorisation sécurité majeure — absorbée par le rétroplanning et Kanban</a:t>
            </a:r>
            <a:endParaRPr lang="en-US" sz="1400" dirty="0"/>
          </a:p>
          <a:p>
            <a:pPr marL="342900" indent="-342900">
              <a:spcAft>
                <a:spcPts val="1000"/>
              </a:spcAft>
              <a:buSzPct val="100000"/>
              <a:buChar char="•"/>
            </a:pPr>
            <a:r>
              <a:rPr lang="en-US" sz="1400" dirty="0">
                <a:solidFill>
                  <a:srgbClr val="F5EFDD"/>
                </a:solidFill>
                <a:latin typeface="Calibri" pitchFamily="34" charset="0"/>
                <a:ea typeface="Calibri" pitchFamily="34" charset="-122"/>
                <a:cs typeface="Calibri" pitchFamily="34" charset="-120"/>
              </a:rPr>
              <a:t>Un projet traçable de bout en bout : chaque évolution a sa carte, son commit typé, sa ligne de CHANGELOG et son scénario de recette</a:t>
            </a:r>
            <a:endParaRPr lang="en-US" sz="1400" dirty="0"/>
          </a:p>
          <a:p>
            <a:pPr marL="342900" indent="-342900">
              <a:spcAft>
                <a:spcPts val="1000"/>
              </a:spcAft>
              <a:buSzPct val="100000"/>
              <a:buChar char="•"/>
            </a:pPr>
            <a:r>
              <a:rPr lang="en-US" sz="1400" dirty="0">
                <a:solidFill>
                  <a:srgbClr val="F5EFDD"/>
                </a:solidFill>
                <a:latin typeface="Calibri" pitchFamily="34" charset="0"/>
                <a:ea typeface="Calibri" pitchFamily="34" charset="-122"/>
                <a:cs typeface="Calibri" pitchFamily="34" charset="-120"/>
              </a:rPr>
              <a:t>Un arbitrage tenu dans la durée : la migration JWT httpOnly, différée par nécessité en juin 2026, livrée en v3.1.0</a:t>
            </a:r>
            <a:endParaRPr lang="en-US" sz="1400" dirty="0"/>
          </a:p>
          <a:p>
            <a:pPr marL="342900" indent="-342900">
              <a:spcAft>
                <a:spcPts val="1000"/>
              </a:spcAft>
              <a:buSzPct val="100000"/>
              <a:buChar char="•"/>
            </a:pPr>
            <a:r>
              <a:rPr lang="en-US" sz="1400" dirty="0">
                <a:solidFill>
                  <a:srgbClr val="F5EFDD"/>
                </a:solidFill>
                <a:latin typeface="Calibri" pitchFamily="34" charset="0"/>
                <a:ea typeface="Calibri" pitchFamily="34" charset="-122"/>
                <a:cs typeface="Calibri" pitchFamily="34" charset="-120"/>
              </a:rPr>
              <a:t>Des indicateurs chiffrés à chaque niveau : avancement, qualité, délais, coûts, risques, satisfaction</a:t>
            </a:r>
            <a:endParaRPr lang="en-US" sz="1400" dirty="0"/>
          </a:p>
          <a:p>
            <a:pPr marL="342900" indent="-342900">
              <a:spcAft>
                <a:spcPts val="1000"/>
              </a:spcAft>
              <a:buSzPct val="100000"/>
              <a:buChar char="•"/>
            </a:pPr>
            <a:r>
              <a:rPr lang="en-US" sz="1400" dirty="0">
                <a:solidFill>
                  <a:srgbClr val="F5EFDD"/>
                </a:solidFill>
                <a:latin typeface="Calibri" pitchFamily="34" charset="0"/>
                <a:ea typeface="Calibri" pitchFamily="34" charset="-122"/>
                <a:cs typeface="Calibri" pitchFamily="34" charset="-120"/>
              </a:rPr>
              <a:t>Une organisation solo conçue pour passer à l'échelle : les casquettes deviennent des rôles, les créneaux deviennent des personnes, les outils restent</a:t>
            </a:r>
            <a:endParaRPr lang="en-US" sz="1400" dirty="0"/>
          </a:p>
        </p:txBody>
      </p:sp>
      <p:sp>
        <p:nvSpPr>
          <p:cNvPr id="6" name="Shape 4"/>
          <p:cNvSpPr/>
          <p:nvPr/>
        </p:nvSpPr>
        <p:spPr>
          <a:xfrm>
            <a:off x="640080" y="4572000"/>
            <a:ext cx="10881360" cy="1051560"/>
          </a:xfrm>
          <a:prstGeom prst="roundRect">
            <a:avLst>
              <a:gd name="adj" fmla="val 6957"/>
            </a:avLst>
          </a:prstGeom>
          <a:solidFill>
            <a:srgbClr val="2C2314"/>
          </a:solidFill>
          <a:ln w="9525">
            <a:solidFill>
              <a:srgbClr val="D4AF37"/>
            </a:solidFill>
            <a:prstDash val="solid"/>
          </a:ln>
        </p:spPr>
      </p:sp>
      <p:sp>
        <p:nvSpPr>
          <p:cNvPr id="7" name="Text 5"/>
          <p:cNvSpPr/>
          <p:nvPr/>
        </p:nvSpPr>
        <p:spPr>
          <a:xfrm>
            <a:off x="868680" y="4572000"/>
            <a:ext cx="10424160" cy="1051560"/>
          </a:xfrm>
          <a:prstGeom prst="rect">
            <a:avLst/>
          </a:prstGeom>
          <a:noFill/>
          <a:ln/>
        </p:spPr>
        <p:txBody>
          <a:bodyPr wrap="square" lIns="0" tIns="0" rIns="0" bIns="0" rtlCol="0" anchor="ctr"/>
          <a:lstStyle/>
          <a:p>
            <a:pPr indent="0" marL="0">
              <a:buNone/>
            </a:pPr>
            <a:r>
              <a:rPr lang="en-US" sz="1300" b="1" dirty="0">
                <a:solidFill>
                  <a:srgbClr val="F0D580"/>
                </a:solidFill>
                <a:latin typeface="Calibri" pitchFamily="34" charset="0"/>
                <a:ea typeface="Calibri" pitchFamily="34" charset="-122"/>
                <a:cs typeface="Calibri" pitchFamily="34" charset="-120"/>
              </a:rPr>
              <a:t>Le logiciel présenté aujourd'hui est en production, déployé en continu, supervisé et maintenu — la démonstration qui suit vise votre validation en tant que commanditaire.</a:t>
            </a:r>
            <a:endParaRPr lang="en-US" sz="1300" dirty="0"/>
          </a:p>
        </p:txBody>
      </p:sp>
      <p:sp>
        <p:nvSpPr>
          <p:cNvPr id="8" name="Text 6"/>
          <p:cNvSpPr/>
          <p:nvPr/>
        </p:nvSpPr>
        <p:spPr>
          <a:xfrm>
            <a:off x="640080" y="5806440"/>
            <a:ext cx="7315200" cy="365760"/>
          </a:xfrm>
          <a:prstGeom prst="rect">
            <a:avLst/>
          </a:prstGeom>
          <a:noFill/>
          <a:ln/>
        </p:spPr>
        <p:txBody>
          <a:bodyPr wrap="square" lIns="0" tIns="0" rIns="0" bIns="0" rtlCol="0" anchor="ctr"/>
          <a:lstStyle/>
          <a:p>
            <a:pPr indent="0" marL="0">
              <a:buNone/>
            </a:pPr>
            <a:r>
              <a:rPr lang="en-US" sz="1200" i="1" dirty="0">
                <a:solidFill>
                  <a:srgbClr val="B8AD92"/>
                </a:solidFill>
                <a:latin typeface="Calibri" pitchFamily="34" charset="0"/>
                <a:ea typeface="Calibri" pitchFamily="34" charset="-122"/>
                <a:cs typeface="Calibri" pitchFamily="34" charset="-120"/>
              </a:rPr>
              <a:t>Merci — place aux questions (15 minutes).</a:t>
            </a:r>
            <a:endParaRPr lang="en-US" sz="1200" dirty="0"/>
          </a:p>
        </p:txBody>
      </p:sp>
      <p:sp>
        <p:nvSpPr>
          <p:cNvPr id="9" name="Text 7"/>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10" name="Text 8"/>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D4AF37"/>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17130B"/>
                </a:solidFill>
                <a:latin typeface="Cambria" pitchFamily="34" charset="0"/>
                <a:ea typeface="Cambria" pitchFamily="34" charset="-122"/>
                <a:cs typeface="Cambria" pitchFamily="34" charset="-120"/>
              </a:rPr>
              <a:t>A</a:t>
            </a:r>
            <a:endParaRPr lang="en-US" sz="2000" dirty="0"/>
          </a:p>
        </p:txBody>
      </p:sp>
      <p:sp>
        <p:nvSpPr>
          <p:cNvPr id="4" name="Text 2"/>
          <p:cNvSpPr/>
          <p:nvPr/>
        </p:nvSpPr>
        <p:spPr>
          <a:xfrm>
            <a:off x="1097280" y="402336"/>
            <a:ext cx="7772400" cy="274320"/>
          </a:xfrm>
          <a:prstGeom prst="rect">
            <a:avLst/>
          </a:prstGeom>
          <a:noFill/>
          <a:ln/>
        </p:spPr>
        <p:txBody>
          <a:bodyPr wrap="square" lIns="0" tIns="0" rIns="0" bIns="0" rtlCol="0" anchor="ctr"/>
          <a:lstStyle/>
          <a:p>
            <a:pPr indent="0" marL="0">
              <a:buNone/>
            </a:pPr>
            <a:r>
              <a:rPr lang="en-US" sz="1150" b="1" spc="200" kern="0" dirty="0">
                <a:solidFill>
                  <a:srgbClr val="D4AF37"/>
                </a:solidFill>
                <a:latin typeface="Calibri" pitchFamily="34" charset="0"/>
                <a:ea typeface="Calibri" pitchFamily="34" charset="-122"/>
                <a:cs typeface="Calibri" pitchFamily="34" charset="-120"/>
              </a:rPr>
              <a:t>ANNEXE — SUPPORT DE DÉMONSTRATION</a:t>
            </a:r>
            <a:endParaRPr lang="en-US" sz="1150" dirty="0"/>
          </a:p>
        </p:txBody>
      </p:sp>
      <p:sp>
        <p:nvSpPr>
          <p:cNvPr id="5" name="Text 3"/>
          <p:cNvSpPr/>
          <p:nvPr/>
        </p:nvSpPr>
        <p:spPr>
          <a:xfrm>
            <a:off x="1097280" y="640080"/>
            <a:ext cx="10607040" cy="566928"/>
          </a:xfrm>
          <a:prstGeom prst="rect">
            <a:avLst/>
          </a:prstGeom>
          <a:noFill/>
          <a:ln/>
        </p:spPr>
        <p:txBody>
          <a:bodyPr wrap="square" lIns="0" tIns="0" rIns="0" bIns="0" rtlCol="0" anchor="ctr"/>
          <a:lstStyle/>
          <a:p>
            <a:pPr indent="0" marL="0">
              <a:buNone/>
            </a:pPr>
            <a:r>
              <a:rPr lang="en-US" sz="2700" b="1" dirty="0">
                <a:solidFill>
                  <a:srgbClr val="F5EFDD"/>
                </a:solidFill>
                <a:latin typeface="Cambria" pitchFamily="34" charset="0"/>
                <a:ea typeface="Cambria" pitchFamily="34" charset="-122"/>
                <a:cs typeface="Cambria" pitchFamily="34" charset="-120"/>
              </a:rPr>
              <a:t>Script de démonstration détaillé (~8 minutes)</a:t>
            </a:r>
            <a:endParaRPr lang="en-US" sz="2700" dirty="0"/>
          </a:p>
        </p:txBody>
      </p:sp>
      <p:sp>
        <p:nvSpPr>
          <p:cNvPr id="6" name="Text 4"/>
          <p:cNvSpPr/>
          <p:nvPr/>
        </p:nvSpPr>
        <p:spPr>
          <a:xfrm>
            <a:off x="548640" y="1371600"/>
            <a:ext cx="11109960" cy="274320"/>
          </a:xfrm>
          <a:prstGeom prst="rect">
            <a:avLst/>
          </a:prstGeom>
          <a:noFill/>
          <a:ln/>
        </p:spPr>
        <p:txBody>
          <a:bodyPr wrap="square" lIns="0" tIns="0" rIns="0" bIns="0" rtlCol="0" anchor="ctr"/>
          <a:lstStyle/>
          <a:p>
            <a:pPr indent="0" marL="0">
              <a:buNone/>
            </a:pPr>
            <a:r>
              <a:rPr lang="en-US" sz="1050" i="1" dirty="0">
                <a:solidFill>
                  <a:srgbClr val="B8AD92"/>
                </a:solidFill>
                <a:latin typeface="Calibri" pitchFamily="34" charset="0"/>
                <a:ea typeface="Calibri" pitchFamily="34" charset="-122"/>
                <a:cs typeface="Calibri" pitchFamily="34" charset="-120"/>
              </a:rPr>
              <a:t>Production : https://oportaler.perfweb.net — vocabulaire commanditaire (jamais « JWT », « API », « localhost »)</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109960" cy="914400"/>
        </p:xfrm>
        <a:graphic>
          <a:graphicData uri="http://schemas.openxmlformats.org/drawingml/2006/table">
            <a:tbl>
              <a:tblPr/>
              <a:tblGrid>
                <a:gridCol w="457200"/>
                <a:gridCol w="1965960"/>
                <a:gridCol w="8686800"/>
              </a:tblGrid>
              <a:tr h="0">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Étape</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c>
                  <a:txBody>
                    <a:bodyPr/>
                    <a:lstStyle/>
                    <a:p>
                      <a:pPr indent="0" marL="0">
                        <a:buNone/>
                      </a:pPr>
                      <a:r>
                        <a:rPr lang="en-US" sz="1150" b="1" dirty="0">
                          <a:solidFill>
                            <a:srgbClr val="17130B"/>
                          </a:solidFill>
                          <a:latin typeface="Calibri" pitchFamily="34" charset="0"/>
                          <a:ea typeface="Calibri" pitchFamily="34" charset="-122"/>
                          <a:cs typeface="Calibri" pitchFamily="34" charset="-120"/>
                        </a:rPr>
                        <a:t>Actions &amp; discours</a:t>
                      </a:r>
                      <a:endParaRPr lang="en-US" sz="115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D4AF37"/>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1</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Accueil public</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Ouvrir la page d'accueil en production. « Voici ce que découvre un joueur : l'outil est utilisable immédiatement, dans sa langue » — sélecteur de langue (FR→EN) et de serveur (Europe→Amériques).</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2</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Inscription</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Créer un compte de démo neuf. Montrer le message d'erreur si mot de passe trop court : « l'application guide l'utilisateur ». Valider.</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3</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Connexion + tableau de bord</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Se connecter. « Le tableau de bord centralise ses raccourcis — un tutoriel de prise en main est proposé au premier accès.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4</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Recherche joueur</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Rechercher un joueur connu. Ouvrir sa fiche : équipement, statistiques, rapport de session. « Ces données étaient dispersées ; elles sont réunies ici.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5</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Guildes &amp; batailles</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Ouvrir une guilde, puis l'historique de batailles. « Un chef de guilde prépare ainsi ses stratégies.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6</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Carte &amp; itinéraire partagé</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Naviguer entre zones, créer un itinéraire, générer le lien de partage, l'ouvrir en fenêtre privée : « le destinataire n'a pas besoin de compte ».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7</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Composition d'équipe</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Ouvrir une composition préparée : rôles, équipements. « L'outil de préparation d'équipe avant une bataille.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8</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Calculateur de craft</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Montrer le calcul de rentabilité avec les prix marché du serveur choisi et l'infobulle des prix indisponibles. « L'application dit aussi pourquoi une donnée manque.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9</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Administration</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Se connecter en administrateur : tableau de bord, gestion des utilisateurs, gestion des langues. « Le commanditaire administre son outil sans intervention technique.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r h="0">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10</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Conclusion</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 Version en production, déployée en continu, supervisée 24 h/24 avec alerte en cas d'indisponibilité, maintenue et documentée. Je vous propose de valider cette version pour livraison. »</a:t>
                      </a:r>
                      <a:endParaRPr lang="en-US" sz="930" dirty="0">
                        <a:latin typeface="Calibri" charset="0"/>
                        <a:ea typeface="Calibri" charset="0"/>
                        <a:cs typeface="Calibri" charset="0"/>
                      </a:endParaRPr>
                    </a:p>
                  </a:txBody>
                  <a:tcPr marL="91440" marR="91440" marT="45720" marB="45720" anchor="ctr">
                    <a:lnL w="9525" cap="flat" cmpd="sng" algn="ctr">
                      <a:solidFill>
                        <a:srgbClr val="3A2F1B"/>
                      </a:solidFill>
                      <a:prstDash val="solid"/>
                      <a:round/>
                      <a:headEnd type="none" w="med" len="med"/>
                      <a:tailEnd type="none" w="med" len="med"/>
                    </a:lnL>
                    <a:lnR w="9525" cap="flat" cmpd="sng" algn="ctr">
                      <a:solidFill>
                        <a:srgbClr val="3A2F1B"/>
                      </a:solidFill>
                      <a:prstDash val="solid"/>
                      <a:round/>
                      <a:headEnd type="none" w="med" len="med"/>
                      <a:tailEnd type="none" w="med" len="med"/>
                    </a:lnR>
                    <a:lnT w="9525" cap="flat" cmpd="sng" algn="ctr">
                      <a:solidFill>
                        <a:srgbClr val="3A2F1B"/>
                      </a:solidFill>
                      <a:prstDash val="solid"/>
                      <a:round/>
                      <a:headEnd type="none" w="med" len="med"/>
                      <a:tailEnd type="none" w="med" len="med"/>
                    </a:lnT>
                    <a:lnB w="9525" cap="flat" cmpd="sng" algn="ctr">
                      <a:solidFill>
                        <a:srgbClr val="3A2F1B"/>
                      </a:solidFill>
                      <a:prstDash val="solid"/>
                      <a:round/>
                      <a:headEnd type="none" w="med" len="med"/>
                      <a:tailEnd type="none" w="med" len="med"/>
                    </a:lnB>
                    <a:solidFill>
                      <a:srgbClr val="241D12"/>
                    </a:solidFill>
                  </a:tcPr>
                </a:tc>
              </a:tr>
            </a:tbl>
          </a:graphicData>
        </a:graphic>
      </p:graphicFrame>
      <p:sp>
        <p:nvSpPr>
          <p:cNvPr id="8" name="Text 5"/>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B8AD92"/>
                </a:solidFill>
                <a:latin typeface="Calibri" pitchFamily="34" charset="0"/>
                <a:ea typeface="Calibri" pitchFamily="34" charset="-122"/>
                <a:cs typeface="Calibri" pitchFamily="34" charset="-120"/>
              </a:rPr>
              <a:t>Albion Helper — Bloc 3 — Pilotage de projet</a:t>
            </a:r>
            <a:endParaRPr lang="en-US" sz="900" dirty="0"/>
          </a:p>
        </p:txBody>
      </p:sp>
      <p:sp>
        <p:nvSpPr>
          <p:cNvPr id="9" name="Text 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8AD9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2026-08-14T15:50:59Z</dcterms:created>
  <dcterms:modified xsi:type="dcterms:W3CDTF">2026-08-14T15:50:59Z</dcterms:modified>
</cp:coreProperties>
</file>