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1600200"/>
            <a:ext cx="2011680" cy="381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78308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5600" i="0" b="1">
                <a:solidFill>
                  <a:srgbClr val="E8C766"/>
                </a:solidFill>
                <a:latin typeface="Calibri"/>
              </a:rPr>
              <a:t>Albion Helper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718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200" i="0" b="0">
                <a:solidFill>
                  <a:srgbClr val="F5EDD8"/>
                </a:solidFill>
                <a:latin typeface="Calibri"/>
              </a:rPr>
              <a:t>Bloc 1 — Cadrer un projet de développement d'applications logicielles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977639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i="0" b="0">
                <a:solidFill>
                  <a:srgbClr val="C9C0A8"/>
                </a:solidFill>
                <a:latin typeface="Calibri"/>
              </a:rPr>
              <a:t>Pierre Saugues — M2 Expert en développement full-stack, YNOV</a:t>
            </a:r>
          </a:p>
          <a:p>
            <a:pPr>
              <a:spcAft>
                <a:spcPts val="700"/>
              </a:spcAft>
            </a:pPr>
            <a:r>
              <a:rPr sz="1450" i="0" b="0">
                <a:solidFill>
                  <a:srgbClr val="C9C0A8"/>
                </a:solidFill>
                <a:latin typeface="Calibri"/>
              </a:rPr>
              <a:t>Titre RNCP39583 « Expert en développement logiciel » — Épreuve orale : 20' + 10' d'échanges — Octobre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5394960"/>
            <a:ext cx="2331720" cy="914400"/>
          </a:xfrm>
          <a:prstGeom prst="roundRect">
            <a:avLst/>
          </a:prstGeom>
          <a:solidFill>
            <a:srgbClr val="3A2F17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2000" i="0" b="1">
                <a:solidFill>
                  <a:srgbClr val="E8C766"/>
                </a:solidFill>
                <a:latin typeface="Calibri"/>
              </a:rPr>
              <a:t>7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C9C0A8"/>
                </a:solidFill>
                <a:latin typeface="Calibri"/>
              </a:rPr>
              <a:t>parties prenantes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79" y="5394960"/>
            <a:ext cx="2331720" cy="914400"/>
          </a:xfrm>
          <a:prstGeom prst="roundRect">
            <a:avLst/>
          </a:prstGeom>
          <a:solidFill>
            <a:srgbClr val="3A2F17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2000" i="0" b="1">
                <a:solidFill>
                  <a:srgbClr val="E8C766"/>
                </a:solidFill>
                <a:latin typeface="Calibri"/>
              </a:rPr>
              <a:t>6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C9C0A8"/>
                </a:solidFill>
                <a:latin typeface="Calibri"/>
              </a:rPr>
              <a:t>risques cartographiés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5394960"/>
            <a:ext cx="2331720" cy="914400"/>
          </a:xfrm>
          <a:prstGeom prst="roundRect">
            <a:avLst/>
          </a:prstGeom>
          <a:solidFill>
            <a:srgbClr val="3A2F17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2000" i="0" b="1">
                <a:solidFill>
                  <a:srgbClr val="E8C766"/>
                </a:solidFill>
                <a:latin typeface="Calibri"/>
              </a:rPr>
              <a:t>94 j-h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C9C0A8"/>
                </a:solidFill>
                <a:latin typeface="Calibri"/>
              </a:rPr>
              <a:t>charge estimée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59" y="5394960"/>
            <a:ext cx="2331720" cy="914400"/>
          </a:xfrm>
          <a:prstGeom prst="roundRect">
            <a:avLst/>
          </a:prstGeom>
          <a:solidFill>
            <a:srgbClr val="3A2F17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2000" i="0" b="1">
                <a:solidFill>
                  <a:srgbClr val="E8C766"/>
                </a:solidFill>
                <a:latin typeface="Calibri"/>
              </a:rPr>
              <a:t>≈ 38 k€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C9C0A8"/>
                </a:solidFill>
                <a:latin typeface="Calibri"/>
              </a:rPr>
              <a:t>budget prévisionnel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017166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CONTEXTE DE LA DEMANDE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Le problème à résoudre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Albion Online est un MMORPG où l'information est stratégique : équipement des adversaires, prix du marché, itinéraires, préparation des batailles.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577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300" i="0" b="1">
                <a:solidFill>
                  <a:srgbClr val="7A5A08"/>
                </a:solidFill>
                <a:latin typeface="Calibri"/>
              </a:rPr>
              <a:t>Problématique du commanditaire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(une communauté de joueurs / guilde) : ces informations existent mais sont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éclatées entre plusieurs sites tiers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, souvent en anglais uniquement, sans partage possible entre membres, et sans outil couvrant les trois serveurs mondiaux du jeu.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983480"/>
            <a:ext cx="5577840" cy="1371600"/>
          </a:xfrm>
          <a:prstGeom prst="roundRect">
            <a:avLst/>
          </a:prstGeom>
          <a:solidFill>
            <a:srgbClr val="F1E9D2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300" i="0" b="1">
                <a:solidFill>
                  <a:srgbClr val="7A5A08"/>
                </a:solidFill>
                <a:latin typeface="Calibri"/>
              </a:rPr>
              <a:t>La demande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: « un outil unique, dans notre langue, où la guilde prépare et partage tout ce dont elle a besoin en session de jeu.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81328"/>
            <a:ext cx="523951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Périmètre proposé au cadrage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Recherche joueurs / guildes / batailles + statistiques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Carte des zones et itinéraires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partageables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Compositions d'équipe et calculateur d'artisanat (prix marché)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•  Multi-langue, multi-serveur, administrable sans technicien</a:t>
            </a:r>
          </a:p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Atout décisif identifié dès le cadrage</a:t>
            </a:r>
          </a:p>
          <a:p>
            <a:pPr>
              <a:spcAft>
                <a:spcPts val="700"/>
              </a:spcAft>
            </a:pPr>
            <a:r>
              <a:rPr sz="1350" i="0" b="0">
                <a:solidFill>
                  <a:srgbClr val="1D1A14"/>
                </a:solidFill>
                <a:latin typeface="Calibri"/>
              </a:rPr>
              <a:t>L'éditeur du jeu (Sandbox Interactive) expose une </a:t>
            </a:r>
            <a:r>
              <a:rPr sz="1350" i="0" b="1">
                <a:solidFill>
                  <a:srgbClr val="7A5A08"/>
                </a:solidFill>
                <a:latin typeface="Calibri"/>
              </a:rPr>
              <a:t>API de données publique et gratuite</a:t>
            </a:r>
            <a:r>
              <a:rPr sz="1350" i="0" b="0">
                <a:solidFill>
                  <a:srgbClr val="1D1A14"/>
                </a:solidFill>
                <a:latin typeface="Calibri"/>
              </a:rPr>
              <a:t> — le projet est possible sans partenariat commercial.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3377793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1 · CARTOGRAPHIE DES PARTIES PRENANTES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Acteurs, rôles et niveaux d'implication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2926080"/>
                <a:gridCol w="2148840"/>
                <a:gridCol w="2816352"/>
              </a:tblGrid>
              <a:tr h="51435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Acteur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Rôle dans le projet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Implication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Attentes principales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7A5A08"/>
                          </a:solidFill>
                          <a:latin typeface="Calibri"/>
                        </a:rPr>
                        <a:t>Commanditaire</a:t>
                      </a: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 — communauté / guilde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Exprime le besoin, valide les livraisons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Forte — décisionnaire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Outil fiable, simple, disponible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7A5A08"/>
                          </a:solidFill>
                          <a:latin typeface="Calibri"/>
                        </a:rPr>
                        <a:t>Utilisateurs finaux</a:t>
                      </a: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 — joueurs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Utilisent l'app, remontent les retours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Forte — quotidienne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Rapidité, langue native, aucune installation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7A5A08"/>
                          </a:solidFill>
                          <a:latin typeface="Calibri"/>
                        </a:rPr>
                        <a:t>Développeur / architecte</a:t>
                      </a: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 (moi)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Conçoit, développe, exploite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Forte — permanente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Stack maintenable, périmètre réaliste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7A5A08"/>
                          </a:solidFill>
                          <a:latin typeface="Calibri"/>
                        </a:rPr>
                        <a:t>Administrateurs</a:t>
                      </a: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 de l'outil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Gèrent utilisateurs, langues, contenus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Moyenne — régulière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Back-office sans compétence technique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7A5A08"/>
                          </a:solidFill>
                          <a:latin typeface="Calibri"/>
                        </a:rPr>
                        <a:t>Sandbox Interactive</a:t>
                      </a: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 (éditeur) — externe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Fournit l'API de données publique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Faible mais </a:t>
                      </a:r>
                      <a:r>
                        <a:rPr sz="1150" i="0" b="1">
                          <a:solidFill>
                            <a:srgbClr val="7A5A08"/>
                          </a:solidFill>
                          <a:latin typeface="Calibri"/>
                        </a:rPr>
                        <a:t>critique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Respect des conditions d'usage de l'API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7A5A08"/>
                          </a:solidFill>
                          <a:latin typeface="Calibri"/>
                        </a:rPr>
                        <a:t>Hébergeur</a:t>
                      </a: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 (VPS perfweb.net) — externe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Infrastructure de production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Faible — contractuelle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7A5A08"/>
                          </a:solidFill>
                          <a:latin typeface="Calibri"/>
                        </a:rPr>
                        <a:t>YNOV / jury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Cadre pédagogique, jalons de validation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Moyenne — aux jalons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Conformité au référentiel, preuves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715000"/>
            <a:ext cx="11091672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00" i="0" b="1">
                <a:solidFill>
                  <a:srgbClr val="7A5A08"/>
                </a:solidFill>
                <a:latin typeface="Calibri"/>
              </a:rPr>
              <a:t>Lecture pouvoir × intérêt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: commanditaire et utilisateurs pilotent le périmètre ; Sandbox Interactive a peu d'intérêt pour le projet mais un pouvoir de blocage total (API) → risque R1.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272284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2 · ANALYSE DE LA DEMANDE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Objectifs et enjeux par partie prenante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3657600"/>
                <a:gridCol w="2743200"/>
                <a:gridCol w="2679192"/>
              </a:tblGrid>
              <a:tr h="62179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Partie prenante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Besoins recensés (état des lieux + entretiens)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Objectifs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Enjeux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Commanditaire (guilde)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Centraliser l'info, partager itinéraires et compositions entre membres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1 outil unique remplaçant 4 sites tiers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Cohésion et efficacité de la guilde en jeu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Joueurs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Consulter vite (en session), dans leur langue, sur leur serveur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Réponse &lt; 1 s, interface FR/EN/…, 3 serveurs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Adoption — un outil lent ou anglophone ne sera pas utilisé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Administrateurs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Gérer comptes et langues sans développeur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Back-office complet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Autonomie du commanditaire après livraison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Développeur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Périmètre finançable et maintenable en solo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Stack unifiée, coûts ~0 licence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Viabilité long terme du service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754880"/>
            <a:ext cx="11091672" cy="160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500"/>
              </a:spcAft>
            </a:pPr>
            <a:r>
              <a:rPr sz="1250" i="0" b="1">
                <a:solidFill>
                  <a:srgbClr val="7A5A08"/>
                </a:solidFill>
                <a:latin typeface="Calibri"/>
              </a:rPr>
              <a:t>Pistes de solutions envisagées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: ① application web sur mesure (front + API) — ② surcouche/plugin d'un site existant — ③ bot Discord. Le bot ne couvre ni carte ni compositions ; la surcouche crée une dépendance à un tiers non contractuel.</a:t>
            </a:r>
          </a:p>
          <a:p>
            <a:pPr>
              <a:spcAft>
                <a:spcPts val="600"/>
              </a:spcAft>
            </a:pPr>
            <a:r>
              <a:rPr sz="1250" i="0" b="1">
                <a:solidFill>
                  <a:srgbClr val="7A5A08"/>
                </a:solidFill>
                <a:latin typeface="Calibri"/>
              </a:rPr>
              <a:t>→ Piste retenue : application web sur mesure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, validée par l'étude comparative (point 11) et l'estimation budgétaire (point 13).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442362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3 · OPPORTUNITÉS ET MENACES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Analyse SWOT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04104" cy="1947672"/>
          </a:xfrm>
          <a:prstGeom prst="roundRect">
            <a:avLst/>
          </a:prstGeom>
          <a:solidFill>
            <a:srgbClr val="E8F2E6"/>
          </a:solidFill>
          <a:ln w="15875">
            <a:solidFill>
              <a:srgbClr val="BCD8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82296"/>
          <a:lstStyle/>
          <a:p>
            <a:pPr algn="ctr">
              <a:spcAft>
                <a:spcPts val="500"/>
              </a:spcAft>
            </a:pPr>
            <a:r>
              <a:rPr sz="1450" i="0" b="1">
                <a:solidFill>
                  <a:srgbClr val="1D1A14"/>
                </a:solidFill>
                <a:latin typeface="Calibri"/>
              </a:rPr>
              <a:t>Forces (interne)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Stack maîtrisée et 100 % open source (coût licences nul)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API du jeu gratuite et documentée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Développeur = joueur : connaissance métier directe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7" y="1417320"/>
            <a:ext cx="5404104" cy="1947672"/>
          </a:xfrm>
          <a:prstGeom prst="roundRect">
            <a:avLst/>
          </a:prstGeom>
          <a:solidFill>
            <a:srgbClr val="FDEEEE"/>
          </a:solidFill>
          <a:ln w="15875">
            <a:solidFill>
              <a:srgbClr val="E8BC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82296"/>
          <a:lstStyle/>
          <a:p>
            <a:pPr algn="ctr">
              <a:spcAft>
                <a:spcPts val="500"/>
              </a:spcAft>
            </a:pPr>
            <a:r>
              <a:rPr sz="1450" i="0" b="1">
                <a:solidFill>
                  <a:srgbClr val="1D1A14"/>
                </a:solidFill>
                <a:latin typeface="Calibri"/>
              </a:rPr>
              <a:t>Faiblesses (interne)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Équipe d'une personne (bus factor = 1)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Budget infrastructure minimal (VPS mutualisé)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Compétence sécurité à construire (identifiée au cadrage)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02152"/>
            <a:ext cx="5404104" cy="1947672"/>
          </a:xfrm>
          <a:prstGeom prst="roundRect">
            <a:avLst/>
          </a:prstGeom>
          <a:solidFill>
            <a:srgbClr val="E9F0F8"/>
          </a:solidFill>
          <a:ln w="15875">
            <a:solidFill>
              <a:srgbClr val="B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82296"/>
          <a:lstStyle/>
          <a:p>
            <a:pPr algn="ctr">
              <a:spcAft>
                <a:spcPts val="500"/>
              </a:spcAft>
            </a:pPr>
            <a:r>
              <a:rPr sz="1450" i="0" b="1">
                <a:solidFill>
                  <a:srgbClr val="1D1A14"/>
                </a:solidFill>
                <a:latin typeface="Calibri"/>
              </a:rPr>
              <a:t>Opportunités (externe)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Aucun outil concurrent multilingue + multi-serveur + partage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Communauté active = testeurs et prescripteurs gratuits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Synergie possible avec d'autres outils communautaires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7" y="3502152"/>
            <a:ext cx="5404104" cy="1947672"/>
          </a:xfrm>
          <a:prstGeom prst="roundRect">
            <a:avLst/>
          </a:prstGeom>
          <a:solidFill>
            <a:srgbClr val="FDF3E2"/>
          </a:solidFill>
          <a:ln w="15875">
            <a:solidFill>
              <a:srgbClr val="E6CF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82296"/>
          <a:lstStyle/>
          <a:p>
            <a:pPr algn="ctr">
              <a:spcAft>
                <a:spcPts val="500"/>
              </a:spcAft>
            </a:pPr>
            <a:r>
              <a:rPr sz="1450" i="0" b="1">
                <a:solidFill>
                  <a:srgbClr val="1D1A14"/>
                </a:solidFill>
                <a:latin typeface="Calibri"/>
              </a:rPr>
              <a:t>Menaces (externe)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Dépendance à l'API de l'éditeur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(conditions, panne)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Exposition web publique = surface d'attaque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Désintérêt du jeu à long terme (marché de niche)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96128"/>
            <a:ext cx="1109167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150" i="0" b="1">
                <a:solidFill>
                  <a:srgbClr val="7A5A08"/>
                </a:solidFill>
                <a:latin typeface="Calibri"/>
              </a:rPr>
              <a:t>Points de vigilance transverses</a:t>
            </a:r>
            <a:r>
              <a:rPr sz="1150" i="0" b="0">
                <a:solidFill>
                  <a:srgbClr val="1D1A14"/>
                </a:solidFill>
                <a:latin typeface="Calibri"/>
              </a:rPr>
              <a:t> : impact environnemental maîtrisé dès la conception (hébergement mutualisé, cache des appels à l'API du jeu, pas de surdimensionnement) ; interactions avec l'existant limitées à la consommation de l'API publique dans le respect de ses conditions.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1847088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4 · DÉMARCHE D'AUDIT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Audit de l'existant : démarche mise en œuvre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Méthode (3 volets)</a:t>
            </a:r>
          </a:p>
          <a:p>
            <a:pPr>
              <a:spcAft>
                <a:spcPts val="9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État des lieux fonctionnel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: inventaire des outils utilisés par la communauté (sites de statistiques, cartes en ligne, tableurs, Discord) — grille : fonction / langue / serveurs / partage</a:t>
            </a:r>
          </a:p>
          <a:p>
            <a:pPr>
              <a:spcAft>
                <a:spcPts val="9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Audit technique de l'API du jeu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: essais outillés des points d'accès (format, latence, limites de débit, absence d'authentification requise)</a:t>
            </a:r>
          </a:p>
          <a:p>
            <a:pPr>
              <a:spcAft>
                <a:spcPts val="9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Audit de l'infrastructure cible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: capacités du VPS existant (versions PHP, PostgreSQL, mémoire, HTTPS)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81328"/>
            <a:ext cx="523951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Constats structurants</a:t>
            </a:r>
          </a:p>
          <a:p>
            <a:pPr>
              <a:spcAft>
                <a:spcPts val="9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4 outils tiers nécessaires pour couvrir le besoin —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aucun ne partage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de contenu entre joueurs, aucun n'est multilingue</a:t>
            </a:r>
          </a:p>
          <a:p>
            <a:pPr>
              <a:spcAft>
                <a:spcPts val="9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API du jeu : gratuite, JSON, sans clé — mais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sans garantie de service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→ imposera cache + supervision</a:t>
            </a:r>
          </a:p>
          <a:p>
            <a:pPr>
              <a:spcAft>
                <a:spcPts val="9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Prix de marché parfois absents (donnée communautaire) → à gérer dans l'UX dès la conception</a:t>
            </a:r>
          </a:p>
          <a:p>
            <a:pPr>
              <a:spcAft>
                <a:spcPts val="9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VPS existant suffisant pour la volumétrie visée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77840"/>
            <a:ext cx="11091672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Chaque constat d'audit alimente une décision de cadrage :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cache → architecture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;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absence de partage → fonctionnalité différenciante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;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API sans garantie → cartographie des risques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3973068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5 · DIAGNOSTIC DES INFRASTRUCTURES EXISTANTES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Infrastructure disponible vs besoins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4023360"/>
                <a:gridCol w="4416552"/>
              </a:tblGrid>
              <a:tr h="4343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Élément existant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État constaté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Adéquation au besoin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VPS mutualisé (perfweb.net)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Linux, Nginx, PHP-FPM 8.2+, HTTPS (Let's Encrypt)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2E7D32"/>
                          </a:solidFill>
                          <a:latin typeface="Calibri"/>
                        </a:rPr>
                        <a:t>Suffisant — API PHP moderne exécutable sans changement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Base de données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PostgreSQL disponible sur le serveur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2E7D32"/>
                          </a:solidFill>
                          <a:latin typeface="Calibri"/>
                        </a:rPr>
                        <a:t>Adapté (relationnel, volumétrie faible)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Poste de développement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macOS + Docker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2E7D32"/>
                          </a:solidFill>
                          <a:latin typeface="Calibri"/>
                        </a:rPr>
                        <a:t>Environnements dev/test isolés et reproductibles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Chaîne de livraison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C62828"/>
                          </a:solidFill>
                          <a:latin typeface="Calibri"/>
                        </a:rPr>
                        <a:t>Inexistante au cadrage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À construire : Git + intégration et déploiement continus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Supervision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C62828"/>
                          </a:solidFill>
                          <a:latin typeface="Calibri"/>
                        </a:rPr>
                        <a:t>Inexistante au cadrage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À construire (bloc 4 : sondes + alertes)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60520"/>
            <a:ext cx="110916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Contraintes techniques et financières relevées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Hébergement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: VPS ~10 €/mois, pas de cloud managé → architecture sobre  · 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Volumétrie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: ~200 utilisateurs actifs, pics en soirée, données &lt; 1 Go</a:t>
            </a:r>
          </a:p>
          <a:p>
            <a:pPr>
              <a:spcAft>
                <a:spcPts val="4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Délais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: jalons de certification imposés (juin–oct. 2026) → lots priorisés  · 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Budget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: quasi nul en licences → open source exclusivement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49240"/>
            <a:ext cx="110916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50" i="0" b="1">
                <a:solidFill>
                  <a:srgbClr val="7A5A08"/>
                </a:solidFill>
                <a:latin typeface="Calibri"/>
              </a:rPr>
              <a:t>Avis critique sur la faisabilité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: projet faisable dans les contraintes, à condition de : ① mettre en cache les données de l'API du jeu, ② limiter la v1 aux fonctions à plus forte valeur (partage, recherche), ③ automatiser tests et déploiement dès le départ pour compenser l'équipe réduite.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527401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6 · CARTOGRAPHIE DES RISQUES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Risques techniques et fonctionnels, priorisés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1672" cy="48463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3108960"/>
                <a:gridCol w="914400"/>
                <a:gridCol w="868680"/>
                <a:gridCol w="1005840"/>
                <a:gridCol w="4736592"/>
              </a:tblGrid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Risque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Prob.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Criticité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1D1A14"/>
                          </a:solidFill>
                          <a:latin typeface="Calibri"/>
                        </a:rPr>
                        <a:t>Mesures décidées au cadrage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Indisponibilité / changement de l'API du jeu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Fort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C62828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Cache local, dégradation gracieuse (messages explicites), supervision de l'API dans la sonde de santé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Compromission de comptes / attaque web (auth, injection, XSS)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Fort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1">
                          <a:solidFill>
                            <a:srgbClr val="C62828"/>
                          </a:solidFill>
                          <a:latin typeface="Calibri"/>
                        </a:rPr>
                        <a:t>Élevée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Revue OWASP Top 10 systématique, jetons courts, ORM exclusivement, limitation de débit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Perte de données (VPS unique)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Fort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Sauvegardes régulières de la base, migrations versionnées (reconstruction possible)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Interruption de service (déploiement raté, panne)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Moyen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Déploiement automatisé et testé, alerte ≤ 5 min, procédure de retour arrière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Dégradation des performances (appels API en cascade)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Moyen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Cache, pagination, temps de réponse &lt; 1 s supervisé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R6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Bus factor = 1 (développeur unique)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Faible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Fort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Moyenne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i="0" b="0">
                          <a:solidFill>
                            <a:srgbClr val="1D1A14"/>
                          </a:solidFill>
                          <a:latin typeface="Calibri"/>
                        </a:rPr>
                        <a:t>Documentation systématique (manuels), Git conventionnel, architecture standard du framework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4058107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7 &amp; 8 · RÉFÉRENTIEL D'ÉVALUATION &amp; INDICATEURS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Évaluer les risques, suivre les incidents, contrôler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Référentiel d'évaluation des risques</a:t>
            </a:r>
          </a:p>
          <a:p>
            <a:pPr>
              <a:spcAft>
                <a:spcPts val="7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Criticité =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probabilité × impact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(échelles 1–3), réévaluée à chaque jalon</a:t>
            </a:r>
          </a:p>
          <a:p>
            <a:pPr>
              <a:spcAft>
                <a:spcPts val="7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Seuils :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≥ 6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→ mesure préventive obligatoire avant production ;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3–4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→ mesure planifiée ;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&lt; 3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→ surveillance</a:t>
            </a:r>
          </a:p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Suivi des incidents (appliqué en blocs 2 et 4)</a:t>
            </a:r>
          </a:p>
          <a:p>
            <a:pPr>
              <a:spcAft>
                <a:spcPts val="7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Registre unique : fiche normalisée 11 champs (reproduction obligatoire), qualification gravité / priorité</a:t>
            </a:r>
          </a:p>
          <a:p>
            <a:pPr>
              <a:spcAft>
                <a:spcPts val="7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Cycle : consignation → qualification → correctif → re-test → clôture tracée</a:t>
            </a:r>
          </a:p>
          <a:p>
            <a:pPr>
              <a:spcAft>
                <a:spcPts val="7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Preuve d'usage réel :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13 anomalies consignées et traitées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sur le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17320"/>
            <a:ext cx="5330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Indicateurs de contrôle définis au cadrage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874519"/>
          <a:ext cx="5330952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7672"/>
                <a:gridCol w="1554480"/>
                <a:gridCol w="1828800"/>
              </a:tblGrid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Cible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Contrôle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Disponibilité du service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≥ 99 %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Sonde externe 5 min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Temps de réponse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&lt; 1 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Supervision continue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Détection d'incident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≤ 5 min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Alerte e-mail automatique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Erreurs serveur (5xx)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&lt; 1 %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Journaux dédiés incidents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Vulnérabilités critiques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Audit dépendances hebdo (auto)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Régressions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0 livraison si tests rouges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CI bloquante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612440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9 &amp; 10 · VEILLE TECHNOLOGIQUE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Méthodologie de veille, sources et outils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Méthodologie de recherche</a:t>
            </a:r>
          </a:p>
          <a:p>
            <a:pPr>
              <a:spcAft>
                <a:spcPts val="6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Veille passive automatisée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(quotidienne) : alertes de sécurité et de versions poussées vers moi</a:t>
            </a:r>
          </a:p>
          <a:p>
            <a:pPr>
              <a:spcAft>
                <a:spcPts val="6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Veille active ciblée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(hebdomadaire) : blogs et notes de versions des technologies du projet</a:t>
            </a:r>
          </a:p>
          <a:p>
            <a:pPr>
              <a:spcAft>
                <a:spcPts val="6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Veille exploratoire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(mensuelle + événements) : conférences en ligne, meetups, retours d'expérience</a:t>
            </a:r>
          </a:p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Principales sources consultées</a:t>
            </a:r>
          </a:p>
          <a:p>
            <a:pPr>
              <a:spcAft>
                <a:spcPts val="6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Blogs et notes de versions officiels Symfony / React ; SymfonyCasts</a:t>
            </a:r>
          </a:p>
          <a:p>
            <a:pPr>
              <a:spcAft>
                <a:spcPts val="6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Bulletins sécurité : OWASP, advisories GitHub, CVE</a:t>
            </a:r>
          </a:p>
          <a:p>
            <a:pPr>
              <a:spcAft>
                <a:spcPts val="6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•  Communautés : forum développeurs Albion Online (API), dépôts des outils communautaires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17320"/>
            <a:ext cx="5330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Outils de veille et bénéfices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874519"/>
          <a:ext cx="533095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953512"/>
              </a:tblGrid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Outil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Bénéfice attendu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Dependabot (automatisation)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Vulnérabilités et mises à jour détectées sans effort — réaction en heures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Flux RSS / newsletters (Symfony Weekly, This Week in React)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Panorama hebdomadaire à coût fixe (30 min)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GitHub Watch sur les dépôts clés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Anticiper les changements de l'API du jeu et des bibliothèques critiques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Conférences (SymfonyLive, meetups)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Signaux faibles et retours d'expérience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309360" y="4892040"/>
            <a:ext cx="5330952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150" i="0" b="1">
                <a:solidFill>
                  <a:srgbClr val="7A5A08"/>
                </a:solidFill>
                <a:latin typeface="Calibri"/>
              </a:rPr>
              <a:t>Preuve d'efficacité</a:t>
            </a:r>
            <a:r>
              <a:rPr sz="1150" i="0" b="0">
                <a:solidFill>
                  <a:srgbClr val="1D1A14"/>
                </a:solidFill>
                <a:latin typeface="Calibri"/>
              </a:rPr>
              <a:t> : la veille a déclenché la migration Symfony 7.2 (fin de vie) → 7.4 LTS et la correction d'une CVE critique avant la mise en production — évolutions classées par impact métier (sécurité d'abord) et environnemental (LTS = moins de migrations).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4143146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11 · ÉTUDE COMPARATIVE DES SOLUTIONS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Comparatif multi-critères et choix d'architecture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17320"/>
          <a:ext cx="11384280" cy="4114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7280"/>
                <a:gridCol w="1783080"/>
                <a:gridCol w="2194560"/>
                <a:gridCol w="2331720"/>
                <a:gridCol w="1371600"/>
                <a:gridCol w="1828800"/>
                <a:gridCol w="777240"/>
              </a:tblGrid>
              <a:tr h="8229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1D1A14"/>
                          </a:solidFill>
                          <a:latin typeface="Calibri"/>
                        </a:rPr>
                        <a:t>Brique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1D1A14"/>
                          </a:solidFill>
                          <a:latin typeface="Calibri"/>
                        </a:rPr>
                        <a:t>Options étudiées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1D1A14"/>
                          </a:solidFill>
                          <a:latin typeface="Calibri"/>
                        </a:rPr>
                        <a:t>Sécurité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1D1A14"/>
                          </a:solidFill>
                          <a:latin typeface="Calibri"/>
                        </a:rPr>
                        <a:t>Écosystème &amp; maintenabilité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1D1A14"/>
                          </a:solidFill>
                          <a:latin typeface="Calibri"/>
                        </a:rPr>
                        <a:t>Accessibilité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1D1A14"/>
                          </a:solidFill>
                          <a:latin typeface="Calibri"/>
                        </a:rPr>
                        <a:t>Impact env. / système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1D1A14"/>
                          </a:solidFill>
                          <a:latin typeface="Calibri"/>
                        </a:rPr>
                        <a:t>Choix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Back-end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7A5A08"/>
                          </a:solidFill>
                          <a:latin typeface="Calibri"/>
                        </a:rPr>
                        <a:t>Symfony</a:t>
                      </a: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 vs Laravel vs Node/Express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Composant sécurité mature, advisories suivies, ORM anti-injection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LTS 4 ans, structure imposée (reprise facile), compétence existante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PHP-FPM sobre sur VPS mutualisé, pas de processus résident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7A5A08"/>
                          </a:solidFill>
                          <a:latin typeface="Calibri"/>
                        </a:rPr>
                        <a:t>Symfony 7 LTS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Front-end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7A5A08"/>
                          </a:solidFill>
                          <a:latin typeface="Calibri"/>
                        </a:rPr>
                        <a:t>React</a:t>
                      </a: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 vs Vue vs Angular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Échappement XSS par défaut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1er écosystème (MUI, i18next), viabilité long terme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MUI : composants ARIA prêts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Build statique servi par Nginx (cache)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7A5A08"/>
                          </a:solidFill>
                          <a:latin typeface="Calibri"/>
                        </a:rPr>
                        <a:t>React 19 + MUI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Authentification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7A5A08"/>
                          </a:solidFill>
                          <a:latin typeface="Calibri"/>
                        </a:rPr>
                        <a:t>JWT</a:t>
                      </a: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 vs sessions serveur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Sans état, jetons courts + rotation ; CSRF non applicable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Adapté à une API consommée par un front séparé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Pas de stockage session serveur (VPS modeste)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7A5A08"/>
                          </a:solidFill>
                          <a:latin typeface="Calibri"/>
                        </a:rPr>
                        <a:t>JWT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Base de données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7A5A08"/>
                          </a:solidFill>
                          <a:latin typeface="Calibri"/>
                        </a:rPr>
                        <a:t>PostgreSQL</a:t>
                      </a: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 vs MySQL vs MongoDB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Robustesse, droits fins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Données relationnelles (recettes, zones, routes) — Doctrine natif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0">
                          <a:solidFill>
                            <a:srgbClr val="1D1A14"/>
                          </a:solidFill>
                          <a:latin typeface="Calibri"/>
                        </a:rPr>
                        <a:t>Déjà installé sur le VPS (0 ressource ajoutée)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50" i="0" b="1">
                          <a:solidFill>
                            <a:srgbClr val="7A5A08"/>
                          </a:solidFill>
                          <a:latin typeface="Calibri"/>
                        </a:rPr>
                        <a:t>PostgreSQL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669280"/>
            <a:ext cx="113842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00" i="0" b="1">
                <a:solidFill>
                  <a:srgbClr val="7A5A08"/>
                </a:solidFill>
                <a:latin typeface="Calibri"/>
              </a:rPr>
              <a:t>Ressources découlant du choix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: VPS existant (Nginx + PHP-FPM + PostgreSQL), Docker en développement, GitHub pour sources + CI/CD —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aucune acquisition nécessaire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952597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12 · DIAGRAMME DE FONCTIONNALITÉS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Fonctions recensées et hiérarchisées (MoSCoW)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7607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spcAft>
                <a:spcPts val="400"/>
              </a:spcAft>
            </a:pPr>
            <a:r>
              <a:rPr sz="1250" i="0" b="0">
                <a:solidFill>
                  <a:srgbClr val="1D1A14"/>
                </a:solidFill>
                <a:latin typeface="Courier New"/>
              </a:rPr>
              <a:t>ALBION HELPER</a:t>
            </a:r>
          </a:p>
          <a:p>
            <a:pPr>
              <a:spcAft>
                <a:spcPts val="400"/>
              </a:spcAft>
            </a:pPr>
            <a:r>
              <a:rPr sz="1250" i="0" b="0">
                <a:solidFill>
                  <a:srgbClr val="1D1A14"/>
                </a:solidFill>
                <a:latin typeface="Courier New"/>
              </a:rPr>
              <a:t>├─ F1 Compte &amp; accès             [MUST]</a:t>
            </a:r>
          </a:p>
          <a:p>
            <a:pPr>
              <a:spcAft>
                <a:spcPts val="400"/>
              </a:spcAft>
            </a:pPr>
            <a:r>
              <a:rPr sz="1250" i="0" b="0">
                <a:solidFill>
                  <a:srgbClr val="1D1A14"/>
                </a:solidFill>
                <a:latin typeface="Courier New"/>
              </a:rPr>
              <a:t>│    inscription/connexion · profil · admin (rôles)</a:t>
            </a:r>
          </a:p>
          <a:p>
            <a:pPr>
              <a:spcAft>
                <a:spcPts val="400"/>
              </a:spcAft>
            </a:pPr>
            <a:r>
              <a:rPr sz="1250" i="0" b="0">
                <a:solidFill>
                  <a:srgbClr val="1D1A14"/>
                </a:solidFill>
                <a:latin typeface="Courier New"/>
              </a:rPr>
              <a:t>├─ F2 Recherche &amp; consultation   [MUST]</a:t>
            </a:r>
          </a:p>
          <a:p>
            <a:pPr>
              <a:spcAft>
                <a:spcPts val="400"/>
              </a:spcAft>
            </a:pPr>
            <a:r>
              <a:rPr sz="1250" i="0" b="0">
                <a:solidFill>
                  <a:srgbClr val="1D1A14"/>
                </a:solidFill>
                <a:latin typeface="Courier New"/>
              </a:rPr>
              <a:t>│    joueurs + stats PvP · guildes · batailles</a:t>
            </a:r>
          </a:p>
          <a:p>
            <a:pPr>
              <a:spcAft>
                <a:spcPts val="400"/>
              </a:spcAft>
            </a:pPr>
            <a:r>
              <a:rPr sz="1250" i="0" b="0">
                <a:solidFill>
                  <a:srgbClr val="1D1A14"/>
                </a:solidFill>
                <a:latin typeface="Courier New"/>
              </a:rPr>
              <a:t>├─ F3 Carte &amp; itinéraires        [MUST]</a:t>
            </a:r>
          </a:p>
          <a:p>
            <a:pPr>
              <a:spcAft>
                <a:spcPts val="400"/>
              </a:spcAft>
            </a:pPr>
            <a:r>
              <a:rPr sz="1250" i="0" b="0">
                <a:solidFill>
                  <a:srgbClr val="1D1A14"/>
                </a:solidFill>
                <a:latin typeface="Courier New"/>
              </a:rPr>
              <a:t>│    carte interactive · itinéraires partagés (lien public)</a:t>
            </a:r>
          </a:p>
          <a:p>
            <a:pPr>
              <a:spcAft>
                <a:spcPts val="400"/>
              </a:spcAft>
            </a:pPr>
            <a:r>
              <a:rPr sz="1250" i="0" b="0">
                <a:solidFill>
                  <a:srgbClr val="1D1A14"/>
                </a:solidFill>
                <a:latin typeface="Courier New"/>
              </a:rPr>
              <a:t>├─ F4 Préparation de jeu         [SHOULD]</a:t>
            </a:r>
          </a:p>
          <a:p>
            <a:pPr>
              <a:spcAft>
                <a:spcPts val="400"/>
              </a:spcAft>
            </a:pPr>
            <a:r>
              <a:rPr sz="1250" i="0" b="0">
                <a:solidFill>
                  <a:srgbClr val="1D1A14"/>
                </a:solidFill>
                <a:latin typeface="Courier New"/>
              </a:rPr>
              <a:t>│    compositions d'équipe · calculateur de craft</a:t>
            </a:r>
          </a:p>
          <a:p>
            <a:pPr>
              <a:spcAft>
                <a:spcPts val="400"/>
              </a:spcAft>
            </a:pPr>
            <a:r>
              <a:rPr sz="1250" i="0" b="0">
                <a:solidFill>
                  <a:srgbClr val="1D1A14"/>
                </a:solidFill>
                <a:latin typeface="Courier New"/>
              </a:rPr>
              <a:t>├─ F5 Confort d'usage            [SHOULD]</a:t>
            </a:r>
          </a:p>
          <a:p>
            <a:pPr>
              <a:spcAft>
                <a:spcPts val="400"/>
              </a:spcAft>
            </a:pPr>
            <a:r>
              <a:rPr sz="1250" i="0" b="0">
                <a:solidFill>
                  <a:srgbClr val="1D1A14"/>
                </a:solidFill>
                <a:latin typeface="Courier New"/>
              </a:rPr>
              <a:t>│    multi-langue · multi-serveur · thème sombre · tutoriel</a:t>
            </a:r>
          </a:p>
          <a:p>
            <a:pPr>
              <a:spcAft>
                <a:spcPts val="400"/>
              </a:spcAft>
            </a:pPr>
            <a:r>
              <a:rPr sz="1250" i="0" b="0">
                <a:solidFill>
                  <a:srgbClr val="1D1A14"/>
                </a:solidFill>
                <a:latin typeface="Courier New"/>
              </a:rPr>
              <a:t>└─ F6 Ouverture                  [COULD → backlog]</a:t>
            </a:r>
          </a:p>
          <a:p>
            <a:pPr>
              <a:spcAft>
                <a:spcPts val="400"/>
              </a:spcAft>
            </a:pPr>
            <a:r>
              <a:rPr sz="1250" i="0" b="0">
                <a:solidFill>
                  <a:srgbClr val="1D1A14"/>
                </a:solidFill>
                <a:latin typeface="Courier New"/>
              </a:rPr>
              <a:t>     API publique · application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50566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Méthode d'analyse fonctionnelle</a:t>
            </a:r>
          </a:p>
          <a:p>
            <a:pPr>
              <a:spcAft>
                <a:spcPts val="8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Recensement par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entretiens d'usage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avec les joueurs + état des lieux des outils tiers (audit)</a:t>
            </a:r>
          </a:p>
          <a:p>
            <a:pPr>
              <a:spcAft>
                <a:spcPts val="8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Hiérarchisation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MoSCoW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: Must = remplace les outils tiers ; Should = différenciateurs ; Could = après v1</a:t>
            </a:r>
          </a:p>
          <a:p>
            <a:pPr>
              <a:spcAft>
                <a:spcPts val="8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UX prise en compte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dès le cadrage : réponse rapide, tutoriel, thème sombre (usage nocturne), langue native, partage sans compte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4892040"/>
            <a:ext cx="5056632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Ce découpage F1→F5 est devenu le </a:t>
            </a:r>
            <a:r>
              <a:rPr sz="1250" i="0" b="1">
                <a:solidFill>
                  <a:srgbClr val="7A5A08"/>
                </a:solidFill>
                <a:latin typeface="Calibri"/>
              </a:rPr>
              <a:t>backlog Kanban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du projet — chaque fonction terminale correspond à un lot livré et recetté (26 scénarios de recette).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697480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13 · CHARGE DE TRAVAIL &amp; COÛTS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Charge en jours-homme, estimation des coûts,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5486400" cy="4892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2788920"/>
                <a:gridCol w="914400"/>
              </a:tblGrid>
              <a:tr h="48920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Lot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Contenu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Charge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Cadrage &amp; socle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Étude, maquettes, environnements, CI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10 j-h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F1 Compte &amp; accès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Auth JWT, profils, admin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12 j-h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F2 Recherche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Joueurs, guildes, batailles, API jeu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15 j-h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F3 Carte &amp; itinéraires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Carte, zones, partage public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12 j-h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F4 Préparation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Compositions, craft + prix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12 j-h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F5 Confort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i18n, multi-serveur, thème, tutoriel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8 j-h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Qualité &amp; sécurité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Tests, revue OWASP, audits, recette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10 j-h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Documentation &amp; MCO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Manuels, supervision, correctifs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6 j-h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89203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7A5A08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+ réserve pour aléas 10 %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7A5A08"/>
                          </a:solidFill>
                          <a:latin typeface="Calibri"/>
                        </a:rPr>
                        <a:t>85 → ~94 j-h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417320"/>
            <a:ext cx="53309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Méthode d'estimation</a:t>
            </a:r>
          </a:p>
          <a:p>
            <a:pPr>
              <a:spcAft>
                <a:spcPts val="5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Estimation par analogie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lot par lot, affinée par découpage en tâches ≤ 2 jours</a:t>
            </a:r>
          </a:p>
          <a:p>
            <a:pPr>
              <a:spcAft>
                <a:spcPts val="5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Réserve pour aléas de 10 % — consommée notamment par la campagne sécurité de juin 2026</a:t>
            </a:r>
          </a:p>
          <a:p>
            <a:pPr>
              <a:spcAft>
                <a:spcPts val="5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Charge étalée sur ~18 mois à temps partiel —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cohérente avec le réalisé constaté (~80 j-h)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611880"/>
            <a:ext cx="5330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Estimation des coûts &amp; budget prévisionnel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4069080"/>
          <a:ext cx="5330952" cy="2240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76472"/>
                <a:gridCol w="1554480"/>
              </a:tblGrid>
              <a:tr h="44805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Poste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1D1A14"/>
                          </a:solidFill>
                          <a:latin typeface="Calibri"/>
                        </a:rPr>
                        <a:t>Montant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Développement : 94 j-h × 400 € (TJM junior)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37 600 €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Infrastructure (VPS + domaine, 2 ans)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270 €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Licences &amp; outillage (open source)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0">
                          <a:solidFill>
                            <a:srgbClr val="1D1A14"/>
                          </a:solidFill>
                          <a:latin typeface="Calibri"/>
                        </a:rPr>
                        <a:t>0 €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7A5A08"/>
                          </a:solidFill>
                          <a:latin typeface="Calibri"/>
                        </a:rPr>
                        <a:t>Budget prévisionnel total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i="0" b="1">
                          <a:solidFill>
                            <a:srgbClr val="7A5A08"/>
                          </a:solidFill>
                          <a:latin typeface="Calibri"/>
                        </a:rPr>
                        <a:t>≈ 38 k€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3292754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14 · ARCHITECTURE LOGICIELLE PROPOSÉE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Schéma d'architecture (modèle C4 — niveau conteneurs)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0116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300" i="0" b="1">
                <a:solidFill>
                  <a:srgbClr val="1D1A14"/>
                </a:solidFill>
                <a:latin typeface="Calibri"/>
              </a:rPr>
              <a:t>Joueur</a:t>
            </a:r>
          </a:p>
          <a:p>
            <a:pPr algn="ctr">
              <a:spcAft>
                <a:spcPts val="0"/>
              </a:spcAft>
            </a:pPr>
            <a:r>
              <a:rPr sz="1000" i="0" b="0">
                <a:solidFill>
                  <a:srgbClr val="6B6357"/>
                </a:solidFill>
                <a:latin typeface="Calibri"/>
              </a:rPr>
              <a:t>navigateur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00200"/>
            <a:ext cx="283464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300" i="0" b="1">
                <a:solidFill>
                  <a:srgbClr val="1D1A14"/>
                </a:solidFill>
                <a:latin typeface="Calibri"/>
              </a:rPr>
              <a:t>Front React 19</a:t>
            </a:r>
          </a:p>
          <a:p>
            <a:pPr algn="ctr">
              <a:spcAft>
                <a:spcPts val="0"/>
              </a:spcAft>
            </a:pPr>
            <a:r>
              <a:rPr sz="1000" i="0" b="0">
                <a:solidFill>
                  <a:srgbClr val="6B6357"/>
                </a:solidFill>
                <a:latin typeface="Calibri"/>
              </a:rPr>
              <a:t>build statique servi par Nginx · MUI · i18n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00200"/>
            <a:ext cx="283464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300" i="0" b="1">
                <a:solidFill>
                  <a:srgbClr val="1D1A14"/>
                </a:solidFill>
                <a:latin typeface="Calibri"/>
              </a:rPr>
              <a:t>API REST Symfony 7 LTS</a:t>
            </a:r>
          </a:p>
          <a:p>
            <a:pPr algn="ctr">
              <a:spcAft>
                <a:spcPts val="0"/>
              </a:spcAft>
            </a:pPr>
            <a:r>
              <a:rPr sz="1000" i="0" b="0">
                <a:solidFill>
                  <a:srgbClr val="6B6357"/>
                </a:solidFill>
                <a:latin typeface="Calibri"/>
              </a:rPr>
              <a:t>Contrôleur → Service → Repository → Entité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66960" y="1600200"/>
            <a:ext cx="169164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</a:pPr>
            <a:r>
              <a:rPr sz="1300" i="0" b="1">
                <a:solidFill>
                  <a:srgbClr val="1D1A14"/>
                </a:solidFill>
                <a:latin typeface="Calibri"/>
              </a:rPr>
              <a:t>PostgreSQL</a:t>
            </a:r>
          </a:p>
          <a:p>
            <a:pPr algn="ctr">
              <a:spcAft>
                <a:spcPts val="0"/>
              </a:spcAft>
            </a:pPr>
            <a:r>
              <a:rPr sz="1000" i="0" b="0">
                <a:solidFill>
                  <a:srgbClr val="6B6357"/>
                </a:solidFill>
                <a:latin typeface="Calibri"/>
              </a:rPr>
              <a:t>utilisateurs, routes, compos, cache marché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i="0" b="1">
                <a:solidFill>
                  <a:srgbClr val="7A5A08"/>
                </a:solidFill>
                <a:latin typeface="Calibri"/>
              </a:rPr>
              <a:t>HTTPS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205740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i="0" b="1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68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i="0" b="1">
                <a:solidFill>
                  <a:srgbClr val="7A5A08"/>
                </a:solidFill>
                <a:latin typeface="Calibri"/>
              </a:rPr>
              <a:t>JSON/JWT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7608" y="205740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i="0" b="1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9448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900" i="0" b="1">
                <a:solidFill>
                  <a:srgbClr val="7A5A08"/>
                </a:solidFill>
                <a:latin typeface="Calibri"/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0888" y="2057400"/>
            <a:ext cx="685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i="0" b="1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063240"/>
            <a:ext cx="3840480" cy="91440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i="0" b="1">
                <a:solidFill>
                  <a:srgbClr val="1D1A14"/>
                </a:solidFill>
                <a:latin typeface="Calibri"/>
              </a:rPr>
              <a:t>API publique Albion Online</a:t>
            </a:r>
          </a:p>
          <a:p>
            <a:pPr algn="ct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joueurs, guildes, batailles, prix — consommée avec cache local (anti-SSRF)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063240"/>
            <a:ext cx="3886200" cy="91440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1200" i="0" b="1">
                <a:solidFill>
                  <a:srgbClr val="1D1A14"/>
                </a:solidFill>
                <a:latin typeface="Calibri"/>
              </a:rPr>
              <a:t>Supervision</a:t>
            </a:r>
          </a:p>
          <a:p>
            <a:pPr algn="ct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sonde externe + sonde interne → alertes e-mail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5577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Justification de la modélisation</a:t>
            </a:r>
          </a:p>
          <a:p>
            <a:pPr>
              <a:spcAft>
                <a:spcPts val="700"/>
              </a:spcAft>
            </a:pPr>
            <a:r>
              <a:rPr sz="1250" i="0" b="1">
                <a:solidFill>
                  <a:srgbClr val="7A5A08"/>
                </a:solidFill>
                <a:latin typeface="Calibri"/>
              </a:rPr>
              <a:t>C4 retenu</a:t>
            </a:r>
            <a:r>
              <a:rPr sz="1250" i="0" b="0">
                <a:solidFill>
                  <a:srgbClr val="1D1A14"/>
                </a:solidFill>
                <a:latin typeface="Calibri"/>
              </a:rPr>
              <a:t> (vs UML complet) : lisible par le commanditaire non technicien au niveau contexte, précis pour l'équipe au niveau conteneurs — adapté à un cadrage à double audience.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97680"/>
            <a:ext cx="52395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Propriétés visées</a:t>
            </a:r>
          </a:p>
          <a:p>
            <a:pPr>
              <a:spcAft>
                <a:spcPts val="6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Maintenable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: couches strictes, conventions du framework  · 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Sécurisée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: API sans état, JWT courts, ORM, appels sortants verrouillés</a:t>
            </a:r>
          </a:p>
          <a:p>
            <a:pPr>
              <a:spcAft>
                <a:spcPts val="600"/>
              </a:spcAft>
            </a:pPr>
            <a:r>
              <a:rPr sz="12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Extensible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: nouvelles fonctions sans refonte (prouvé : multi-serveur ajouté en 2 semaines)  ·  </a:t>
            </a:r>
            <a:r>
              <a:rPr sz="1200" i="0" b="1">
                <a:solidFill>
                  <a:srgbClr val="7A5A08"/>
                </a:solidFill>
                <a:latin typeface="Calibri"/>
              </a:rPr>
              <a:t>Sobre</a:t>
            </a:r>
            <a:r>
              <a:rPr sz="1200" i="0" b="0">
                <a:solidFill>
                  <a:srgbClr val="1D1A14"/>
                </a:solidFill>
                <a:latin typeface="Calibri"/>
              </a:rPr>
              <a:t> : cache, build statique, un seul VPS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2612440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15 · PRÉCONISATIONS AU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Axes de solutions préconisés — l'argumentaire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864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91440" bIns="91440"/>
          <a:lstStyle/>
          <a:p>
            <a:pPr algn="ctr">
              <a:spcAft>
                <a:spcPts val="8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Ce que je préconise (discours commanditaire)</a:t>
            </a:r>
          </a:p>
          <a:p>
            <a:pPr>
              <a:spcAft>
                <a:spcPts val="900"/>
              </a:spcAft>
            </a:pPr>
            <a:r>
              <a:rPr sz="1300" i="0" b="0">
                <a:solidFill>
                  <a:srgbClr val="1D1A14"/>
                </a:solidFill>
                <a:latin typeface="Calibri"/>
              </a:rPr>
              <a:t>« Je vous recommande une </a:t>
            </a:r>
            <a:r>
              <a:rPr sz="1300" i="0" b="1">
                <a:solidFill>
                  <a:srgbClr val="7A5A08"/>
                </a:solidFill>
                <a:latin typeface="Calibri"/>
              </a:rPr>
              <a:t>application web sur mesure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, accessible sans installation depuis n'importe quel navigateur, construite en trois temps :</a:t>
            </a:r>
          </a:p>
          <a:p>
            <a:pPr>
              <a:spcAft>
                <a:spcPts val="900"/>
              </a:spcAft>
            </a:pPr>
            <a:r>
              <a:rPr sz="1300" i="0" b="1">
                <a:solidFill>
                  <a:srgbClr val="7A5A08"/>
                </a:solidFill>
                <a:latin typeface="Calibri"/>
              </a:rPr>
              <a:t>① D'abord l'essentiel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— retrouver en un seul endroit, dans votre langue, ce que vous cherchez aujourd'hui sur quatre sites : joueurs, guildes, batailles, carte.</a:t>
            </a:r>
          </a:p>
          <a:p>
            <a:pPr>
              <a:spcAft>
                <a:spcPts val="900"/>
              </a:spcAft>
            </a:pPr>
            <a:r>
              <a:rPr sz="1300" i="0" b="1">
                <a:solidFill>
                  <a:srgbClr val="7A5A08"/>
                </a:solidFill>
                <a:latin typeface="Calibri"/>
              </a:rPr>
              <a:t>② Ensuite ce qui n'existe nulle part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— partager un itinéraire ou une composition d'équipe par un simple lien, même à un joueur sans compte.</a:t>
            </a:r>
          </a:p>
          <a:p>
            <a:pPr>
              <a:spcAft>
                <a:spcPts val="600"/>
              </a:spcAft>
            </a:pPr>
            <a:r>
              <a:rPr sz="1300" i="0" b="1">
                <a:solidFill>
                  <a:srgbClr val="7A5A08"/>
                </a:solidFill>
                <a:latin typeface="Calibri"/>
              </a:rPr>
              <a:t>③ Enfin l'autonomie</a:t>
            </a:r>
            <a:r>
              <a:rPr sz="1300" i="0" b="0">
                <a:solidFill>
                  <a:srgbClr val="1D1A14"/>
                </a:solidFill>
                <a:latin typeface="Calibri"/>
              </a:rPr>
              <a:t> — un espace d'administration pour gérer vous-mêmes les membres et les langues, sans dépendre d'un développeur.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330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i="0" b="1">
                <a:solidFill>
                  <a:srgbClr val="B8860B"/>
                </a:solidFill>
                <a:latin typeface="Calibri"/>
              </a:rPr>
              <a:t>Objections anticipées et réponses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828800"/>
          <a:ext cx="533095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3319272"/>
              </a:tblGrid>
              <a:tr h="90525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i="0" b="1">
                          <a:solidFill>
                            <a:srgbClr val="1D1A14"/>
                          </a:solidFill>
                          <a:latin typeface="Calibri"/>
                        </a:rPr>
                        <a:t>Objection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i="0" b="1">
                          <a:solidFill>
                            <a:srgbClr val="1D1A14"/>
                          </a:solidFill>
                          <a:latin typeface="Calibri"/>
                        </a:rPr>
                        <a:t>Réponse</a:t>
                      </a:r>
                    </a:p>
                  </a:txBody>
                  <a:tcPr marL="73152" marR="73152" marT="45720" marB="45720" anchor="ctr">
                    <a:solidFill>
                      <a:srgbClr val="F1E9D2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i="0" b="0">
                          <a:solidFill>
                            <a:srgbClr val="1D1A14"/>
                          </a:solidFill>
                          <a:latin typeface="Calibri"/>
                        </a:rPr>
                        <a:t>« Et si le site du jeu coupe ses données ? »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i="0" b="0">
                          <a:solidFill>
                            <a:srgbClr val="1D1A14"/>
                          </a:solidFill>
                          <a:latin typeface="Calibri"/>
                        </a:rPr>
                        <a:t>Les données sont mises en réserve chez nous : l'outil affiche les dernières informations connues et vous prévient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i="0" b="0">
                          <a:solidFill>
                            <a:srgbClr val="1D1A14"/>
                          </a:solidFill>
                          <a:latin typeface="Calibri"/>
                        </a:rPr>
                        <a:t>« Combien ça coûte à faire vivre ? »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i="0" b="0">
                          <a:solidFill>
                            <a:srgbClr val="1D1A14"/>
                          </a:solidFill>
                          <a:latin typeface="Calibri"/>
                        </a:rPr>
                        <a:t>~135 €/an d'hébergement — le reste est automatisé (mises à jour surveillées, alertes en cas de panne)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i="0" b="0">
                          <a:solidFill>
                            <a:srgbClr val="1D1A14"/>
                          </a:solidFill>
                          <a:latin typeface="Calibri"/>
                        </a:rPr>
                        <a:t>« Nos comptes sont-ils en sécurité ? »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i="0" b="0">
                          <a:solidFill>
                            <a:srgbClr val="1D1A14"/>
                          </a:solidFill>
                          <a:latin typeface="Calibri"/>
                        </a:rPr>
                        <a:t>Revue de sécurité OWASP à chaque livraison, mots de passe chiffrés, accès administrateur cloisonné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i="0" b="0">
                          <a:solidFill>
                            <a:srgbClr val="1D1A14"/>
                          </a:solidFill>
                          <a:latin typeface="Calibri"/>
                        </a:rPr>
                        <a:t>« Pourquoi pas une appli mobile ? »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i="0" b="0">
                          <a:solidFill>
                            <a:srgbClr val="1D1A14"/>
                          </a:solidFill>
                          <a:latin typeface="Calibri"/>
                        </a:rPr>
                        <a:t>Le site s'adapte déjà au mobile ; une application native reste possible car les données passent par une interface réutilisable</a:t>
                      </a:r>
                    </a:p>
                  </a:txBody>
                  <a:tcPr marL="73152" marR="73152" marT="45720" marB="45720" anchor="ctr">
                    <a:solidFill>
                      <a:srgbClr val="FBF8F1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996695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Un cadrage qui s'est vérifié dans les faits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Le périmètre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Must/Should cadré a été intégralement livré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(26 scénarios de recette validés) — le cadrage était réaliste</a:t>
            </a:r>
          </a:p>
          <a:p>
            <a:pPr>
              <a:spcAft>
                <a:spcPts val="12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Les risques identifiés au cadrage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se sont produits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(prix manquants sur l'API, vulnérabilités de dépendances) et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les mesures prévues les ont absorbés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(cache + UX, veille + migration LTS)</a:t>
            </a:r>
          </a:p>
          <a:p>
            <a:pPr>
              <a:spcAft>
                <a:spcPts val="12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Le budget est tenu : ~80 j-h consommés pour 85 estimés (+ réserve), 135 €/an d'infrastructure</a:t>
            </a:r>
          </a:p>
          <a:p>
            <a:pPr>
              <a:spcAft>
                <a:spcPts val="12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L'architecture proposée a prouvé son extensibilité : multi-serveur et multi-langue ajoutés sans refonte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17720"/>
            <a:ext cx="2601468" cy="91440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100"/>
              </a:spcAft>
            </a:pPr>
            <a:r>
              <a:rPr sz="2200" i="0" b="1">
                <a:solidFill>
                  <a:srgbClr val="7A5A08"/>
                </a:solidFill>
                <a:latin typeface="Calibri"/>
              </a:rPr>
              <a:t>100 %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du périmètre Must livré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8708" y="4617720"/>
            <a:ext cx="2601468" cy="91440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100"/>
              </a:spcAft>
            </a:pPr>
            <a:r>
              <a:rPr sz="2200" i="0" b="1">
                <a:solidFill>
                  <a:srgbClr val="7A5A08"/>
                </a:solidFill>
                <a:latin typeface="Calibri"/>
              </a:rPr>
              <a:t>6/6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risques anticipés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4617720"/>
            <a:ext cx="2601468" cy="91440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100"/>
              </a:spcAft>
            </a:pPr>
            <a:r>
              <a:rPr sz="2200" i="0" b="1">
                <a:solidFill>
                  <a:srgbClr val="7A5A08"/>
                </a:solidFill>
                <a:latin typeface="Calibri"/>
              </a:rPr>
              <a:t>~80 j-h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réalisé / 85 estimés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38844" y="4617720"/>
            <a:ext cx="2601468" cy="914400"/>
          </a:xfrm>
          <a:prstGeom prst="roundRect">
            <a:avLst/>
          </a:prstGeom>
          <a:solidFill>
            <a:srgbClr val="F1E9D2"/>
          </a:solidFill>
          <a:ln w="15875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>
              <a:spcAft>
                <a:spcPts val="100"/>
              </a:spcAft>
            </a:pPr>
            <a:r>
              <a:rPr sz="2200" i="0" b="1">
                <a:solidFill>
                  <a:srgbClr val="7A5A08"/>
                </a:solidFill>
                <a:latin typeface="Calibri"/>
              </a:rPr>
              <a:t>135 €/an</a:t>
            </a:r>
          </a:p>
          <a:p>
            <a:pPr algn="ctr">
              <a:spcAft>
                <a:spcPts val="0"/>
              </a:spcAft>
            </a:pPr>
            <a:r>
              <a:rPr sz="1050" i="0" b="0">
                <a:solidFill>
                  <a:srgbClr val="6B6357"/>
                </a:solidFill>
                <a:latin typeface="Calibri"/>
              </a:rPr>
              <a:t>coût de fonctionnement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715000"/>
            <a:ext cx="11091672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spcAft>
                <a:spcPts val="600"/>
              </a:spcAft>
            </a:pPr>
            <a:r>
              <a:rPr sz="1250" i="0" b="0">
                <a:solidFill>
                  <a:srgbClr val="1D1A14"/>
                </a:solidFill>
                <a:latin typeface="Calibri"/>
              </a:rPr>
              <a:t>Le cadrage n'était pas un exercice théorique : chacune de ses décisions se retrouve dans l'application en production présentée aux blocs 2, 3 et 4. Merci — place aux questions (10').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37744"/>
            <a:ext cx="3292754" cy="292608"/>
          </a:xfrm>
          <a:prstGeom prst="roundRect">
            <a:avLst/>
          </a:prstGeom>
          <a:solidFill>
            <a:srgbClr val="F1E9D2"/>
          </a:solidFill>
          <a:ln w="12700">
            <a:solidFill>
              <a:srgbClr val="6B63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spcAft>
                <a:spcPts val="0"/>
              </a:spcAft>
            </a:pPr>
            <a:r>
              <a:rPr sz="1100" i="0" b="1">
                <a:solidFill>
                  <a:srgbClr val="7A5A08"/>
                </a:solidFill>
                <a:latin typeface="Calibri"/>
              </a:rPr>
              <a:t>ANNEXE — NOTES CANDIDAT, NON PROJETÉE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576072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900" i="0" b="1">
                <a:solidFill>
                  <a:srgbClr val="1D1A14"/>
                </a:solidFill>
                <a:latin typeface="Calibri"/>
              </a:rPr>
              <a:t>Préparation de l'oral Bloc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61872"/>
            <a:ext cx="11091672" cy="3175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9167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Timing cible (20')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: contexte 2' · parties prenantes + demande 3' · SWOT + audit + infra 4' · risques + indicateurs 3' · veille 2' · comparatif 2' · fonctionnalités + charge + budget 3' · architecture + préconisations + conclusion 3'</a:t>
            </a:r>
          </a:p>
          <a:p>
            <a:pPr>
              <a:spcAft>
                <a:spcPts val="14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5 compétences éliminatoires à verrouiller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: parties prenantes (slide 3), faisabilité (slide 7), étude comparative (slide 11), charge (slide 13), préconisations (slide 15) — ne jamais les sacrifier au chronomètre</a:t>
            </a:r>
          </a:p>
          <a:p>
            <a:pPr>
              <a:spcAft>
                <a:spcPts val="14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Posture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: parler « au commanditaire » (vulgarisé) sur les slides 2, 15, 16 ; technique assumée sur 11 et 14</a:t>
            </a:r>
          </a:p>
          <a:p>
            <a:pPr>
              <a:spcAft>
                <a:spcPts val="1400"/>
              </a:spcAft>
            </a:pPr>
            <a:r>
              <a:rPr sz="1500" i="0" b="0">
                <a:solidFill>
                  <a:srgbClr val="1D1A14"/>
                </a:solidFill>
                <a:latin typeface="Calibri"/>
              </a:rPr>
              <a:t>•  </a:t>
            </a:r>
            <a:r>
              <a:rPr sz="1500" i="0" b="1">
                <a:solidFill>
                  <a:srgbClr val="7A5A08"/>
                </a:solidFill>
                <a:latin typeface="Calibri"/>
              </a:rPr>
              <a:t>Dépôt DigiformaCertif</a:t>
            </a:r>
            <a:r>
              <a:rPr sz="1500" i="0" b="0">
                <a:solidFill>
                  <a:srgbClr val="1D1A14"/>
                </a:solidFill>
                <a:latin typeface="Calibri"/>
              </a:rPr>
              <a:t> : ce support déposé avant l'échéance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28816"/>
            <a:ext cx="11091672" cy="12700"/>
          </a:xfrm>
          <a:prstGeom prst="rect">
            <a:avLst/>
          </a:prstGeom>
          <a:solidFill>
            <a:srgbClr val="E3D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Albion Helper — RNCP39583 · Bloc 1 : Cadrer le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65392"/>
            <a:ext cx="103327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50" i="0" b="0">
                <a:solidFill>
                  <a:srgbClr val="6B6357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