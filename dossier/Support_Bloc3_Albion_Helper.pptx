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1600200"/>
            <a:ext cx="201168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78308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5600" i="0" b="1">
                <a:solidFill>
                  <a:srgbClr val="E8C766"/>
                </a:solidFill>
                <a:latin typeface="Calibri"/>
              </a:rPr>
              <a:t>Albion Helper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97180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200" i="0" b="0">
                <a:solidFill>
                  <a:srgbClr val="F5EDD8"/>
                </a:solidFill>
                <a:latin typeface="Calibri"/>
              </a:rPr>
              <a:t>Bloc 3 — Coordonner et piloter un projet de développement d'applications logicielles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77639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i="0" b="0">
                <a:solidFill>
                  <a:srgbClr val="C9C0A8"/>
                </a:solidFill>
                <a:latin typeface="Calibri"/>
              </a:rPr>
              <a:t>Pierre Saugues — M2 Expert en développement full-stack, YNOV</a:t>
            </a:r>
          </a:p>
          <a:p>
            <a:pPr>
              <a:spcAft>
                <a:spcPts val="700"/>
              </a:spcAft>
            </a:pPr>
            <a:r>
              <a:rPr sz="1450" i="0" b="0">
                <a:solidFill>
                  <a:srgbClr val="C9C0A8"/>
                </a:solidFill>
                <a:latin typeface="Calibri"/>
              </a:rPr>
              <a:t>Titre RNCP39583 « Expert en développement logiciel » — Épreuve orale : 30' + 15' d'échanges — Septembre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5394960"/>
            <a:ext cx="2331720" cy="914400"/>
          </a:xfrm>
          <a:prstGeom prst="roundRect">
            <a:avLst/>
          </a:prstGeom>
          <a:solidFill>
            <a:srgbClr val="3A2F17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2000" i="0" b="1">
                <a:solidFill>
                  <a:srgbClr val="E8C766"/>
                </a:solidFill>
                <a:latin typeface="Calibri"/>
              </a:rPr>
              <a:t>18 mois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C9C0A8"/>
                </a:solidFill>
                <a:latin typeface="Calibri"/>
              </a:rPr>
              <a:t>de projet piloté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79" y="5394960"/>
            <a:ext cx="2331720" cy="914400"/>
          </a:xfrm>
          <a:prstGeom prst="roundRect">
            <a:avLst/>
          </a:prstGeom>
          <a:solidFill>
            <a:srgbClr val="3A2F17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2000" i="0" b="1">
                <a:solidFill>
                  <a:srgbClr val="E8C766"/>
                </a:solidFill>
                <a:latin typeface="Calibri"/>
              </a:rPr>
              <a:t>26 / 26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C9C0A8"/>
                </a:solidFill>
                <a:latin typeface="Calibri"/>
              </a:rPr>
              <a:t>scénarios de recette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9" y="5394960"/>
            <a:ext cx="2331720" cy="914400"/>
          </a:xfrm>
          <a:prstGeom prst="roundRect">
            <a:avLst/>
          </a:prstGeom>
          <a:solidFill>
            <a:srgbClr val="3A2F17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2000" i="0" b="1">
                <a:solidFill>
                  <a:srgbClr val="E8C766"/>
                </a:solidFill>
                <a:latin typeface="Calibri"/>
              </a:rPr>
              <a:t>100 %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C9C0A8"/>
                </a:solidFill>
                <a:latin typeface="Calibri"/>
              </a:rPr>
              <a:t>tests verts en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59" y="5394960"/>
            <a:ext cx="2331720" cy="914400"/>
          </a:xfrm>
          <a:prstGeom prst="roundRect">
            <a:avLst/>
          </a:prstGeom>
          <a:solidFill>
            <a:srgbClr val="3A2F17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2000" i="0" b="1">
                <a:solidFill>
                  <a:srgbClr val="E8C766"/>
                </a:solidFill>
                <a:latin typeface="Calibri"/>
              </a:rPr>
              <a:t>v3.0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C9C0A8"/>
                </a:solidFill>
                <a:latin typeface="Calibri"/>
              </a:rPr>
              <a:t>en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826617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Le projet en une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i="0" b="1">
                <a:solidFill>
                  <a:srgbClr val="7A5A08"/>
                </a:solidFill>
                <a:latin typeface="Calibri"/>
              </a:rPr>
              <a:t>Albion Helper</a:t>
            </a:r>
            <a:r>
              <a:rPr sz="1400" i="0" b="0">
                <a:solidFill>
                  <a:srgbClr val="1D1A14"/>
                </a:solidFill>
                <a:latin typeface="Calibri"/>
              </a:rPr>
              <a:t> est une application web compagnon du jeu Albion Online : elle centralise pour les joueurs et les guildes les informations dispersées de l'univers du jeu.</a:t>
            </a:r>
          </a:p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Fonctionnalités livrées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Recherche de joueurs, guildes et batailles ; statistiques PvP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Carte interactive des zones et itinéraires partagés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Compositions d'équipe ; calculateur de craft avec prix du marché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Back-office d'administration, multi-langue, multi-serveur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481328"/>
          <a:ext cx="5239512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953512"/>
              </a:tblGrid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Durée du projet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Fév. 2025 → Sept. 2026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API REST Symfony 7.4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13 contrôleurs, 14 entités Doctrine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Front React 19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15 pages, i18n 3+ langues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Versions livrées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v1.0 → v3.0 (CHANGELOG tenu)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3703320"/>
            <a:ext cx="1594104" cy="96012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100"/>
              </a:spcAft>
            </a:pPr>
            <a:r>
              <a:rPr sz="2200" i="0" b="1">
                <a:solidFill>
                  <a:srgbClr val="7A5A08"/>
                </a:solidFill>
                <a:latin typeface="Calibri"/>
              </a:rPr>
              <a:t>26/26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6B6357"/>
                </a:solidFill>
                <a:latin typeface="Calibri"/>
              </a:rPr>
              <a:t>recette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3504" y="3703320"/>
            <a:ext cx="1594104" cy="96012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100"/>
              </a:spcAft>
            </a:pPr>
            <a:r>
              <a:rPr sz="2200" i="0" b="1">
                <a:solidFill>
                  <a:srgbClr val="7A5A08"/>
                </a:solidFill>
                <a:latin typeface="Calibri"/>
              </a:rPr>
              <a:t>100 %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6B6357"/>
                </a:solidFill>
                <a:latin typeface="Calibri"/>
              </a:rPr>
              <a:t>tests CI verts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46208" y="3703320"/>
            <a:ext cx="1594104" cy="96012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100"/>
              </a:spcAft>
            </a:pPr>
            <a:r>
              <a:rPr sz="2200" i="0" b="1">
                <a:solidFill>
                  <a:srgbClr val="7A5A08"/>
                </a:solidFill>
                <a:latin typeface="Calibri"/>
              </a:rPr>
              <a:t>13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6B6357"/>
                </a:solidFill>
                <a:latin typeface="Calibri"/>
              </a:rPr>
              <a:t>bugs traités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92040"/>
            <a:ext cx="1109167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Particularité assumée du projet :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une équipe d'une personne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. Chaque outil de pilotage présenté a été choisi puis adapté à ce contexte — et je montrerai comment il se transpose à une équipe.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2187244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1 · MÉTHODOLOGIE CHOISIE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Kanban, adapté au développeur solo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Pourquoi Kanban plutôt que Scrum ou cycle en V ?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350" i="0" b="1">
                <a:solidFill>
                  <a:srgbClr val="7A5A08"/>
                </a:solidFill>
                <a:latin typeface="Calibri"/>
              </a:rPr>
              <a:t>Flux continu</a:t>
            </a:r>
            <a:r>
              <a:rPr sz="1350" i="0" b="0">
                <a:solidFill>
                  <a:srgbClr val="1D1A14"/>
                </a:solidFill>
                <a:latin typeface="Calibri"/>
              </a:rPr>
              <a:t> : disponibilité variable (formation + alternance) → des sprints à capacité fixe auraient été artificiels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350" i="0" b="1">
                <a:solidFill>
                  <a:srgbClr val="7A5A08"/>
                </a:solidFill>
                <a:latin typeface="Calibri"/>
              </a:rPr>
              <a:t>Cérémonies inutiles en solo</a:t>
            </a:r>
            <a:r>
              <a:rPr sz="1350" i="0" b="0">
                <a:solidFill>
                  <a:srgbClr val="1D1A14"/>
                </a:solidFill>
                <a:latin typeface="Calibri"/>
              </a:rPr>
              <a:t> (daily, rétro d'équipe) : Kanban n'en impose pas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350" i="0" b="1">
                <a:solidFill>
                  <a:srgbClr val="7A5A08"/>
                </a:solidFill>
                <a:latin typeface="Calibri"/>
              </a:rPr>
              <a:t>Cycle en V écarté</a:t>
            </a:r>
            <a:r>
              <a:rPr sz="1350" i="0" b="0">
                <a:solidFill>
                  <a:srgbClr val="1D1A14"/>
                </a:solidFill>
                <a:latin typeface="Calibri"/>
              </a:rPr>
              <a:t> : le périmètre dépend d'une API tierce (Albion) qui évolue — il fallait pouvoir re-prioriser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81328"/>
            <a:ext cx="523951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Bénéfices attendus — et constatés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350" i="0" b="1">
                <a:solidFill>
                  <a:srgbClr val="7A5A08"/>
                </a:solidFill>
                <a:latin typeface="Calibri"/>
              </a:rPr>
              <a:t>WIP limité à 2</a:t>
            </a:r>
            <a:r>
              <a:rPr sz="1350" i="0" b="0">
                <a:solidFill>
                  <a:srgbClr val="1D1A14"/>
                </a:solidFill>
                <a:latin typeface="Calibri"/>
              </a:rPr>
              <a:t> : aucune fonctionnalité commencée n'a été abandonnée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350" i="0" b="1">
                <a:solidFill>
                  <a:srgbClr val="7A5A08"/>
                </a:solidFill>
                <a:latin typeface="Calibri"/>
              </a:rPr>
              <a:t>Priorisation permanente</a:t>
            </a:r>
            <a:r>
              <a:rPr sz="1350" i="0" b="0">
                <a:solidFill>
                  <a:srgbClr val="1D1A14"/>
                </a:solidFill>
                <a:latin typeface="Calibri"/>
              </a:rPr>
              <a:t> : re-priorisation sécurité de juin 2026 absorbée sans casser le planning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350" i="0" b="1">
                <a:solidFill>
                  <a:srgbClr val="7A5A08"/>
                </a:solidFill>
                <a:latin typeface="Calibri"/>
              </a:rPr>
              <a:t>Visualisation du flux</a:t>
            </a:r>
            <a:r>
              <a:rPr sz="1350" i="0" b="0">
                <a:solidFill>
                  <a:srgbClr val="1D1A14"/>
                </a:solidFill>
                <a:latin typeface="Calibri"/>
              </a:rPr>
              <a:t> : goulots visibles (recette groupée en fin de bloc 2 → recette au fil de l'eau ensuite)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Le tableau Kanban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2072030" cy="141732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/>
          <a:lstStyle/>
          <a:p>
            <a:pPr algn="ctr">
              <a:spcAft>
                <a:spcPts val="400"/>
              </a:spcAft>
            </a:pPr>
            <a:r>
              <a:rPr sz="1250" i="0" b="1">
                <a:solidFill>
                  <a:srgbClr val="1D1A14"/>
                </a:solidFill>
                <a:latin typeface="Calibri"/>
              </a:rPr>
              <a:t>Backlog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6B6357"/>
                </a:solidFill>
                <a:latin typeface="Calibri"/>
              </a:rPr>
              <a:t>idées, retours joueurs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3550" y="4892040"/>
            <a:ext cx="2072030" cy="141732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/>
          <a:lstStyle/>
          <a:p>
            <a:pPr algn="ctr">
              <a:spcAft>
                <a:spcPts val="400"/>
              </a:spcAft>
            </a:pPr>
            <a:r>
              <a:rPr sz="1250" i="0" b="1">
                <a:solidFill>
                  <a:srgbClr val="1D1A14"/>
                </a:solidFill>
                <a:latin typeface="Calibri"/>
              </a:rPr>
              <a:t>À faire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6B6357"/>
                </a:solidFill>
                <a:latin typeface="Calibri"/>
              </a:rPr>
              <a:t>lot priorisé du jalon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58460" y="4892040"/>
            <a:ext cx="2072030" cy="1417320"/>
          </a:xfrm>
          <a:prstGeom prst="roundRect">
            <a:avLst/>
          </a:prstGeom>
          <a:solidFill>
            <a:srgbClr val="E8C766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/>
          <a:lstStyle/>
          <a:p>
            <a:pPr algn="ctr">
              <a:spcAft>
                <a:spcPts val="400"/>
              </a:spcAft>
            </a:pPr>
            <a:r>
              <a:rPr sz="1250" i="0" b="1">
                <a:solidFill>
                  <a:srgbClr val="1D1A14"/>
                </a:solidFill>
                <a:latin typeface="Calibri"/>
              </a:rPr>
              <a:t>En cours (WIP 2)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7A5A08"/>
                </a:solidFill>
                <a:latin typeface="Calibri"/>
              </a:rPr>
              <a:t>2 cartes max — focus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3371" y="4892040"/>
            <a:ext cx="2072030" cy="141732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/>
          <a:lstStyle/>
          <a:p>
            <a:pPr algn="ctr">
              <a:spcAft>
                <a:spcPts val="400"/>
              </a:spcAft>
            </a:pPr>
            <a:r>
              <a:rPr sz="1250" i="0" b="1">
                <a:solidFill>
                  <a:srgbClr val="1D1A14"/>
                </a:solidFill>
                <a:latin typeface="Calibri"/>
              </a:rPr>
              <a:t>Recette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6B6357"/>
                </a:solidFill>
                <a:latin typeface="Calibri"/>
              </a:rPr>
              <a:t>scénarios re-joués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68281" y="4892040"/>
            <a:ext cx="2072030" cy="141732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/>
          <a:lstStyle/>
          <a:p>
            <a:pPr algn="ctr">
              <a:spcAft>
                <a:spcPts val="400"/>
              </a:spcAft>
            </a:pPr>
            <a:r>
              <a:rPr sz="1250" i="0" b="1">
                <a:solidFill>
                  <a:srgbClr val="1D1A14"/>
                </a:solidFill>
                <a:latin typeface="Calibri"/>
              </a:rPr>
              <a:t>Fait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6B6357"/>
                </a:solidFill>
                <a:latin typeface="Calibri"/>
              </a:rPr>
              <a:t>commit + CHANGELOG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1932127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2 · PLANNING DÉTAILLÉ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Rétroplanning en 6 phases, calé sur les jalons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i="0" b="0">
                <a:solidFill>
                  <a:srgbClr val="6B6357"/>
                </a:solidFill>
                <a:latin typeface="Calibri"/>
              </a:rPr>
              <a:t>Phase 1 — Cadrage &amp; socle technique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481328"/>
            <a:ext cx="7498079" cy="402336"/>
          </a:xfrm>
          <a:prstGeom prst="roundRect">
            <a:avLst/>
          </a:prstGeom>
          <a:solidFill>
            <a:srgbClr val="EF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0" y="1481328"/>
            <a:ext cx="914400" cy="402336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0" bIns="0"/>
          <a:lstStyle/>
          <a:p>
            <a:pPr algn="ctr">
              <a:spcAft>
                <a:spcPts val="0"/>
              </a:spcAft>
            </a:pPr>
            <a:r>
              <a:rPr sz="950" i="0" b="1">
                <a:solidFill>
                  <a:srgbClr val="FFFFFF"/>
                </a:solidFill>
                <a:latin typeface="Calibri"/>
              </a:rPr>
              <a:t>fév.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i="0" b="0">
                <a:solidFill>
                  <a:srgbClr val="6B6357"/>
                </a:solidFill>
                <a:latin typeface="Calibri"/>
              </a:rPr>
              <a:t>Phase 2 — Fonctionnalités cœur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029968"/>
            <a:ext cx="7498079" cy="402336"/>
          </a:xfrm>
          <a:prstGeom prst="roundRect">
            <a:avLst/>
          </a:prstGeom>
          <a:solidFill>
            <a:srgbClr val="EF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64684" y="2029968"/>
            <a:ext cx="2249423" cy="402336"/>
          </a:xfrm>
          <a:prstGeom prst="roundRect">
            <a:avLst/>
          </a:prstGeom>
          <a:solidFill>
            <a:srgbClr val="8A6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0" bIns="0"/>
          <a:lstStyle/>
          <a:p>
            <a:pPr algn="ctr">
              <a:spcAft>
                <a:spcPts val="0"/>
              </a:spcAft>
            </a:pPr>
            <a:r>
              <a:rPr sz="950" i="0" b="1">
                <a:solidFill>
                  <a:srgbClr val="FFFFFF"/>
                </a:solidFill>
                <a:latin typeface="Calibri"/>
              </a:rPr>
              <a:t>2025 : auth, joueurs, guildes, carte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0604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i="0" b="0">
                <a:solidFill>
                  <a:srgbClr val="6B6357"/>
                </a:solidFill>
                <a:latin typeface="Calibri"/>
              </a:rPr>
              <a:t>Phase 3 — Fonctionnalités avancées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578608"/>
            <a:ext cx="7498079" cy="402336"/>
          </a:xfrm>
          <a:prstGeom prst="roundRect">
            <a:avLst/>
          </a:prstGeom>
          <a:solidFill>
            <a:srgbClr val="EF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9166" y="2578608"/>
            <a:ext cx="1799539" cy="402336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0" bIns="0"/>
          <a:lstStyle/>
          <a:p>
            <a:pPr algn="ctr">
              <a:spcAft>
                <a:spcPts val="0"/>
              </a:spcAft>
            </a:pPr>
            <a:r>
              <a:rPr sz="950" i="0" b="1">
                <a:solidFill>
                  <a:srgbClr val="FFFFFF"/>
                </a:solidFill>
                <a:latin typeface="Calibri"/>
              </a:rPr>
              <a:t>routes, compos, craft,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54679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i="0" b="0">
                <a:solidFill>
                  <a:srgbClr val="6B6357"/>
                </a:solidFill>
                <a:latin typeface="Calibri"/>
              </a:rPr>
              <a:t>Phase 4 — Qualité, sécurité, recette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3127248"/>
            <a:ext cx="7498079" cy="402336"/>
          </a:xfrm>
          <a:prstGeom prst="roundRect">
            <a:avLst/>
          </a:prstGeom>
          <a:solidFill>
            <a:srgbClr val="EF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13647" y="3127248"/>
            <a:ext cx="914400" cy="402336"/>
          </a:xfrm>
          <a:prstGeom prst="roundRect">
            <a:avLst/>
          </a:prstGeom>
          <a:solidFill>
            <a:srgbClr val="8A6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0" bIns="0"/>
          <a:lstStyle/>
          <a:p>
            <a:pPr algn="ctr">
              <a:spcAft>
                <a:spcPts val="0"/>
              </a:spcAft>
            </a:pPr>
            <a:r>
              <a:rPr sz="950" i="0" b="1">
                <a:solidFill>
                  <a:srgbClr val="FFFFFF"/>
                </a:solidFill>
                <a:latin typeface="Calibri"/>
              </a:rPr>
              <a:t>juin 2026 · Bloc 2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7033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i="0" b="0">
                <a:solidFill>
                  <a:srgbClr val="6B6357"/>
                </a:solidFill>
                <a:latin typeface="Calibri"/>
              </a:rPr>
              <a:t>Phase 5 — i18n &amp; multi-serveur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3675887"/>
            <a:ext cx="7498079" cy="402336"/>
          </a:xfrm>
          <a:prstGeom prst="roundRect">
            <a:avLst/>
          </a:prstGeom>
          <a:solidFill>
            <a:srgbClr val="EF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13417" y="3675887"/>
            <a:ext cx="914400" cy="402336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0" bIns="0"/>
          <a:lstStyle/>
          <a:p>
            <a:pPr algn="ctr">
              <a:spcAft>
                <a:spcPts val="0"/>
              </a:spcAft>
            </a:pPr>
            <a:r>
              <a:rPr sz="950" i="0" b="1">
                <a:solidFill>
                  <a:srgbClr val="FFFFFF"/>
                </a:solidFill>
                <a:latin typeface="Calibri"/>
              </a:rPr>
              <a:t>juil.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2519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i="0" b="0">
                <a:solidFill>
                  <a:srgbClr val="6B6357"/>
                </a:solidFill>
                <a:latin typeface="Calibri"/>
              </a:rPr>
              <a:t>Phase 6 — Supervision &amp; maintenance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4224528"/>
            <a:ext cx="7498079" cy="402336"/>
          </a:xfrm>
          <a:prstGeom prst="roundRect">
            <a:avLst/>
          </a:prstGeom>
          <a:solidFill>
            <a:srgbClr val="EF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113263" y="4224528"/>
            <a:ext cx="1424635" cy="402336"/>
          </a:xfrm>
          <a:prstGeom prst="roundRect">
            <a:avLst/>
          </a:prstGeom>
          <a:solidFill>
            <a:srgbClr val="8A6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tIns="0" bIns="0"/>
          <a:lstStyle/>
          <a:p>
            <a:pPr algn="ctr">
              <a:spcAft>
                <a:spcPts val="0"/>
              </a:spcAft>
            </a:pPr>
            <a:r>
              <a:rPr sz="950" i="0" b="1">
                <a:solidFill>
                  <a:srgbClr val="FFFFFF"/>
                </a:solidFill>
                <a:latin typeface="Calibri"/>
              </a:rPr>
              <a:t>juil.–sept. · Blocs 4 &amp;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83480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Construction du planning</a:t>
            </a:r>
          </a:p>
          <a:p>
            <a:pPr>
              <a:spcAft>
                <a:spcPts val="5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Rétroplanning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: on part des jalons non négociables (dépôts DigiformaCertif : 19/06, 24/07, oral sept.) et on remonte</a:t>
            </a:r>
          </a:p>
          <a:p>
            <a:pPr>
              <a:spcAft>
                <a:spcPts val="5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•  Chaque phase découpée en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lots livrables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(cartes Kanban), estimés en jours-homme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83480"/>
            <a:ext cx="52395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Outil : GitHub Projects (+ jalons Git)</a:t>
            </a:r>
          </a:p>
          <a:p>
            <a:pPr>
              <a:spcAft>
                <a:spcPts val="5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•  Kanban natif,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lié aux commits et aux issues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— la carte se ferme avec le code qui la réalise</a:t>
            </a:r>
          </a:p>
          <a:p>
            <a:pPr>
              <a:spcAft>
                <a:spcPts val="5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•  Gratuit, hébergé avec le code : un seul outil pour le suivi et les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2357323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3 · RESSOURCES NÉCESSAIRES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Ressources humaines, matérielles et financières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Humaines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1 développeur full-stack (moi), portant </a:t>
            </a:r>
            <a:r>
              <a:rPr sz="1350" i="0" b="1">
                <a:solidFill>
                  <a:srgbClr val="7A5A08"/>
                </a:solidFill>
                <a:latin typeface="Calibri"/>
              </a:rPr>
              <a:t>6 casquettes</a:t>
            </a:r>
            <a:r>
              <a:rPr sz="1350" i="0" b="0">
                <a:solidFill>
                  <a:srgbClr val="1D1A14"/>
                </a:solidFill>
                <a:latin typeface="Calibri"/>
              </a:rPr>
              <a:t> : back, front, ops/CI, QA, sécurité, documentation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Parties prenantes mobilisées : joueurs testeurs (recette d'usage), encadrants YNOV (jalons)</a:t>
            </a:r>
          </a:p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Matérielles &amp; logicielles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Poste de développement macOS + Docker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VPS de production (perfweb.net) : Nginx, PHP-FPM, PostgreSQL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GitHub (sources, CI/CD, Dependabot, Projects) — offre gratuite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17320"/>
            <a:ext cx="5239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Financières (budget annuel réel)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874519"/>
          <a:ext cx="5239512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9272"/>
                <a:gridCol w="1920240"/>
              </a:tblGrid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Poste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Coût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VPS de production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~120 € / an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Nom de domaine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~15 € / an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Outillage (GitHub, UptimeRobot, i18n)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0 € (offres gratuites)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Licences logicielles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0 € (open source)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7A5A08"/>
                          </a:solidFill>
                          <a:latin typeface="Calibri"/>
                        </a:rPr>
                        <a:t>Total infrastructure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7A5A08"/>
                          </a:solidFill>
                          <a:latin typeface="Calibri"/>
                        </a:rPr>
                        <a:t>~135 € / an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4617720"/>
            <a:ext cx="5239512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Le coût réel du projet est la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charge de développement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(~80 j-h, valorisée ≈ 32 k€ au TJM junior de 400 €) : c'est elle que le pilotage protège.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2867558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4 · OUTIL DE SUIVI &amp; INDICATEURS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Un tableau de bord adossé à GitHub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Suivi opérationnel — GitHub Projects</a:t>
            </a:r>
          </a:p>
          <a:p>
            <a:pPr>
              <a:spcAft>
                <a:spcPts val="9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Tableau Kanban : chaque fonctionnalité / bug = </a:t>
            </a:r>
            <a:r>
              <a:rPr sz="1350" i="0" b="1">
                <a:solidFill>
                  <a:srgbClr val="7A5A08"/>
                </a:solidFill>
                <a:latin typeface="Calibri"/>
              </a:rPr>
              <a:t>une carte, liée à ses commits</a:t>
            </a:r>
          </a:p>
          <a:p>
            <a:pPr>
              <a:spcAft>
                <a:spcPts val="9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Historique Git en </a:t>
            </a:r>
            <a:r>
              <a:rPr sz="1350" i="0" b="1">
                <a:solidFill>
                  <a:srgbClr val="7A5A08"/>
                </a:solidFill>
                <a:latin typeface="Calibri"/>
              </a:rPr>
              <a:t>Conventional Commits</a:t>
            </a:r>
            <a:r>
              <a:rPr sz="1350" i="0" b="0">
                <a:solidFill>
                  <a:srgbClr val="1D1A14"/>
                </a:solidFill>
                <a:latin typeface="Calibri"/>
              </a:rPr>
              <a:t> (feat:, fix:, test:…) : le journal de bord du projet, mesurable par type d'activité</a:t>
            </a:r>
          </a:p>
          <a:p>
            <a:pPr>
              <a:spcAft>
                <a:spcPts val="9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CI GitHub Actions : chaque poussée de code re-valide l'ensemble des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417320"/>
            <a:ext cx="5833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Indicateurs mesurables et quantifiables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06440" y="1874519"/>
          <a:ext cx="5833872" cy="36575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2651760"/>
                <a:gridCol w="1947672"/>
              </a:tblGrid>
              <a:tr h="52251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Axe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Valeur / cible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Avancement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Scénarios de recette PASS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2E7D32"/>
                          </a:solidFill>
                          <a:latin typeface="Calibri"/>
                        </a:rPr>
                        <a:t>26 / 26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Qualité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Tests CI verts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2E7D32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Délais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Jalons certification tenus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2E7D32"/>
                          </a:solidFill>
                          <a:latin typeface="Calibri"/>
                        </a:rPr>
                        <a:t>Blocs 2 &amp; 4 à date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Coûts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Budget infra consommé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2E7D32"/>
                          </a:solidFill>
                          <a:latin typeface="Calibri"/>
                        </a:rPr>
                        <a:t>135 € / 150 € prévus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Risques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Vulnérabilités critiques ouvertes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2E7D32"/>
                          </a:solidFill>
                          <a:latin typeface="Calibri"/>
                        </a:rPr>
                        <a:t>0 (composer audit)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RH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Charge consommée vs estimée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~80 j-h / 85 estimés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669280"/>
            <a:ext cx="50292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200" i="0" b="1">
                <a:solidFill>
                  <a:srgbClr val="7A5A08"/>
                </a:solidFill>
                <a:latin typeface="Calibri"/>
              </a:rPr>
              <a:t>À l'oral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 : tableau GitHub Projects + dernier run de CI affichés en direct.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2867558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5 · UN CAS D'ARBITRAGE RENCONTRÉ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Où stocker le jeton d'authentification 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1672" cy="960120"/>
          </a:xfrm>
          <a:prstGeom prst="roundRect">
            <a:avLst/>
          </a:prstGeom>
          <a:solidFill>
            <a:srgbClr val="FBF8F1"/>
          </a:solidFill>
          <a:ln w="19050">
            <a:solidFill>
              <a:srgbClr val="E3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250" i="0" b="1">
                <a:solidFill>
                  <a:srgbClr val="7A5A08"/>
                </a:solidFill>
                <a:latin typeface="Calibri"/>
              </a:rPr>
              <a:t>Problématique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(juin 2026, revue de sécurité du bloc 2) : le jeton JWT était conservé dans le localStorage du navigateur — vulnérable en cas de faille XSS. L'alternative « cookie httpOnly » est plus sûre sur ce point, mais imposait de refondre l'authentification API + front à J-10 du dépôt.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Options évaluées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971800"/>
          <a:ext cx="557784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148840"/>
                <a:gridCol w="2057400"/>
              </a:tblGrid>
              <a:tr h="49377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localStorage + mitigations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Cookie httpOnly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Risque XSS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Réduit (TTL 1 h, rotation)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2E7D32"/>
                          </a:solidFill>
                          <a:latin typeface="Calibri"/>
                        </a:rPr>
                        <a:t>Neutralisé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Risque CSRF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2E7D32"/>
                          </a:solidFill>
                          <a:latin typeface="Calibri"/>
                        </a:rPr>
                        <a:t>Nul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À traiter (anti-CSRF)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Coût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2E7D32"/>
                          </a:solidFill>
                          <a:latin typeface="Calibri"/>
                        </a:rPr>
                        <a:t>1 j-h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C62828"/>
                          </a:solidFill>
                          <a:latin typeface="Calibri"/>
                        </a:rPr>
                        <a:t>4–5 j-h + re-recette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Risque planning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2E7D32"/>
                          </a:solidFill>
                          <a:latin typeface="Calibri"/>
                        </a:rPr>
                        <a:t>Aucun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C62828"/>
                          </a:solidFill>
                          <a:latin typeface="Calibri"/>
                        </a:rPr>
                        <a:t>Menace le jalon 19/06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2560320"/>
            <a:ext cx="5239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Logigramme de décision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71800"/>
            <a:ext cx="52395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•  Risque exploitable aujourd'hui ?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→ non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(aucune XSS connue, CSP en place)</a:t>
            </a:r>
          </a:p>
          <a:p>
            <a:pPr>
              <a:spcAft>
                <a:spcPts val="5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•  Mitigation &lt; 20 % du coût de la refonte ?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→ oui</a:t>
            </a:r>
          </a:p>
          <a:p>
            <a:pPr>
              <a:spcAft>
                <a:spcPts val="5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•  Jalon menacé par la refonte ?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→ oui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23560"/>
            <a:ext cx="1109167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200" i="0" b="1">
                <a:solidFill>
                  <a:srgbClr val="7A5A08"/>
                </a:solidFill>
                <a:latin typeface="Calibri"/>
              </a:rPr>
              <a:t>Décision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 : localStorage conservé avec mitigations immédiates (TTL 1 h, refresh tokens à usage unique, CSP) ; migration httpOnly inscrite au backlog (dossier §7.1). </a:t>
            </a:r>
            <a:r>
              <a:rPr sz="1200" i="0" b="1">
                <a:solidFill>
                  <a:srgbClr val="7A5A08"/>
                </a:solidFill>
                <a:latin typeface="Calibri"/>
              </a:rPr>
              <a:t>Jalon tenu, risque résiduel tracé et accepté.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2527401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6 · AFFECTATION DES 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Matrice de responsabilités (RACI adapté au solo)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En solo, « affecter les missions » = affecter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des casquettes à des créneaux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, et déléguer à l'outillage ce qui peut l'être. Les parties prenantes gardent leur rôle RACI.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65960"/>
          <a:ext cx="11091672" cy="30175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71800"/>
                <a:gridCol w="2651760"/>
                <a:gridCol w="1828800"/>
                <a:gridCol w="2176272"/>
                <a:gridCol w="1463040"/>
              </a:tblGrid>
              <a:tr h="50291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Mission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Réalise (R)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Approuve (A)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Consulté (C)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Informé (I)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50291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Développement back / front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Moi (casquettes dev)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Moi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Documentation, communauté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Intégration &amp; déploiement continus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7A5A08"/>
                          </a:solidFill>
                          <a:latin typeface="Calibri"/>
                        </a:rPr>
                        <a:t>Délégué : GitHub Actions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Moi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Moi (notifications)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50291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Veille sécurité des dépendances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7A5A08"/>
                          </a:solidFill>
                          <a:latin typeface="Calibri"/>
                        </a:rPr>
                        <a:t>Délégué : Dependabot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Moi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Avis CVE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Moi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Recette fonctionnelle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Moi (casquette QA, créneau dédié)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Moi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Joueurs testeurs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50291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Validation des jalons certification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Moi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Jury / campus YNOV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Encadrants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257800"/>
            <a:ext cx="11091672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250" i="0" b="1">
                <a:solidFill>
                  <a:srgbClr val="7A5A08"/>
                </a:solidFill>
                <a:latin typeface="Calibri"/>
              </a:rPr>
              <a:t>Règle d'hygiène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: ne jamais porter deux casquettes en même temps — les créneaux « QA » (recette, audit) sont séparés des créneaux « dev », pour garder un regard critique sur mon propre code.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Handicap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: l'organisation 100 % asynchrone et écrite est directement compatible avec des aménagements.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2527401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7 · STYLE(S) MANAGÉRIAL(AUX)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De l'auto-management aux quatre styles classiques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Les styles mobilisés dans le projet</a:t>
            </a:r>
          </a:p>
          <a:p>
            <a:pPr>
              <a:spcAft>
                <a:spcPts val="10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350" i="0" b="1">
                <a:solidFill>
                  <a:srgbClr val="7A5A08"/>
                </a:solidFill>
                <a:latin typeface="Calibri"/>
              </a:rPr>
              <a:t>Directif</a:t>
            </a:r>
            <a:r>
              <a:rPr sz="1350" i="0" b="0">
                <a:solidFill>
                  <a:srgbClr val="1D1A14"/>
                </a:solidFill>
                <a:latin typeface="Calibri"/>
              </a:rPr>
              <a:t> envers moi-même sur les normes non négociables : Conventional Commits, hook pre-commit (lint + contrôles sécurité), tests obligatoires avant fusion</a:t>
            </a:r>
          </a:p>
          <a:p>
            <a:pPr>
              <a:spcAft>
                <a:spcPts val="10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350" i="0" b="1">
                <a:solidFill>
                  <a:srgbClr val="7A5A08"/>
                </a:solidFill>
                <a:latin typeface="Calibri"/>
              </a:rPr>
              <a:t>Délégatif</a:t>
            </a:r>
            <a:r>
              <a:rPr sz="1350" i="0" b="0">
                <a:solidFill>
                  <a:srgbClr val="1D1A14"/>
                </a:solidFill>
                <a:latin typeface="Calibri"/>
              </a:rPr>
              <a:t> envers l'outillage : CI, Dependabot, sondes — objectifs fixés, exécution autonome, contrôle par les alertes</a:t>
            </a:r>
          </a:p>
          <a:p>
            <a:pPr>
              <a:spcAft>
                <a:spcPts val="10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350" i="0" b="1">
                <a:solidFill>
                  <a:srgbClr val="7A5A08"/>
                </a:solidFill>
                <a:latin typeface="Calibri"/>
              </a:rPr>
              <a:t>Participatif</a:t>
            </a:r>
            <a:r>
              <a:rPr sz="1350" i="0" b="0">
                <a:solidFill>
                  <a:srgbClr val="1D1A14"/>
                </a:solidFill>
                <a:latin typeface="Calibri"/>
              </a:rPr>
              <a:t> avec les utilisateurs : les retours des joueurs ont priorisé le multi-serveur et l'i18n</a:t>
            </a:r>
          </a:p>
          <a:p>
            <a:pPr>
              <a:spcAft>
                <a:spcPts val="10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350" i="0" b="1">
                <a:solidFill>
                  <a:srgbClr val="7A5A08"/>
                </a:solidFill>
                <a:latin typeface="Calibri"/>
              </a:rPr>
              <a:t>Persuasif</a:t>
            </a:r>
            <a:r>
              <a:rPr sz="1350" i="0" b="0">
                <a:solidFill>
                  <a:srgbClr val="1D1A14"/>
                </a:solidFill>
                <a:latin typeface="Calibri"/>
              </a:rPr>
              <a:t> : posture prévue vers le commanditaire (justifier les choix — cf. cas d'arbitrage)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81328"/>
            <a:ext cx="5239512" cy="4864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ctr">
              <a:spcAft>
                <a:spcPts val="8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Analyse critique d'une situation</a:t>
            </a:r>
          </a:p>
          <a:p>
            <a:pPr>
              <a:spcAft>
                <a:spcPts val="1000"/>
              </a:spcAft>
            </a:pPr>
            <a:r>
              <a:rPr sz="1250" i="0" b="1">
                <a:solidFill>
                  <a:srgbClr val="7A5A08"/>
                </a:solidFill>
                <a:latin typeface="Calibri"/>
              </a:rPr>
              <a:t>Situation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: en juin 2026, la recette complète a été exécutée en une seule fois en fin de bloc — 3 anomalies découvertes tardivement (BUG-011 à 013), corrigées dans l'urgence le jour même.</a:t>
            </a:r>
          </a:p>
          <a:p>
            <a:pPr>
              <a:spcAft>
                <a:spcPts val="1000"/>
              </a:spcAft>
            </a:pPr>
            <a:r>
              <a:rPr sz="1250" i="0" b="1">
                <a:solidFill>
                  <a:srgbClr val="7A5A08"/>
                </a:solidFill>
                <a:latin typeface="Calibri"/>
              </a:rPr>
              <a:t>Analyse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: défaut de management de mon propre planning — la casquette QA était sous-dotée en créneaux ; en équipe, cela équivaut à négliger un collaborateur.</a:t>
            </a:r>
          </a:p>
          <a:p>
            <a:pPr>
              <a:spcAft>
                <a:spcPts val="600"/>
              </a:spcAft>
            </a:pPr>
            <a:r>
              <a:rPr sz="1250" i="0" b="1">
                <a:solidFill>
                  <a:srgbClr val="7A5A08"/>
                </a:solidFill>
                <a:latin typeface="Calibri"/>
              </a:rPr>
              <a:t>Recommandations appliquées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: recette au fil de l'eau à chaque lot (phases 5–6), créneau QA hebdomadaire sanctuarisé. En équipe : un rôle QA identifié dès le début, associé aux revues.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2442362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8 · OUTILS DE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Outils de communication et leurs objectifs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2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3017520"/>
                <a:gridCol w="5239512"/>
              </a:tblGrid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Outil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Public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Objectif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Git / Conventional Commits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Développeurs (contributeurs, jury)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Tracer </a:t>
                      </a:r>
                      <a:r>
                        <a:rPr sz="1200" i="0" b="1">
                          <a:solidFill>
                            <a:srgbClr val="7A5A08"/>
                          </a:solidFill>
                          <a:latin typeface="Calibri"/>
                        </a:rPr>
                        <a:t>chaque évolution</a:t>
                      </a: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 avec son intention (feat/fix/docs) — journal de bord lisible sans contexte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CHANGELOG.md (versions sémantiques)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Utilisateurs &amp; commanditaire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Communiquer les évolutions </a:t>
                      </a:r>
                      <a:r>
                        <a:rPr sz="1200" i="0" b="1">
                          <a:solidFill>
                            <a:srgbClr val="7A5A08"/>
                          </a:solidFill>
                          <a:latin typeface="Calibri"/>
                        </a:rPr>
                        <a:t>en langage fonctionnel</a:t>
                      </a: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, version par version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GitHub (issues, PR, Projects)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Équipe projet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Discussion asynchrone contextualisée sur le code ; décisions archivées et retrouvables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E-mail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Campus, jury, alertes de supervision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Communication formelle et jalons ; canal des alertes d'indisponibilité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Discord (communauté de jeu)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Joueurs testeurs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Recueillir les besoins et retours d'usage réels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212080"/>
            <a:ext cx="11091672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250" i="0" b="1">
                <a:solidFill>
                  <a:srgbClr val="7A5A08"/>
                </a:solidFill>
                <a:latin typeface="Calibri"/>
              </a:rPr>
              <a:t>Objectif transverse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: tout passe à l'écrit et à l'asynchrone. Bénéfices : charge de communication répartie (pas de réunionite), historique complet, et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accessibilité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— un membre d'équipe en situation de handicap (auditif notamment) a accès à 100 % de l'information sans aménagement supplémentaire.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3632911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9 · ÉVALUATION DES BESOINS EN COMPÉTENCES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Grille d'évaluation des compétences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Auto-évaluation en début de projet (fév. 2025) vs besoins identifiés — échelle 1 (novice) à 4 (autonome expert).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91672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868680"/>
                <a:gridCol w="868680"/>
                <a:gridCol w="914400"/>
                <a:gridCol w="5239512"/>
              </a:tblGrid>
              <a:tr h="53721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Compétence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Initial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Requis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Atteint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Commentaire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PHP / Symfony (API REST, Doctrine)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2E7D32"/>
                          </a:solidFill>
                          <a:latin typeface="Calibri"/>
                        </a:rPr>
                        <a:t>3–4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Consolidé par la migration 7.2 → 7.4 LTS menée seul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React (hooks, context, i18n)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2E7D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i18n et thème sombre ajoutés en autonomie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Sécurité applicative (OWASP)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2E7D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7A5A08"/>
                          </a:solidFill>
                          <a:latin typeface="Calibri"/>
                        </a:rPr>
                        <a:t>Écart le plus fort</a:t>
                      </a: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 → plan de développement dédié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CI/CD (GitHub Actions)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2E7D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Pipeline complet tests + déploiement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Supervision / exploitation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2E7D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Sondes + alerting mis en place (bloc 4)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Gestion de projet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2E7D32"/>
                          </a:solidFill>
                          <a:latin typeface="Calibri"/>
                        </a:rPr>
                        <a:t>2–3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Kanban + rétroplanning tenus sur 18 mois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Accessibilité (RGAA)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Audits outillés menés ; expertise à approfondir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3717950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10 · PLAN DE DÉVELOPPEMENT DES COMPÉTENCES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Combler les écarts : formations réalisées et préconisées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2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4297680"/>
                <a:gridCol w="2377440"/>
                <a:gridCol w="2130552"/>
              </a:tblGrid>
              <a:tr h="6096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Écart identifié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Action de formation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Modalité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Échéance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Sécurité OWASP (1→3)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OWASP Top 10 : documentation officielle + mise en pratique par audit du projet, faille par faille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Auto-formation + application immédiate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2E7D32"/>
                          </a:solidFill>
                          <a:latin typeface="Calibri"/>
                        </a:rPr>
                        <a:t>Réalisé (juin 2026)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Symfony avancé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SymfonyCasts (sécurité, rate limiting, messenger)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E-learning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2E7D32"/>
                          </a:solidFill>
                          <a:latin typeface="Calibri"/>
                        </a:rPr>
                        <a:t>Réalisé au fil du projet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Accessibilité RGAA (2→3)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Formation RGAA 4.1 (Access42 ou équivalent) + audits outillés réguliers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Formation courte certifiante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2026-2027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Outillage front moderne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Migration CRA → Vite (chantier concret du backlog)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Apprentissage par le projet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2027 (axe C4.3.1)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Exploitation avancée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Conteneurisation de la production (Docker → orchestration)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E-learning + lab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303520"/>
            <a:ext cx="11091672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250" i="0" b="1">
                <a:solidFill>
                  <a:srgbClr val="7A5A08"/>
                </a:solidFill>
                <a:latin typeface="Calibri"/>
              </a:rPr>
              <a:t>Principe du plan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: chaque formation est adossée à un chantier réel du projet (apprentissage par la pratique), avec un livrable vérifiable. Les modalités e-learning asynchrones sont par nature adaptables à une situation de handicap (rythme, sous-titrage, supports écrits).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3037636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11 · COMPTES RENDUS DES ÉVOLUTIONS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Rendre compte : trois niveaux de lecture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1. CHANGELOG versionné (commanditaire)</a:t>
            </a:r>
          </a:p>
          <a:p>
            <a:pPr>
              <a:spcAft>
                <a:spcPts val="5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v1.0.0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— socle : auth, joueurs, guildes, carte</a:t>
            </a:r>
          </a:p>
          <a:p>
            <a:pPr>
              <a:spcAft>
                <a:spcPts val="5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v2.0.0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— admin, routes partagées, compositions, craft, thème sombre, tutoriel, i18n</a:t>
            </a:r>
          </a:p>
          <a:p>
            <a:pPr>
              <a:spcAft>
                <a:spcPts val="5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v2.1.0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— campagne de correctifs sécurité (BUG-001 → 010)</a:t>
            </a:r>
          </a:p>
          <a:p>
            <a:pPr>
              <a:spcAft>
                <a:spcPts val="5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v3.0.0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— multi-serveur, batailles, stats PvP, langues gérées par l'admin</a:t>
            </a:r>
          </a:p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2. Historique Git conventionnel (équipe)</a:t>
            </a:r>
          </a:p>
          <a:p>
            <a:pPr>
              <a:spcAft>
                <a:spcPts val="7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Chaque commit indique son type et son périmètre — l'historique est le compte rendu détaillé, ordonné et daté.</a:t>
            </a:r>
          </a:p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3. Dossiers de jalon (certification)</a:t>
            </a:r>
          </a:p>
          <a:p>
            <a:pPr>
              <a:spcAft>
                <a:spcPts val="7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Dossiers Bloc 2 et Bloc 4 : état complet du projet aux jalons de juin et juillet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417320"/>
            <a:ext cx="5605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Points de validation planifiés et réalisés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0" y="1874519"/>
          <a:ext cx="5605272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143000"/>
                <a:gridCol w="1719072"/>
              </a:tblGrid>
              <a:tr h="6400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Point de validation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Résultat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Recette complète 26 scénarios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12/06/2026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2E7D32"/>
                          </a:solidFill>
                          <a:latin typeface="Calibri"/>
                        </a:rPr>
                        <a:t>26/26 PASS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Audit sécurité OWASP + correctifs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12/06/2026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2E7D32"/>
                          </a:solidFill>
                          <a:latin typeface="Calibri"/>
                        </a:rPr>
                        <a:t>0 advisory composer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Audit accessibilité (Lighthouse, axe-core)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12/06/2026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2E7D32"/>
                          </a:solidFill>
                          <a:latin typeface="Calibri"/>
                        </a:rPr>
                        <a:t>93–100, corrigé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Dépôt Bloc 2 (code + dossier)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19/06/2026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2E7D32"/>
                          </a:solidFill>
                          <a:latin typeface="Calibri"/>
                        </a:rPr>
                        <a:t>Jalon tenu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Dépôt Bloc 4 (dossier MCO)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24/07/2026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2E7D32"/>
                          </a:solidFill>
                          <a:latin typeface="Calibri"/>
                        </a:rPr>
                        <a:t>Jalon tenu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Démo commanditaire (ce jury)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Sept. 2026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Objectif : validation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2867558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12 · INDICATEURS DE SATISFACTION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Mesurer la satisfaction du commanditaire et des utilisateurs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1672" cy="48463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3240"/>
                <a:gridCol w="4754880"/>
                <a:gridCol w="3273552"/>
              </a:tblGrid>
              <a:tr h="69233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1">
                          <a:solidFill>
                            <a:srgbClr val="1D1A14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1">
                          <a:solidFill>
                            <a:srgbClr val="1D1A14"/>
                          </a:solidFill>
                          <a:latin typeface="Calibri"/>
                        </a:rPr>
                        <a:t>Pourquoi il est cohérent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1">
                          <a:solidFill>
                            <a:srgbClr val="1D1A14"/>
                          </a:solidFill>
                          <a:latin typeface="Calibri"/>
                        </a:rPr>
                        <a:t>Mesure / cible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Taux de réussite de la recette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La recette encode les attentes fonctionnelles du commanditaire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1">
                          <a:solidFill>
                            <a:srgbClr val="2E7D32"/>
                          </a:solidFill>
                          <a:latin typeface="Calibri"/>
                        </a:rPr>
                        <a:t>26/26 scénarios PASS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Disponibilité du service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Première cause d'insatisfaction d'un outil communautaire : être hors ligne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≥ 99 % (UptimeRobot + sonde interne)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Temps de réponse API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Confort d'usage en session de jeu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&lt; 1 s (mesuré par la supervision)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Qualité perçue de l'interface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Score objectif proxy de l'expérience utilisateur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1">
                          <a:solidFill>
                            <a:srgbClr val="2E7D32"/>
                          </a:solidFill>
                          <a:latin typeface="Calibri"/>
                        </a:rPr>
                        <a:t>Lighthouse 93–100 selon les pages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Anomalies signalées par les utilisateurs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Mesure directe de l'insatisfaction résiduelle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13 bugs consignés, 100 % traités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Adoption des nouveautés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Les évolutions demandées (multi-serveur, langues) sont-elles utilisées ?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i="0" b="0">
                          <a:solidFill>
                            <a:srgbClr val="1D1A14"/>
                          </a:solidFill>
                          <a:latin typeface="Calibri"/>
                        </a:rPr>
                        <a:t>Journal des recherches (SearchLog) par serveur/langue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1677009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13 · 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Démonstration de la dernière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Parcours utilisateur complet, sur l'application </a:t>
            </a:r>
            <a:r>
              <a:rPr sz="1350" i="0" b="1">
                <a:solidFill>
                  <a:srgbClr val="7A5A08"/>
                </a:solidFill>
                <a:latin typeface="Calibri"/>
              </a:rPr>
              <a:t>en production</a:t>
            </a:r>
            <a:r>
              <a:rPr sz="1350" i="0" b="0">
                <a:solidFill>
                  <a:srgbClr val="1D1A14"/>
                </a:solidFill>
                <a:latin typeface="Calibri"/>
              </a:rPr>
              <a:t>, du premier contact jusqu'à l'administration 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61188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i="0" b="1">
                <a:solidFill>
                  <a:srgbClr val="1D1A14"/>
                </a:solidFill>
                <a:latin typeface="Calibri"/>
              </a:rPr>
              <a:t>1 · Découverte &amp; inscription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011680"/>
            <a:ext cx="361188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i="0" b="1">
                <a:solidFill>
                  <a:srgbClr val="1D1A14"/>
                </a:solidFill>
                <a:latin typeface="Calibri"/>
              </a:rPr>
              <a:t>2 · Connexion &amp; tableau de bord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61188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i="0" b="1">
                <a:solidFill>
                  <a:srgbClr val="1D1A14"/>
                </a:solidFill>
                <a:latin typeface="Calibri"/>
              </a:rPr>
              <a:t>3 · Recherche joueur &amp; stats PvP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24912"/>
            <a:ext cx="361188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i="0" b="1">
                <a:solidFill>
                  <a:srgbClr val="1D1A14"/>
                </a:solidFill>
                <a:latin typeface="Calibri"/>
              </a:rPr>
              <a:t>4 · Guildes &amp; batailles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724912"/>
            <a:ext cx="361188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i="0" b="1">
                <a:solidFill>
                  <a:srgbClr val="1D1A14"/>
                </a:solidFill>
                <a:latin typeface="Calibri"/>
              </a:rPr>
              <a:t>5 · Carte interactive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724912"/>
            <a:ext cx="361188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i="0" b="1">
                <a:solidFill>
                  <a:srgbClr val="1D1A14"/>
                </a:solidFill>
                <a:latin typeface="Calibri"/>
              </a:rPr>
              <a:t>6 · Itinéraire partagé (lien public)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38144"/>
            <a:ext cx="361188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i="0" b="1">
                <a:solidFill>
                  <a:srgbClr val="1D1A14"/>
                </a:solidFill>
                <a:latin typeface="Calibri"/>
              </a:rPr>
              <a:t>7 · Composition d'équipe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438144"/>
            <a:ext cx="361188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i="0" b="1">
                <a:solidFill>
                  <a:srgbClr val="1D1A14"/>
                </a:solidFill>
                <a:latin typeface="Calibri"/>
              </a:rPr>
              <a:t>8 · Calculateur de craft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438144"/>
            <a:ext cx="361188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i="0" b="1">
                <a:solidFill>
                  <a:srgbClr val="1D1A14"/>
                </a:solidFill>
                <a:latin typeface="Calibri"/>
              </a:rPr>
              <a:t>9 · Multi-langue / serveur &amp;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Conditions de la démo</a:t>
            </a:r>
          </a:p>
          <a:p>
            <a:pPr>
              <a:spcAft>
                <a:spcPts val="6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Application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en production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, données réelles préchargées</a:t>
            </a:r>
          </a:p>
          <a:p>
            <a:pPr>
              <a:spcAft>
                <a:spcPts val="6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Plan B assumé : environnement local identique prêt à basculer</a:t>
            </a:r>
          </a:p>
          <a:p>
            <a:pPr>
              <a:spcAft>
                <a:spcPts val="6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Répétition générale effectuée la veille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343400"/>
            <a:ext cx="5239512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450" i="0" b="1">
                <a:solidFill>
                  <a:srgbClr val="B8860B"/>
                </a:solidFill>
                <a:latin typeface="Calibri"/>
              </a:rPr>
              <a:t>Objectif</a:t>
            </a:r>
          </a:p>
          <a:p>
            <a:pPr>
              <a:spcAft>
                <a:spcPts val="6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Montrer que la dernière version est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fonctionnelle, fiable et utilisable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par un joueur non technicien — et obtenir la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validation du commanditaire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avant livraison. (Script détaillé : annexe A.)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996695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Ce que le pilotage a produit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500" i="0" b="1">
                <a:solidFill>
                  <a:srgbClr val="7A5A08"/>
                </a:solidFill>
                <a:latin typeface="Calibri"/>
              </a:rPr>
              <a:t>Tous les jalons de certification tenus</a:t>
            </a:r>
            <a:r>
              <a:rPr sz="1500" i="0" b="0">
                <a:solidFill>
                  <a:srgbClr val="1D1A14"/>
                </a:solidFill>
                <a:latin typeface="Calibri"/>
              </a:rPr>
              <a:t>, malgré une re-priorisation sécurité majeure en cours de route — c'est le rétroplanning + Kanban qui l'ont absorbée</a:t>
            </a:r>
          </a:p>
          <a:p>
            <a:pPr>
              <a:spcAft>
                <a:spcPts val="12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Un projet </a:t>
            </a:r>
            <a:r>
              <a:rPr sz="1500" i="0" b="1">
                <a:solidFill>
                  <a:srgbClr val="7A5A08"/>
                </a:solidFill>
                <a:latin typeface="Calibri"/>
              </a:rPr>
              <a:t>traçable de bout en bout</a:t>
            </a:r>
            <a:r>
              <a:rPr sz="1500" i="0" b="0">
                <a:solidFill>
                  <a:srgbClr val="1D1A14"/>
                </a:solidFill>
                <a:latin typeface="Calibri"/>
              </a:rPr>
              <a:t> : chaque évolution a sa carte, son commit typé, sa ligne de CHANGELOG et son scénario de recette</a:t>
            </a:r>
          </a:p>
          <a:p>
            <a:pPr>
              <a:spcAft>
                <a:spcPts val="12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Des </a:t>
            </a:r>
            <a:r>
              <a:rPr sz="1500" i="0" b="1">
                <a:solidFill>
                  <a:srgbClr val="7A5A08"/>
                </a:solidFill>
                <a:latin typeface="Calibri"/>
              </a:rPr>
              <a:t>indicateurs chiffrés</a:t>
            </a:r>
            <a:r>
              <a:rPr sz="1500" i="0" b="0">
                <a:solidFill>
                  <a:srgbClr val="1D1A14"/>
                </a:solidFill>
                <a:latin typeface="Calibri"/>
              </a:rPr>
              <a:t> à chaque niveau : avancement, qualité, délais, coûts, risques, satisfaction</a:t>
            </a:r>
          </a:p>
          <a:p>
            <a:pPr>
              <a:spcAft>
                <a:spcPts val="12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Une organisation solo </a:t>
            </a:r>
            <a:r>
              <a:rPr sz="1500" i="0" b="1">
                <a:solidFill>
                  <a:srgbClr val="7A5A08"/>
                </a:solidFill>
                <a:latin typeface="Calibri"/>
              </a:rPr>
              <a:t>conçue pour passer à l'échelle</a:t>
            </a:r>
            <a:r>
              <a:rPr sz="1500" i="0" b="0">
                <a:solidFill>
                  <a:srgbClr val="1D1A14"/>
                </a:solidFill>
                <a:latin typeface="Calibri"/>
              </a:rPr>
              <a:t> : les casquettes deviennent des rôles, les créneaux deviennent des personnes, les outils restent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617720"/>
            <a:ext cx="2601468" cy="91440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100"/>
              </a:spcAft>
            </a:pPr>
            <a:r>
              <a:rPr sz="2200" i="0" b="1">
                <a:solidFill>
                  <a:srgbClr val="7A5A08"/>
                </a:solidFill>
                <a:latin typeface="Calibri"/>
              </a:rPr>
              <a:t>6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6B6357"/>
                </a:solidFill>
                <a:latin typeface="Calibri"/>
              </a:rPr>
              <a:t>jalons tenus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8708" y="4617720"/>
            <a:ext cx="2601468" cy="91440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100"/>
              </a:spcAft>
            </a:pPr>
            <a:r>
              <a:rPr sz="2200" i="0" b="1">
                <a:solidFill>
                  <a:srgbClr val="7A5A08"/>
                </a:solidFill>
                <a:latin typeface="Calibri"/>
              </a:rPr>
              <a:t>52+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6B6357"/>
                </a:solidFill>
                <a:latin typeface="Calibri"/>
              </a:rPr>
              <a:t>commits typés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4617720"/>
            <a:ext cx="2601468" cy="91440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100"/>
              </a:spcAft>
            </a:pPr>
            <a:r>
              <a:rPr sz="2200" i="0" b="1">
                <a:solidFill>
                  <a:srgbClr val="7A5A08"/>
                </a:solidFill>
                <a:latin typeface="Calibri"/>
              </a:rPr>
              <a:t>26/26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6B6357"/>
                </a:solidFill>
                <a:latin typeface="Calibri"/>
              </a:rPr>
              <a:t>recette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38844" y="4617720"/>
            <a:ext cx="2601468" cy="91440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100"/>
              </a:spcAft>
            </a:pPr>
            <a:r>
              <a:rPr sz="2200" i="0" b="1">
                <a:solidFill>
                  <a:srgbClr val="7A5A08"/>
                </a:solidFill>
                <a:latin typeface="Calibri"/>
              </a:rPr>
              <a:t>0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6B6357"/>
                </a:solidFill>
                <a:latin typeface="Calibri"/>
              </a:rPr>
              <a:t>vulnérabilité critique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715000"/>
            <a:ext cx="11091672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Le logiciel est en production, supervisé, maintenu — la démonstration qui suit vise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votre validation en tant que commanditaire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. Merci — place aux questions (15').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3462832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6B6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ANNEXE A — NOTES CANDIDAT, NON PROJETÉE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Script de démonstration détaillé (~8 minutes)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17320"/>
          <a:ext cx="11384280" cy="4892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20240"/>
                <a:gridCol w="9052560"/>
              </a:tblGrid>
              <a:tr h="44473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1D1A14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1D1A14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1D1A14"/>
                          </a:solidFill>
                          <a:latin typeface="Calibri"/>
                        </a:rPr>
                        <a:t>Actions &amp; discours (vocabulaire commanditaire — jamais « JWT », « API », « localhost »)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44473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Accueil public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Page d'accueil en production. « Voici ce que découvre un joueur : utilisable immédiatement, dans sa langue » — sélecteur de langue (FR → EN) et de serveur (Europe → Amériques).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Inscription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Créer un compte de démo neuf (identifiants préparés). Montrer l'erreur si mot de passe trop court : « l'application guide l'utilisateur ». Valider.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44473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Connexion + tableau de bord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Se connecter. « Le tableau de bord centralise ses raccourcis — un tutoriel de prise en main est proposé au premier accès. »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Recherche joueur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Joueur connu (nom préparé) : équipement, statistiques de combat. « Ces données étaient dispersées sur plusieurs sites ; elles sont réunies ici. »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44473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Guildes &amp; batailles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Une guilde, puis l'historique de batailles et le détail d'une bataille. « Un chef de guilde prépare ainsi ses stratégies. »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Carte &amp; itinéraire partagé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Carte, navigation entre zones. Créer un itinéraire, générer le lien de partage, l'ouvrir en fenêtre privée : « le destinataire n'a pas besoin de compte ».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44473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Composition d'équipe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Composition préparée, éditeur (rôles, équipements). « L'outil de préparation d'équipe avant une bataille. »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Calculateur de craft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Objet choisi : rentabilité avec les prix du serveur sélectionné + infobulle des prix indisponibles (cas support bloc 4). « L'application dit aussi pourquoi une donnée manque. »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44473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Administration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Compte admin : statistiques d'usage, gestion des utilisateurs et des langues. « Le commanditaire administre son outil sans intervention technique. »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Conclusion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« Version en production, supervisée 24h/24 avec alerte en cas d'indisponibilité, maintenue et documentée. Je vous propose de valider cette version pour livraison. »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3462832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6B6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ANNEXE B — NOTES CANDIDAT, NON PROJETÉE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Préparation matérielle de l'oral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9167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500" i="0" b="1">
                <a:solidFill>
                  <a:srgbClr val="7A5A08"/>
                </a:solidFill>
                <a:latin typeface="Calibri"/>
              </a:rPr>
              <a:t>La veille</a:t>
            </a:r>
            <a:r>
              <a:rPr sz="1500" i="0" b="0">
                <a:solidFill>
                  <a:srgbClr val="1D1A14"/>
                </a:solidFill>
                <a:latin typeface="Calibri"/>
              </a:rPr>
              <a:t> : répétition générale chronométrée (30' + démo 8') ; vérifier la production (supervision au vert) ; recharger les données de démo (joueur, guilde, composition, itinéraire)</a:t>
            </a:r>
          </a:p>
          <a:p>
            <a:pPr>
              <a:spcAft>
                <a:spcPts val="14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500" i="0" b="1">
                <a:solidFill>
                  <a:srgbClr val="7A5A08"/>
                </a:solidFill>
                <a:latin typeface="Calibri"/>
              </a:rPr>
              <a:t>Comptes préparés</a:t>
            </a:r>
            <a:r>
              <a:rPr sz="1500" i="0" b="0">
                <a:solidFill>
                  <a:srgbClr val="1D1A14"/>
                </a:solidFill>
                <a:latin typeface="Calibri"/>
              </a:rPr>
              <a:t> : identifiants de démo neufs pour l'inscription en direct + compte admin + compte utilisateur standard</a:t>
            </a:r>
          </a:p>
          <a:p>
            <a:pPr>
              <a:spcAft>
                <a:spcPts val="14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500" i="0" b="1">
                <a:solidFill>
                  <a:srgbClr val="7A5A08"/>
                </a:solidFill>
                <a:latin typeface="Calibri"/>
              </a:rPr>
              <a:t>Plan B</a:t>
            </a:r>
            <a:r>
              <a:rPr sz="1500" i="0" b="0">
                <a:solidFill>
                  <a:srgbClr val="1D1A14"/>
                </a:solidFill>
                <a:latin typeface="Calibri"/>
              </a:rPr>
              <a:t> : environnement local lancé avant l'oral (base pré-remplie), onglets ouverts en arrière-plan</a:t>
            </a:r>
          </a:p>
          <a:p>
            <a:pPr>
              <a:spcAft>
                <a:spcPts val="14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500" i="0" b="1">
                <a:solidFill>
                  <a:srgbClr val="7A5A08"/>
                </a:solidFill>
                <a:latin typeface="Calibri"/>
              </a:rPr>
              <a:t>Ouvrir avant de commencer</a:t>
            </a:r>
            <a:r>
              <a:rPr sz="1500" i="0" b="0">
                <a:solidFill>
                  <a:srgbClr val="1D1A14"/>
                </a:solidFill>
                <a:latin typeface="Calibri"/>
              </a:rPr>
              <a:t> : ce support, l'application (accueil), GitHub Projects (tableau), dernier run de CI, CHANGELOG</a:t>
            </a:r>
          </a:p>
          <a:p>
            <a:pPr>
              <a:spcAft>
                <a:spcPts val="14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500" i="0" b="1">
                <a:solidFill>
                  <a:srgbClr val="7A5A08"/>
                </a:solidFill>
                <a:latin typeface="Calibri"/>
              </a:rPr>
              <a:t>Dépôt DigiformaCertif</a:t>
            </a:r>
            <a:r>
              <a:rPr sz="1500" i="0" b="0">
                <a:solidFill>
                  <a:srgbClr val="1D1A14"/>
                </a:solidFill>
                <a:latin typeface="Calibri"/>
              </a:rPr>
              <a:t> : ce support déposé avant l'échéance (livrable + support obligatoires)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3 : Coordonner et piloter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